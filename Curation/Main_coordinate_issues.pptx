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3502" r:id="rId3"/>
    <p:sldId id="3504" r:id="rId4"/>
    <p:sldId id="296" r:id="rId5"/>
    <p:sldId id="259" r:id="rId6"/>
    <p:sldId id="308" r:id="rId7"/>
    <p:sldId id="317" r:id="rId8"/>
    <p:sldId id="319" r:id="rId9"/>
    <p:sldId id="307" r:id="rId10"/>
    <p:sldId id="304" r:id="rId11"/>
    <p:sldId id="305" r:id="rId12"/>
    <p:sldId id="295" r:id="rId13"/>
    <p:sldId id="297" r:id="rId14"/>
    <p:sldId id="320" r:id="rId15"/>
    <p:sldId id="311" r:id="rId16"/>
    <p:sldId id="312" r:id="rId17"/>
    <p:sldId id="313" r:id="rId18"/>
    <p:sldId id="315" r:id="rId19"/>
    <p:sldId id="316" r:id="rId20"/>
    <p:sldId id="314" r:id="rId21"/>
    <p:sldId id="303" r:id="rId22"/>
    <p:sldId id="275" r:id="rId23"/>
    <p:sldId id="276" r:id="rId24"/>
    <p:sldId id="277" r:id="rId25"/>
    <p:sldId id="278" r:id="rId26"/>
    <p:sldId id="279" r:id="rId27"/>
    <p:sldId id="283" r:id="rId28"/>
    <p:sldId id="280" r:id="rId29"/>
    <p:sldId id="281" r:id="rId30"/>
    <p:sldId id="282" r:id="rId31"/>
    <p:sldId id="322" r:id="rId32"/>
    <p:sldId id="300" r:id="rId33"/>
    <p:sldId id="321" r:id="rId34"/>
    <p:sldId id="324" r:id="rId35"/>
    <p:sldId id="298" r:id="rId36"/>
    <p:sldId id="299" r:id="rId37"/>
    <p:sldId id="323" r:id="rId38"/>
    <p:sldId id="325" r:id="rId39"/>
    <p:sldId id="326" r:id="rId40"/>
    <p:sldId id="327" r:id="rId41"/>
    <p:sldId id="328" r:id="rId42"/>
    <p:sldId id="329" r:id="rId43"/>
    <p:sldId id="330" r:id="rId44"/>
    <p:sldId id="331" r:id="rId45"/>
    <p:sldId id="333" r:id="rId46"/>
    <p:sldId id="334" r:id="rId47"/>
    <p:sldId id="332" r:id="rId48"/>
    <p:sldId id="338" r:id="rId49"/>
    <p:sldId id="335" r:id="rId50"/>
    <p:sldId id="336" r:id="rId51"/>
    <p:sldId id="3506" r:id="rId52"/>
    <p:sldId id="3505" r:id="rId53"/>
    <p:sldId id="272" r:id="rId5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DA27A1-CC29-461A-976F-88956730257C}" type="doc">
      <dgm:prSet loTypeId="urn:microsoft.com/office/officeart/2005/8/layout/chevron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2DC8046-ADED-4847-B5AE-8F99B4F87D4F}">
      <dgm:prSet phldrT="[Text]"/>
      <dgm:spPr/>
      <dgm:t>
        <a:bodyPr/>
        <a:lstStyle/>
        <a:p>
          <a:r>
            <a:rPr lang="en-US" dirty="0"/>
            <a:t>Establish type of analysis to do</a:t>
          </a:r>
        </a:p>
      </dgm:t>
    </dgm:pt>
    <dgm:pt modelId="{27BC0590-3F7E-4739-BEA5-8CB2121A4DCF}" type="parTrans" cxnId="{B5041F49-75A1-4E6D-BBA2-E29B834DA384}">
      <dgm:prSet/>
      <dgm:spPr/>
      <dgm:t>
        <a:bodyPr/>
        <a:lstStyle/>
        <a:p>
          <a:endParaRPr lang="en-US"/>
        </a:p>
      </dgm:t>
    </dgm:pt>
    <dgm:pt modelId="{213A650E-8AC4-4673-8F6D-1FF71D048254}" type="sibTrans" cxnId="{B5041F49-75A1-4E6D-BBA2-E29B834DA384}">
      <dgm:prSet/>
      <dgm:spPr/>
      <dgm:t>
        <a:bodyPr/>
        <a:lstStyle/>
        <a:p>
          <a:endParaRPr lang="en-US"/>
        </a:p>
      </dgm:t>
    </dgm:pt>
    <dgm:pt modelId="{1CDB434E-C636-421F-8737-FA4531ED7BB3}">
      <dgm:prSet phldrT="[Text]"/>
      <dgm:spPr/>
      <dgm:t>
        <a:bodyPr/>
        <a:lstStyle/>
        <a:p>
          <a:r>
            <a:rPr lang="en-US" dirty="0"/>
            <a:t>Is the taxon a crop wild relatives or a landrace?</a:t>
          </a:r>
        </a:p>
      </dgm:t>
    </dgm:pt>
    <dgm:pt modelId="{374CECC6-8986-4841-84D6-B554B0E91389}" type="parTrans" cxnId="{465710AC-5168-455A-A771-673ED44CCAE1}">
      <dgm:prSet/>
      <dgm:spPr/>
      <dgm:t>
        <a:bodyPr/>
        <a:lstStyle/>
        <a:p>
          <a:endParaRPr lang="en-US"/>
        </a:p>
      </dgm:t>
    </dgm:pt>
    <dgm:pt modelId="{F2155A15-C9E1-4757-BE06-F13708DC2CBB}" type="sibTrans" cxnId="{465710AC-5168-455A-A771-673ED44CCAE1}">
      <dgm:prSet/>
      <dgm:spPr/>
      <dgm:t>
        <a:bodyPr/>
        <a:lstStyle/>
        <a:p>
          <a:endParaRPr lang="en-US"/>
        </a:p>
      </dgm:t>
    </dgm:pt>
    <dgm:pt modelId="{1E672B7E-174F-49AA-9040-8530F59BE81B}">
      <dgm:prSet phldrT="[Text]"/>
      <dgm:spPr/>
      <dgm:t>
        <a:bodyPr/>
        <a:lstStyle/>
        <a:p>
          <a:r>
            <a:rPr lang="en-US" dirty="0"/>
            <a:t>Search the data</a:t>
          </a:r>
        </a:p>
      </dgm:t>
    </dgm:pt>
    <dgm:pt modelId="{93AF693B-991A-4512-A028-9467C7D80EDC}" type="parTrans" cxnId="{E4C45CC9-9786-4609-9990-EA100EAC6981}">
      <dgm:prSet/>
      <dgm:spPr/>
      <dgm:t>
        <a:bodyPr/>
        <a:lstStyle/>
        <a:p>
          <a:endParaRPr lang="en-US"/>
        </a:p>
      </dgm:t>
    </dgm:pt>
    <dgm:pt modelId="{09F96D24-3360-44CB-BF1A-38FFA1862247}" type="sibTrans" cxnId="{E4C45CC9-9786-4609-9990-EA100EAC6981}">
      <dgm:prSet/>
      <dgm:spPr/>
      <dgm:t>
        <a:bodyPr/>
        <a:lstStyle/>
        <a:p>
          <a:endParaRPr lang="en-US"/>
        </a:p>
      </dgm:t>
    </dgm:pt>
    <dgm:pt modelId="{AC8D4CCD-9EA3-420D-9B3F-FAEF355B658A}">
      <dgm:prSet phldrT="[Text]"/>
      <dgm:spPr/>
      <dgm:t>
        <a:bodyPr/>
        <a:lstStyle/>
        <a:p>
          <a:r>
            <a:rPr lang="en-US" dirty="0"/>
            <a:t>What data do I need to run the analysis?</a:t>
          </a:r>
        </a:p>
      </dgm:t>
    </dgm:pt>
    <dgm:pt modelId="{50F66EF7-C8F2-4121-8949-BB47BB813046}" type="parTrans" cxnId="{A237DDC8-B884-41B2-BD27-C26C6C6A2031}">
      <dgm:prSet/>
      <dgm:spPr/>
      <dgm:t>
        <a:bodyPr/>
        <a:lstStyle/>
        <a:p>
          <a:endParaRPr lang="en-US"/>
        </a:p>
      </dgm:t>
    </dgm:pt>
    <dgm:pt modelId="{B4785723-7869-4C8C-9EA6-8C187876B542}" type="sibTrans" cxnId="{A237DDC8-B884-41B2-BD27-C26C6C6A2031}">
      <dgm:prSet/>
      <dgm:spPr/>
      <dgm:t>
        <a:bodyPr/>
        <a:lstStyle/>
        <a:p>
          <a:endParaRPr lang="en-US"/>
        </a:p>
      </dgm:t>
    </dgm:pt>
    <dgm:pt modelId="{5031E39F-14BB-4F10-917B-D6F32F438F1D}">
      <dgm:prSet phldrT="[Text]"/>
      <dgm:spPr/>
      <dgm:t>
        <a:bodyPr/>
        <a:lstStyle/>
        <a:p>
          <a:r>
            <a:rPr lang="en-US" dirty="0"/>
            <a:t>What databases should I use and how to download the data?</a:t>
          </a:r>
        </a:p>
      </dgm:t>
    </dgm:pt>
    <dgm:pt modelId="{F593284F-0BF1-48FF-96A9-D83160600ABB}" type="parTrans" cxnId="{4607D567-F954-4EA1-AB7E-292F59CA1FF9}">
      <dgm:prSet/>
      <dgm:spPr/>
      <dgm:t>
        <a:bodyPr/>
        <a:lstStyle/>
        <a:p>
          <a:endParaRPr lang="en-US"/>
        </a:p>
      </dgm:t>
    </dgm:pt>
    <dgm:pt modelId="{0F543DA5-BC21-41DB-A86A-C7F5339A37B9}" type="sibTrans" cxnId="{4607D567-F954-4EA1-AB7E-292F59CA1FF9}">
      <dgm:prSet/>
      <dgm:spPr/>
      <dgm:t>
        <a:bodyPr/>
        <a:lstStyle/>
        <a:p>
          <a:endParaRPr lang="en-US"/>
        </a:p>
      </dgm:t>
    </dgm:pt>
    <dgm:pt modelId="{E576E830-8841-4847-AEAC-C77E5AB2F3FF}">
      <dgm:prSet phldrT="[Text]"/>
      <dgm:spPr/>
      <dgm:t>
        <a:bodyPr/>
        <a:lstStyle/>
        <a:p>
          <a:r>
            <a:rPr lang="en-US" dirty="0"/>
            <a:t>Preprocessing (Observe data)</a:t>
          </a:r>
        </a:p>
      </dgm:t>
    </dgm:pt>
    <dgm:pt modelId="{74115568-B9D3-4B37-8CEB-FD340B996F71}" type="parTrans" cxnId="{72C8F024-50FC-42E1-BD4D-06C9F84E74E4}">
      <dgm:prSet/>
      <dgm:spPr/>
      <dgm:t>
        <a:bodyPr/>
        <a:lstStyle/>
        <a:p>
          <a:endParaRPr lang="en-US"/>
        </a:p>
      </dgm:t>
    </dgm:pt>
    <dgm:pt modelId="{A727E573-854E-4B00-9C99-CC9FDDF33504}" type="sibTrans" cxnId="{72C8F024-50FC-42E1-BD4D-06C9F84E74E4}">
      <dgm:prSet/>
      <dgm:spPr/>
      <dgm:t>
        <a:bodyPr/>
        <a:lstStyle/>
        <a:p>
          <a:endParaRPr lang="en-US"/>
        </a:p>
      </dgm:t>
    </dgm:pt>
    <dgm:pt modelId="{ABBBF8C4-F4EC-465B-B92D-E0F6B1C56BCB}">
      <dgm:prSet phldrT="[Text]"/>
      <dgm:spPr/>
      <dgm:t>
        <a:bodyPr/>
        <a:lstStyle/>
        <a:p>
          <a:r>
            <a:rPr lang="en-US" dirty="0"/>
            <a:t>Are there records with dirty coords?</a:t>
          </a:r>
        </a:p>
      </dgm:t>
    </dgm:pt>
    <dgm:pt modelId="{52C241C8-C9BD-457E-9565-C7D27D4D8565}" type="parTrans" cxnId="{95B72512-9805-44B2-9103-9DBC8D47FD8B}">
      <dgm:prSet/>
      <dgm:spPr/>
      <dgm:t>
        <a:bodyPr/>
        <a:lstStyle/>
        <a:p>
          <a:endParaRPr lang="en-US"/>
        </a:p>
      </dgm:t>
    </dgm:pt>
    <dgm:pt modelId="{B8F18CB0-5CDE-4A24-BF94-EB09B21D2F20}" type="sibTrans" cxnId="{95B72512-9805-44B2-9103-9DBC8D47FD8B}">
      <dgm:prSet/>
      <dgm:spPr/>
      <dgm:t>
        <a:bodyPr/>
        <a:lstStyle/>
        <a:p>
          <a:endParaRPr lang="en-US"/>
        </a:p>
      </dgm:t>
    </dgm:pt>
    <dgm:pt modelId="{36A63699-FC5E-4717-9B9C-3BC000B1BA5D}">
      <dgm:prSet phldrT="[Text]"/>
      <dgm:spPr/>
      <dgm:t>
        <a:bodyPr/>
        <a:lstStyle/>
        <a:p>
          <a:r>
            <a:rPr lang="en-US" dirty="0"/>
            <a:t>Preprocessing (clean data) </a:t>
          </a:r>
        </a:p>
      </dgm:t>
    </dgm:pt>
    <dgm:pt modelId="{94760EFE-B747-469B-87F7-DC09A624B703}" type="parTrans" cxnId="{950C5059-29E5-4573-850F-BFAE0003FCB3}">
      <dgm:prSet/>
      <dgm:spPr/>
      <dgm:t>
        <a:bodyPr/>
        <a:lstStyle/>
        <a:p>
          <a:endParaRPr lang="en-US"/>
        </a:p>
      </dgm:t>
    </dgm:pt>
    <dgm:pt modelId="{3F72D1C7-741F-440C-ABF0-F3F4A0F7BA97}" type="sibTrans" cxnId="{950C5059-29E5-4573-850F-BFAE0003FCB3}">
      <dgm:prSet/>
      <dgm:spPr/>
      <dgm:t>
        <a:bodyPr/>
        <a:lstStyle/>
        <a:p>
          <a:endParaRPr lang="en-US"/>
        </a:p>
      </dgm:t>
    </dgm:pt>
    <dgm:pt modelId="{2CD1F0AC-6ACE-4E6A-88BD-D89D7EC90932}">
      <dgm:prSet/>
      <dgm:spPr/>
      <dgm:t>
        <a:bodyPr/>
        <a:lstStyle/>
        <a:p>
          <a:endParaRPr lang="en-US" dirty="0"/>
        </a:p>
      </dgm:t>
    </dgm:pt>
    <dgm:pt modelId="{3EE9E91D-99DB-4DBB-9E46-3141289E5B6E}" type="parTrans" cxnId="{3AD4D65F-5B84-420B-B993-D3A4F6C2C1C1}">
      <dgm:prSet/>
      <dgm:spPr/>
      <dgm:t>
        <a:bodyPr/>
        <a:lstStyle/>
        <a:p>
          <a:endParaRPr lang="en-US"/>
        </a:p>
      </dgm:t>
    </dgm:pt>
    <dgm:pt modelId="{F91B6EEE-A520-4BE9-8237-ED1BA1D86F05}" type="sibTrans" cxnId="{3AD4D65F-5B84-420B-B993-D3A4F6C2C1C1}">
      <dgm:prSet/>
      <dgm:spPr/>
      <dgm:t>
        <a:bodyPr/>
        <a:lstStyle/>
        <a:p>
          <a:endParaRPr lang="en-US"/>
        </a:p>
      </dgm:t>
    </dgm:pt>
    <dgm:pt modelId="{8FA86DC0-D596-46B2-B2D4-E61BAFD9585A}">
      <dgm:prSet/>
      <dgm:spPr/>
      <dgm:t>
        <a:bodyPr/>
        <a:lstStyle/>
        <a:p>
          <a:r>
            <a:rPr lang="en-US" dirty="0"/>
            <a:t>How can I obtain clean coords?</a:t>
          </a:r>
        </a:p>
      </dgm:t>
    </dgm:pt>
    <dgm:pt modelId="{52A8B3E1-9AAC-48C6-81C7-8CC290C978CE}" type="parTrans" cxnId="{452D8993-F835-45C6-BC17-9FF3C4C7359F}">
      <dgm:prSet/>
      <dgm:spPr/>
      <dgm:t>
        <a:bodyPr/>
        <a:lstStyle/>
        <a:p>
          <a:endParaRPr lang="en-US"/>
        </a:p>
      </dgm:t>
    </dgm:pt>
    <dgm:pt modelId="{EDA4F3CD-5EF5-45DE-BFFD-48B6652F38C7}" type="sibTrans" cxnId="{452D8993-F835-45C6-BC17-9FF3C4C7359F}">
      <dgm:prSet/>
      <dgm:spPr/>
      <dgm:t>
        <a:bodyPr/>
        <a:lstStyle/>
        <a:p>
          <a:endParaRPr lang="en-US"/>
        </a:p>
      </dgm:t>
    </dgm:pt>
    <dgm:pt modelId="{8D75E20F-B9C2-467F-A0A6-4B2C09647A37}">
      <dgm:prSet/>
      <dgm:spPr/>
      <dgm:t>
        <a:bodyPr/>
        <a:lstStyle/>
        <a:p>
          <a:r>
            <a:rPr lang="en-US" dirty="0"/>
            <a:t>Do I have enough records for the analysis?</a:t>
          </a:r>
        </a:p>
      </dgm:t>
    </dgm:pt>
    <dgm:pt modelId="{2577BADB-F5B0-4875-86B4-CBDC554129ED}" type="parTrans" cxnId="{EAFFADD9-7049-4EB7-B180-EF0ADA9F3FA8}">
      <dgm:prSet/>
      <dgm:spPr/>
      <dgm:t>
        <a:bodyPr/>
        <a:lstStyle/>
        <a:p>
          <a:endParaRPr lang="en-US"/>
        </a:p>
      </dgm:t>
    </dgm:pt>
    <dgm:pt modelId="{3DB8DE1D-B672-4C3E-8FEF-7174FD4AB05D}" type="sibTrans" cxnId="{EAFFADD9-7049-4EB7-B180-EF0ADA9F3FA8}">
      <dgm:prSet/>
      <dgm:spPr/>
      <dgm:t>
        <a:bodyPr/>
        <a:lstStyle/>
        <a:p>
          <a:endParaRPr lang="en-US"/>
        </a:p>
      </dgm:t>
    </dgm:pt>
    <dgm:pt modelId="{E2AFB91A-E7E8-4F99-BC38-99B0DD3181AD}">
      <dgm:prSet/>
      <dgm:spPr/>
      <dgm:t>
        <a:bodyPr/>
        <a:lstStyle/>
        <a:p>
          <a:r>
            <a:rPr lang="en-US"/>
            <a:t>Is the data accurate for the analysis?</a:t>
          </a:r>
          <a:endParaRPr lang="en-US" dirty="0"/>
        </a:p>
      </dgm:t>
    </dgm:pt>
    <dgm:pt modelId="{B9A848EC-2553-428C-9437-D74B9BBDF83A}" type="parTrans" cxnId="{D97706C3-450C-49FD-8D10-B19376C0CB71}">
      <dgm:prSet/>
      <dgm:spPr/>
      <dgm:t>
        <a:bodyPr/>
        <a:lstStyle/>
        <a:p>
          <a:endParaRPr lang="en-US"/>
        </a:p>
      </dgm:t>
    </dgm:pt>
    <dgm:pt modelId="{6C3A2C91-501D-4CE1-BA6B-8B4725E2CC1D}" type="sibTrans" cxnId="{D97706C3-450C-49FD-8D10-B19376C0CB71}">
      <dgm:prSet/>
      <dgm:spPr/>
      <dgm:t>
        <a:bodyPr/>
        <a:lstStyle/>
        <a:p>
          <a:endParaRPr lang="en-US"/>
        </a:p>
      </dgm:t>
    </dgm:pt>
    <dgm:pt modelId="{E44F7AE3-0260-4F47-B015-11693F5104E1}">
      <dgm:prSet/>
      <dgm:spPr/>
      <dgm:t>
        <a:bodyPr/>
        <a:lstStyle/>
        <a:p>
          <a:r>
            <a:rPr lang="en-US"/>
            <a:t>What format or requirements are need to performance the analysis?</a:t>
          </a:r>
          <a:endParaRPr lang="en-US" dirty="0"/>
        </a:p>
      </dgm:t>
    </dgm:pt>
    <dgm:pt modelId="{3538DF7F-178C-4948-91B1-A8C807EE5696}" type="parTrans" cxnId="{196D6404-B4BB-4AFE-8EC4-E52A62CAEA10}">
      <dgm:prSet/>
      <dgm:spPr/>
      <dgm:t>
        <a:bodyPr/>
        <a:lstStyle/>
        <a:p>
          <a:endParaRPr lang="en-US"/>
        </a:p>
      </dgm:t>
    </dgm:pt>
    <dgm:pt modelId="{88C10828-1853-4A18-BA4F-EAAA789418A3}" type="sibTrans" cxnId="{196D6404-B4BB-4AFE-8EC4-E52A62CAEA10}">
      <dgm:prSet/>
      <dgm:spPr/>
      <dgm:t>
        <a:bodyPr/>
        <a:lstStyle/>
        <a:p>
          <a:endParaRPr lang="en-US"/>
        </a:p>
      </dgm:t>
    </dgm:pt>
    <dgm:pt modelId="{C32E03C9-F171-43FF-83F0-1AEFC0623934}">
      <dgm:prSet/>
      <dgm:spPr/>
      <dgm:t>
        <a:bodyPr/>
        <a:lstStyle/>
        <a:p>
          <a:r>
            <a:rPr lang="en-US"/>
            <a:t>What kind of clean procedure should I do</a:t>
          </a:r>
        </a:p>
      </dgm:t>
    </dgm:pt>
    <dgm:pt modelId="{1A27D0F2-6350-427C-B34A-E285FFEC032F}" type="parTrans" cxnId="{28B2F950-E5DD-4F1E-84B3-592549533262}">
      <dgm:prSet/>
      <dgm:spPr/>
      <dgm:t>
        <a:bodyPr/>
        <a:lstStyle/>
        <a:p>
          <a:endParaRPr lang="en-US"/>
        </a:p>
      </dgm:t>
    </dgm:pt>
    <dgm:pt modelId="{6CFADB52-8AAB-44D8-A504-D54D0B524D7A}" type="sibTrans" cxnId="{28B2F950-E5DD-4F1E-84B3-592549533262}">
      <dgm:prSet/>
      <dgm:spPr/>
      <dgm:t>
        <a:bodyPr/>
        <a:lstStyle/>
        <a:p>
          <a:endParaRPr lang="en-US"/>
        </a:p>
      </dgm:t>
    </dgm:pt>
    <dgm:pt modelId="{01803D6B-B612-4CDF-BDBB-71F08F7F788E}">
      <dgm:prSet phldrT="[Text]"/>
      <dgm:spPr/>
      <dgm:t>
        <a:bodyPr/>
        <a:lstStyle/>
        <a:p>
          <a:r>
            <a:rPr lang="en-US" dirty="0"/>
            <a:t>How can I obtain germplasm records from GBIF?</a:t>
          </a:r>
        </a:p>
      </dgm:t>
    </dgm:pt>
    <dgm:pt modelId="{13BFD497-CD99-4B03-A36E-37D4A186F629}" type="parTrans" cxnId="{2EE0F144-B285-4761-8D96-359E13FB4E17}">
      <dgm:prSet/>
      <dgm:spPr/>
      <dgm:t>
        <a:bodyPr/>
        <a:lstStyle/>
        <a:p>
          <a:endParaRPr lang="en-US"/>
        </a:p>
      </dgm:t>
    </dgm:pt>
    <dgm:pt modelId="{A07F2B1E-9DFF-4F89-9E70-9887E05A8647}" type="sibTrans" cxnId="{2EE0F144-B285-4761-8D96-359E13FB4E17}">
      <dgm:prSet/>
      <dgm:spPr/>
      <dgm:t>
        <a:bodyPr/>
        <a:lstStyle/>
        <a:p>
          <a:endParaRPr lang="en-US"/>
        </a:p>
      </dgm:t>
    </dgm:pt>
    <dgm:pt modelId="{A983E165-EE3A-408C-B339-7690AAB7C72F}">
      <dgm:prSet phldrT="[Text]"/>
      <dgm:spPr/>
      <dgm:t>
        <a:bodyPr/>
        <a:lstStyle/>
        <a:p>
          <a:r>
            <a:rPr lang="en-US" dirty="0"/>
            <a:t>What is the geographical region to model?</a:t>
          </a:r>
        </a:p>
      </dgm:t>
    </dgm:pt>
    <dgm:pt modelId="{A23C1FCA-2405-438F-AEA7-CFBCDB80BCF5}" type="parTrans" cxnId="{6AEDC027-8C51-4CE2-9984-19040E7DC715}">
      <dgm:prSet/>
      <dgm:spPr/>
      <dgm:t>
        <a:bodyPr/>
        <a:lstStyle/>
        <a:p>
          <a:endParaRPr lang="en-US"/>
        </a:p>
      </dgm:t>
    </dgm:pt>
    <dgm:pt modelId="{3B5C1569-E688-4259-9D04-5741DA3E5A9B}" type="sibTrans" cxnId="{6AEDC027-8C51-4CE2-9984-19040E7DC715}">
      <dgm:prSet/>
      <dgm:spPr/>
      <dgm:t>
        <a:bodyPr/>
        <a:lstStyle/>
        <a:p>
          <a:endParaRPr lang="en-US"/>
        </a:p>
      </dgm:t>
    </dgm:pt>
    <dgm:pt modelId="{377FEE87-865F-4991-ACEF-F37A0250A570}" type="pres">
      <dgm:prSet presAssocID="{2BDA27A1-CC29-461A-976F-88956730257C}" presName="linearFlow" presStyleCnt="0">
        <dgm:presLayoutVars>
          <dgm:dir/>
          <dgm:animLvl val="lvl"/>
          <dgm:resizeHandles val="exact"/>
        </dgm:presLayoutVars>
      </dgm:prSet>
      <dgm:spPr/>
    </dgm:pt>
    <dgm:pt modelId="{83A56D5E-15DE-46AD-9076-D59B297B7FBD}" type="pres">
      <dgm:prSet presAssocID="{52DC8046-ADED-4847-B5AE-8F99B4F87D4F}" presName="composite" presStyleCnt="0"/>
      <dgm:spPr/>
    </dgm:pt>
    <dgm:pt modelId="{4CA7962D-2337-486B-9555-C33FB4AE8A5D}" type="pres">
      <dgm:prSet presAssocID="{52DC8046-ADED-4847-B5AE-8F99B4F87D4F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FDB819A8-F3D6-4453-AA45-493D9E87131E}" type="pres">
      <dgm:prSet presAssocID="{52DC8046-ADED-4847-B5AE-8F99B4F87D4F}" presName="descendantText" presStyleLbl="alignAcc1" presStyleIdx="0" presStyleCnt="4">
        <dgm:presLayoutVars>
          <dgm:bulletEnabled val="1"/>
        </dgm:presLayoutVars>
      </dgm:prSet>
      <dgm:spPr/>
    </dgm:pt>
    <dgm:pt modelId="{ECF7261A-631E-487B-B2F3-1EE3A5A94F5A}" type="pres">
      <dgm:prSet presAssocID="{213A650E-8AC4-4673-8F6D-1FF71D048254}" presName="sp" presStyleCnt="0"/>
      <dgm:spPr/>
    </dgm:pt>
    <dgm:pt modelId="{743EC37C-8C75-4EA3-921A-865C5CCE4855}" type="pres">
      <dgm:prSet presAssocID="{1E672B7E-174F-49AA-9040-8530F59BE81B}" presName="composite" presStyleCnt="0"/>
      <dgm:spPr/>
    </dgm:pt>
    <dgm:pt modelId="{93354F3E-F566-47C0-BDF2-88A6D7636823}" type="pres">
      <dgm:prSet presAssocID="{1E672B7E-174F-49AA-9040-8530F59BE81B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F89638EB-60F7-4158-BDF0-5451AD4CAF12}" type="pres">
      <dgm:prSet presAssocID="{1E672B7E-174F-49AA-9040-8530F59BE81B}" presName="descendantText" presStyleLbl="alignAcc1" presStyleIdx="1" presStyleCnt="4">
        <dgm:presLayoutVars>
          <dgm:bulletEnabled val="1"/>
        </dgm:presLayoutVars>
      </dgm:prSet>
      <dgm:spPr/>
    </dgm:pt>
    <dgm:pt modelId="{3DEAB2BD-2B6F-4F8E-88AB-B82CEEC9A37C}" type="pres">
      <dgm:prSet presAssocID="{09F96D24-3360-44CB-BF1A-38FFA1862247}" presName="sp" presStyleCnt="0"/>
      <dgm:spPr/>
    </dgm:pt>
    <dgm:pt modelId="{27D56814-40BA-4C2A-B030-A88E760EE2EF}" type="pres">
      <dgm:prSet presAssocID="{E576E830-8841-4847-AEAC-C77E5AB2F3FF}" presName="composite" presStyleCnt="0"/>
      <dgm:spPr/>
    </dgm:pt>
    <dgm:pt modelId="{A2B609E9-EA1F-441C-AAD3-DAB8F358D9C9}" type="pres">
      <dgm:prSet presAssocID="{E576E830-8841-4847-AEAC-C77E5AB2F3FF}" presName="parentText" presStyleLbl="alignNode1" presStyleIdx="2" presStyleCnt="4" custLinFactNeighborX="-8620">
        <dgm:presLayoutVars>
          <dgm:chMax val="1"/>
          <dgm:bulletEnabled val="1"/>
        </dgm:presLayoutVars>
      </dgm:prSet>
      <dgm:spPr/>
    </dgm:pt>
    <dgm:pt modelId="{DE26776B-6026-4FD4-B573-D0D055ED523B}" type="pres">
      <dgm:prSet presAssocID="{E576E830-8841-4847-AEAC-C77E5AB2F3FF}" presName="descendantText" presStyleLbl="alignAcc1" presStyleIdx="2" presStyleCnt="4">
        <dgm:presLayoutVars>
          <dgm:bulletEnabled val="1"/>
        </dgm:presLayoutVars>
      </dgm:prSet>
      <dgm:spPr/>
    </dgm:pt>
    <dgm:pt modelId="{EBCA4648-0108-460E-A292-9CEA3F73141B}" type="pres">
      <dgm:prSet presAssocID="{A727E573-854E-4B00-9C99-CC9FDDF33504}" presName="sp" presStyleCnt="0"/>
      <dgm:spPr/>
    </dgm:pt>
    <dgm:pt modelId="{564E9605-5717-4460-9BBE-5EB449A1E823}" type="pres">
      <dgm:prSet presAssocID="{36A63699-FC5E-4717-9B9C-3BC000B1BA5D}" presName="composite" presStyleCnt="0"/>
      <dgm:spPr/>
    </dgm:pt>
    <dgm:pt modelId="{8FAE1217-90A8-42F0-AC0D-ADC0FAC08551}" type="pres">
      <dgm:prSet presAssocID="{36A63699-FC5E-4717-9B9C-3BC000B1BA5D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DAF89253-EB31-4161-BA69-15A6DAE1928F}" type="pres">
      <dgm:prSet presAssocID="{36A63699-FC5E-4717-9B9C-3BC000B1BA5D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196D6404-B4BB-4AFE-8EC4-E52A62CAEA10}" srcId="{36A63699-FC5E-4717-9B9C-3BC000B1BA5D}" destId="{E44F7AE3-0260-4F47-B015-11693F5104E1}" srcOrd="2" destOrd="0" parTransId="{3538DF7F-178C-4948-91B1-A8C807EE5696}" sibTransId="{88C10828-1853-4A18-BA4F-EAAA789418A3}"/>
    <dgm:cxn modelId="{BD6D220D-A6C8-4A1E-9863-4EFD2C081E4D}" type="presOf" srcId="{8D75E20F-B9C2-467F-A0A6-4B2C09647A37}" destId="{DE26776B-6026-4FD4-B573-D0D055ED523B}" srcOrd="0" destOrd="3" presId="urn:microsoft.com/office/officeart/2005/8/layout/chevron2"/>
    <dgm:cxn modelId="{95B72512-9805-44B2-9103-9DBC8D47FD8B}" srcId="{E576E830-8841-4847-AEAC-C77E5AB2F3FF}" destId="{ABBBF8C4-F4EC-465B-B92D-E0F6B1C56BCB}" srcOrd="0" destOrd="0" parTransId="{52C241C8-C9BD-457E-9565-C7D27D4D8565}" sibTransId="{B8F18CB0-5CDE-4A24-BF94-EB09B21D2F20}"/>
    <dgm:cxn modelId="{72C8F024-50FC-42E1-BD4D-06C9F84E74E4}" srcId="{2BDA27A1-CC29-461A-976F-88956730257C}" destId="{E576E830-8841-4847-AEAC-C77E5AB2F3FF}" srcOrd="2" destOrd="0" parTransId="{74115568-B9D3-4B37-8CEB-FD340B996F71}" sibTransId="{A727E573-854E-4B00-9C99-CC9FDDF33504}"/>
    <dgm:cxn modelId="{6AEDC027-8C51-4CE2-9984-19040E7DC715}" srcId="{52DC8046-ADED-4847-B5AE-8F99B4F87D4F}" destId="{A983E165-EE3A-408C-B339-7690AAB7C72F}" srcOrd="1" destOrd="0" parTransId="{A23C1FCA-2405-438F-AEA7-CFBCDB80BCF5}" sibTransId="{3B5C1569-E688-4259-9D04-5741DA3E5A9B}"/>
    <dgm:cxn modelId="{54407A31-967F-47F2-953D-781832730A93}" type="presOf" srcId="{ABBBF8C4-F4EC-465B-B92D-E0F6B1C56BCB}" destId="{DE26776B-6026-4FD4-B573-D0D055ED523B}" srcOrd="0" destOrd="0" presId="urn:microsoft.com/office/officeart/2005/8/layout/chevron2"/>
    <dgm:cxn modelId="{92004F39-AD0E-43D7-85AE-16E3A4D2206A}" type="presOf" srcId="{E576E830-8841-4847-AEAC-C77E5AB2F3FF}" destId="{A2B609E9-EA1F-441C-AAD3-DAB8F358D9C9}" srcOrd="0" destOrd="0" presId="urn:microsoft.com/office/officeart/2005/8/layout/chevron2"/>
    <dgm:cxn modelId="{16EF9939-0689-4F23-94C8-2A924AF167DE}" type="presOf" srcId="{2BDA27A1-CC29-461A-976F-88956730257C}" destId="{377FEE87-865F-4991-ACEF-F37A0250A570}" srcOrd="0" destOrd="0" presId="urn:microsoft.com/office/officeart/2005/8/layout/chevron2"/>
    <dgm:cxn modelId="{F2586A3A-C8FC-4040-9E06-0E03EAC760F3}" type="presOf" srcId="{AC8D4CCD-9EA3-420D-9B3F-FAEF355B658A}" destId="{F89638EB-60F7-4158-BDF0-5451AD4CAF12}" srcOrd="0" destOrd="0" presId="urn:microsoft.com/office/officeart/2005/8/layout/chevron2"/>
    <dgm:cxn modelId="{3AD4D65F-5B84-420B-B993-D3A4F6C2C1C1}" srcId="{36A63699-FC5E-4717-9B9C-3BC000B1BA5D}" destId="{2CD1F0AC-6ACE-4E6A-88BD-D89D7EC90932}" srcOrd="0" destOrd="0" parTransId="{3EE9E91D-99DB-4DBB-9E46-3141289E5B6E}" sibTransId="{F91B6EEE-A520-4BE9-8237-ED1BA1D86F05}"/>
    <dgm:cxn modelId="{67017263-5AA2-4344-8A51-99025896CB7A}" type="presOf" srcId="{C32E03C9-F171-43FF-83F0-1AEFC0623934}" destId="{DAF89253-EB31-4161-BA69-15A6DAE1928F}" srcOrd="0" destOrd="3" presId="urn:microsoft.com/office/officeart/2005/8/layout/chevron2"/>
    <dgm:cxn modelId="{386F4C64-6DFE-4AF9-A474-29694B80B5AC}" type="presOf" srcId="{52DC8046-ADED-4847-B5AE-8F99B4F87D4F}" destId="{4CA7962D-2337-486B-9555-C33FB4AE8A5D}" srcOrd="0" destOrd="0" presId="urn:microsoft.com/office/officeart/2005/8/layout/chevron2"/>
    <dgm:cxn modelId="{2EE0F144-B285-4761-8D96-359E13FB4E17}" srcId="{E576E830-8841-4847-AEAC-C77E5AB2F3FF}" destId="{01803D6B-B612-4CDF-BDBB-71F08F7F788E}" srcOrd="1" destOrd="0" parTransId="{13BFD497-CD99-4B03-A36E-37D4A186F629}" sibTransId="{A07F2B1E-9DFF-4F89-9E70-9887E05A8647}"/>
    <dgm:cxn modelId="{4607D567-F954-4EA1-AB7E-292F59CA1FF9}" srcId="{1E672B7E-174F-49AA-9040-8530F59BE81B}" destId="{5031E39F-14BB-4F10-917B-D6F32F438F1D}" srcOrd="1" destOrd="0" parTransId="{F593284F-0BF1-48FF-96A9-D83160600ABB}" sibTransId="{0F543DA5-BC21-41DB-A86A-C7F5339A37B9}"/>
    <dgm:cxn modelId="{DAE9F147-3B2F-4CEC-8231-D8F8D4E53A97}" type="presOf" srcId="{A983E165-EE3A-408C-B339-7690AAB7C72F}" destId="{FDB819A8-F3D6-4453-AA45-493D9E87131E}" srcOrd="0" destOrd="1" presId="urn:microsoft.com/office/officeart/2005/8/layout/chevron2"/>
    <dgm:cxn modelId="{B5041F49-75A1-4E6D-BBA2-E29B834DA384}" srcId="{2BDA27A1-CC29-461A-976F-88956730257C}" destId="{52DC8046-ADED-4847-B5AE-8F99B4F87D4F}" srcOrd="0" destOrd="0" parTransId="{27BC0590-3F7E-4739-BEA5-8CB2121A4DCF}" sibTransId="{213A650E-8AC4-4673-8F6D-1FF71D048254}"/>
    <dgm:cxn modelId="{A7B81E6C-0500-40A4-B7A3-0FE18D5114C6}" type="presOf" srcId="{E44F7AE3-0260-4F47-B015-11693F5104E1}" destId="{DAF89253-EB31-4161-BA69-15A6DAE1928F}" srcOrd="0" destOrd="2" presId="urn:microsoft.com/office/officeart/2005/8/layout/chevron2"/>
    <dgm:cxn modelId="{28B2F950-E5DD-4F1E-84B3-592549533262}" srcId="{36A63699-FC5E-4717-9B9C-3BC000B1BA5D}" destId="{C32E03C9-F171-43FF-83F0-1AEFC0623934}" srcOrd="3" destOrd="0" parTransId="{1A27D0F2-6350-427C-B34A-E285FFEC032F}" sibTransId="{6CFADB52-8AAB-44D8-A504-D54D0B524D7A}"/>
    <dgm:cxn modelId="{8225E754-0074-478D-89D4-D2AD7CE01929}" type="presOf" srcId="{36A63699-FC5E-4717-9B9C-3BC000B1BA5D}" destId="{8FAE1217-90A8-42F0-AC0D-ADC0FAC08551}" srcOrd="0" destOrd="0" presId="urn:microsoft.com/office/officeart/2005/8/layout/chevron2"/>
    <dgm:cxn modelId="{950C5059-29E5-4573-850F-BFAE0003FCB3}" srcId="{2BDA27A1-CC29-461A-976F-88956730257C}" destId="{36A63699-FC5E-4717-9B9C-3BC000B1BA5D}" srcOrd="3" destOrd="0" parTransId="{94760EFE-B747-469B-87F7-DC09A624B703}" sibTransId="{3F72D1C7-741F-440C-ABF0-F3F4A0F7BA97}"/>
    <dgm:cxn modelId="{826C6A7A-ED42-4F35-9022-C3AB8B77E9BA}" type="presOf" srcId="{E2AFB91A-E7E8-4F99-BC38-99B0DD3181AD}" destId="{DAF89253-EB31-4161-BA69-15A6DAE1928F}" srcOrd="0" destOrd="1" presId="urn:microsoft.com/office/officeart/2005/8/layout/chevron2"/>
    <dgm:cxn modelId="{E0D8DD5A-DB3B-431B-ADD5-4E101ECD5A6B}" type="presOf" srcId="{01803D6B-B612-4CDF-BDBB-71F08F7F788E}" destId="{DE26776B-6026-4FD4-B573-D0D055ED523B}" srcOrd="0" destOrd="1" presId="urn:microsoft.com/office/officeart/2005/8/layout/chevron2"/>
    <dgm:cxn modelId="{5F7BC586-13C5-49DB-86E2-42213DAC955B}" type="presOf" srcId="{1CDB434E-C636-421F-8737-FA4531ED7BB3}" destId="{FDB819A8-F3D6-4453-AA45-493D9E87131E}" srcOrd="0" destOrd="0" presId="urn:microsoft.com/office/officeart/2005/8/layout/chevron2"/>
    <dgm:cxn modelId="{452D8993-F835-45C6-BC17-9FF3C4C7359F}" srcId="{E576E830-8841-4847-AEAC-C77E5AB2F3FF}" destId="{8FA86DC0-D596-46B2-B2D4-E61BAFD9585A}" srcOrd="2" destOrd="0" parTransId="{52A8B3E1-9AAC-48C6-81C7-8CC290C978CE}" sibTransId="{EDA4F3CD-5EF5-45DE-BFFD-48B6652F38C7}"/>
    <dgm:cxn modelId="{CFD8AC9C-18C2-4B29-AAA3-A4CCE667FC1D}" type="presOf" srcId="{8FA86DC0-D596-46B2-B2D4-E61BAFD9585A}" destId="{DE26776B-6026-4FD4-B573-D0D055ED523B}" srcOrd="0" destOrd="2" presId="urn:microsoft.com/office/officeart/2005/8/layout/chevron2"/>
    <dgm:cxn modelId="{465710AC-5168-455A-A771-673ED44CCAE1}" srcId="{52DC8046-ADED-4847-B5AE-8F99B4F87D4F}" destId="{1CDB434E-C636-421F-8737-FA4531ED7BB3}" srcOrd="0" destOrd="0" parTransId="{374CECC6-8986-4841-84D6-B554B0E91389}" sibTransId="{F2155A15-C9E1-4757-BE06-F13708DC2CBB}"/>
    <dgm:cxn modelId="{AF0069B1-C4BC-4395-B3B6-3833E503BAB6}" type="presOf" srcId="{2CD1F0AC-6ACE-4E6A-88BD-D89D7EC90932}" destId="{DAF89253-EB31-4161-BA69-15A6DAE1928F}" srcOrd="0" destOrd="0" presId="urn:microsoft.com/office/officeart/2005/8/layout/chevron2"/>
    <dgm:cxn modelId="{D97706C3-450C-49FD-8D10-B19376C0CB71}" srcId="{36A63699-FC5E-4717-9B9C-3BC000B1BA5D}" destId="{E2AFB91A-E7E8-4F99-BC38-99B0DD3181AD}" srcOrd="1" destOrd="0" parTransId="{B9A848EC-2553-428C-9437-D74B9BBDF83A}" sibTransId="{6C3A2C91-501D-4CE1-BA6B-8B4725E2CC1D}"/>
    <dgm:cxn modelId="{A237DDC8-B884-41B2-BD27-C26C6C6A2031}" srcId="{1E672B7E-174F-49AA-9040-8530F59BE81B}" destId="{AC8D4CCD-9EA3-420D-9B3F-FAEF355B658A}" srcOrd="0" destOrd="0" parTransId="{50F66EF7-C8F2-4121-8949-BB47BB813046}" sibTransId="{B4785723-7869-4C8C-9EA6-8C187876B542}"/>
    <dgm:cxn modelId="{E4C45CC9-9786-4609-9990-EA100EAC6981}" srcId="{2BDA27A1-CC29-461A-976F-88956730257C}" destId="{1E672B7E-174F-49AA-9040-8530F59BE81B}" srcOrd="1" destOrd="0" parTransId="{93AF693B-991A-4512-A028-9467C7D80EDC}" sibTransId="{09F96D24-3360-44CB-BF1A-38FFA1862247}"/>
    <dgm:cxn modelId="{EAFFADD9-7049-4EB7-B180-EF0ADA9F3FA8}" srcId="{E576E830-8841-4847-AEAC-C77E5AB2F3FF}" destId="{8D75E20F-B9C2-467F-A0A6-4B2C09647A37}" srcOrd="3" destOrd="0" parTransId="{2577BADB-F5B0-4875-86B4-CBDC554129ED}" sibTransId="{3DB8DE1D-B672-4C3E-8FEF-7174FD4AB05D}"/>
    <dgm:cxn modelId="{721259E5-730E-4B4D-A606-6C48824ED2A5}" type="presOf" srcId="{1E672B7E-174F-49AA-9040-8530F59BE81B}" destId="{93354F3E-F566-47C0-BDF2-88A6D7636823}" srcOrd="0" destOrd="0" presId="urn:microsoft.com/office/officeart/2005/8/layout/chevron2"/>
    <dgm:cxn modelId="{632C9AF3-483E-4F71-B1AC-89CCA5084207}" type="presOf" srcId="{5031E39F-14BB-4F10-917B-D6F32F438F1D}" destId="{F89638EB-60F7-4158-BDF0-5451AD4CAF12}" srcOrd="0" destOrd="1" presId="urn:microsoft.com/office/officeart/2005/8/layout/chevron2"/>
    <dgm:cxn modelId="{09176282-04B8-4363-9B18-5612F9D3F6B2}" type="presParOf" srcId="{377FEE87-865F-4991-ACEF-F37A0250A570}" destId="{83A56D5E-15DE-46AD-9076-D59B297B7FBD}" srcOrd="0" destOrd="0" presId="urn:microsoft.com/office/officeart/2005/8/layout/chevron2"/>
    <dgm:cxn modelId="{3450C87A-2070-48A1-BFDB-6178A2969A1A}" type="presParOf" srcId="{83A56D5E-15DE-46AD-9076-D59B297B7FBD}" destId="{4CA7962D-2337-486B-9555-C33FB4AE8A5D}" srcOrd="0" destOrd="0" presId="urn:microsoft.com/office/officeart/2005/8/layout/chevron2"/>
    <dgm:cxn modelId="{98D8A163-E08B-4C11-92D2-22B738D9A06E}" type="presParOf" srcId="{83A56D5E-15DE-46AD-9076-D59B297B7FBD}" destId="{FDB819A8-F3D6-4453-AA45-493D9E87131E}" srcOrd="1" destOrd="0" presId="urn:microsoft.com/office/officeart/2005/8/layout/chevron2"/>
    <dgm:cxn modelId="{866DDBD9-2128-48D2-8C9C-04580555286C}" type="presParOf" srcId="{377FEE87-865F-4991-ACEF-F37A0250A570}" destId="{ECF7261A-631E-487B-B2F3-1EE3A5A94F5A}" srcOrd="1" destOrd="0" presId="urn:microsoft.com/office/officeart/2005/8/layout/chevron2"/>
    <dgm:cxn modelId="{24CE559F-84AB-4D05-9EC8-5DCC27FBDE6B}" type="presParOf" srcId="{377FEE87-865F-4991-ACEF-F37A0250A570}" destId="{743EC37C-8C75-4EA3-921A-865C5CCE4855}" srcOrd="2" destOrd="0" presId="urn:microsoft.com/office/officeart/2005/8/layout/chevron2"/>
    <dgm:cxn modelId="{679B5562-6919-45BC-AC1D-DD839F5454A5}" type="presParOf" srcId="{743EC37C-8C75-4EA3-921A-865C5CCE4855}" destId="{93354F3E-F566-47C0-BDF2-88A6D7636823}" srcOrd="0" destOrd="0" presId="urn:microsoft.com/office/officeart/2005/8/layout/chevron2"/>
    <dgm:cxn modelId="{25E35260-D95D-4FAD-8F8F-EA165ECDF17B}" type="presParOf" srcId="{743EC37C-8C75-4EA3-921A-865C5CCE4855}" destId="{F89638EB-60F7-4158-BDF0-5451AD4CAF12}" srcOrd="1" destOrd="0" presId="urn:microsoft.com/office/officeart/2005/8/layout/chevron2"/>
    <dgm:cxn modelId="{B6DB954B-902E-4A32-BBF7-36F4501EA59A}" type="presParOf" srcId="{377FEE87-865F-4991-ACEF-F37A0250A570}" destId="{3DEAB2BD-2B6F-4F8E-88AB-B82CEEC9A37C}" srcOrd="3" destOrd="0" presId="urn:microsoft.com/office/officeart/2005/8/layout/chevron2"/>
    <dgm:cxn modelId="{3826CEA9-10F9-462C-96FB-D64B15D37E81}" type="presParOf" srcId="{377FEE87-865F-4991-ACEF-F37A0250A570}" destId="{27D56814-40BA-4C2A-B030-A88E760EE2EF}" srcOrd="4" destOrd="0" presId="urn:microsoft.com/office/officeart/2005/8/layout/chevron2"/>
    <dgm:cxn modelId="{6506F661-652C-4A8E-A1FC-D9A149F4CBE4}" type="presParOf" srcId="{27D56814-40BA-4C2A-B030-A88E760EE2EF}" destId="{A2B609E9-EA1F-441C-AAD3-DAB8F358D9C9}" srcOrd="0" destOrd="0" presId="urn:microsoft.com/office/officeart/2005/8/layout/chevron2"/>
    <dgm:cxn modelId="{8CA09908-1430-4368-85B1-67841B3AD3E6}" type="presParOf" srcId="{27D56814-40BA-4C2A-B030-A88E760EE2EF}" destId="{DE26776B-6026-4FD4-B573-D0D055ED523B}" srcOrd="1" destOrd="0" presId="urn:microsoft.com/office/officeart/2005/8/layout/chevron2"/>
    <dgm:cxn modelId="{420B11D7-178E-434E-952D-E1BE274494AB}" type="presParOf" srcId="{377FEE87-865F-4991-ACEF-F37A0250A570}" destId="{EBCA4648-0108-460E-A292-9CEA3F73141B}" srcOrd="5" destOrd="0" presId="urn:microsoft.com/office/officeart/2005/8/layout/chevron2"/>
    <dgm:cxn modelId="{929EB154-3578-4068-A9CA-26DBF5D66610}" type="presParOf" srcId="{377FEE87-865F-4991-ACEF-F37A0250A570}" destId="{564E9605-5717-4460-9BBE-5EB449A1E823}" srcOrd="6" destOrd="0" presId="urn:microsoft.com/office/officeart/2005/8/layout/chevron2"/>
    <dgm:cxn modelId="{40FD50E6-B836-4E10-A69D-1CDC9B57B4AE}" type="presParOf" srcId="{564E9605-5717-4460-9BBE-5EB449A1E823}" destId="{8FAE1217-90A8-42F0-AC0D-ADC0FAC08551}" srcOrd="0" destOrd="0" presId="urn:microsoft.com/office/officeart/2005/8/layout/chevron2"/>
    <dgm:cxn modelId="{54DD3AFC-E6E1-465A-8987-F782EC46901F}" type="presParOf" srcId="{564E9605-5717-4460-9BBE-5EB449A1E823}" destId="{DAF89253-EB31-4161-BA69-15A6DAE1928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DA27A1-CC29-461A-976F-88956730257C}" type="doc">
      <dgm:prSet loTypeId="urn:microsoft.com/office/officeart/2005/8/layout/chevron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2DC8046-ADED-4847-B5AE-8F99B4F87D4F}">
      <dgm:prSet phldrT="[Text]"/>
      <dgm:spPr/>
      <dgm:t>
        <a:bodyPr/>
        <a:lstStyle/>
        <a:p>
          <a:r>
            <a:rPr lang="en-US" dirty="0"/>
            <a:t>Establish type of analysis to do</a:t>
          </a:r>
        </a:p>
      </dgm:t>
    </dgm:pt>
    <dgm:pt modelId="{27BC0590-3F7E-4739-BEA5-8CB2121A4DCF}" type="parTrans" cxnId="{B5041F49-75A1-4E6D-BBA2-E29B834DA384}">
      <dgm:prSet/>
      <dgm:spPr/>
      <dgm:t>
        <a:bodyPr/>
        <a:lstStyle/>
        <a:p>
          <a:endParaRPr lang="en-US"/>
        </a:p>
      </dgm:t>
    </dgm:pt>
    <dgm:pt modelId="{213A650E-8AC4-4673-8F6D-1FF71D048254}" type="sibTrans" cxnId="{B5041F49-75A1-4E6D-BBA2-E29B834DA384}">
      <dgm:prSet/>
      <dgm:spPr/>
      <dgm:t>
        <a:bodyPr/>
        <a:lstStyle/>
        <a:p>
          <a:endParaRPr lang="en-US"/>
        </a:p>
      </dgm:t>
    </dgm:pt>
    <dgm:pt modelId="{1CDB434E-C636-421F-8737-FA4531ED7BB3}">
      <dgm:prSet phldrT="[Text]"/>
      <dgm:spPr/>
      <dgm:t>
        <a:bodyPr/>
        <a:lstStyle/>
        <a:p>
          <a:r>
            <a:rPr lang="en-US" dirty="0"/>
            <a:t>Is the taxon a crop wild relatives or a landrace? (DEFINE LANDRACE OR CWR GAP ANALYSIS)</a:t>
          </a:r>
        </a:p>
      </dgm:t>
    </dgm:pt>
    <dgm:pt modelId="{374CECC6-8986-4841-84D6-B554B0E91389}" type="parTrans" cxnId="{465710AC-5168-455A-A771-673ED44CCAE1}">
      <dgm:prSet/>
      <dgm:spPr/>
      <dgm:t>
        <a:bodyPr/>
        <a:lstStyle/>
        <a:p>
          <a:endParaRPr lang="en-US"/>
        </a:p>
      </dgm:t>
    </dgm:pt>
    <dgm:pt modelId="{F2155A15-C9E1-4757-BE06-F13708DC2CBB}" type="sibTrans" cxnId="{465710AC-5168-455A-A771-673ED44CCAE1}">
      <dgm:prSet/>
      <dgm:spPr/>
      <dgm:t>
        <a:bodyPr/>
        <a:lstStyle/>
        <a:p>
          <a:endParaRPr lang="en-US"/>
        </a:p>
      </dgm:t>
    </dgm:pt>
    <dgm:pt modelId="{1E672B7E-174F-49AA-9040-8530F59BE81B}">
      <dgm:prSet phldrT="[Text]"/>
      <dgm:spPr/>
      <dgm:t>
        <a:bodyPr/>
        <a:lstStyle/>
        <a:p>
          <a:r>
            <a:rPr lang="en-US" dirty="0"/>
            <a:t>Search the data</a:t>
          </a:r>
        </a:p>
      </dgm:t>
    </dgm:pt>
    <dgm:pt modelId="{93AF693B-991A-4512-A028-9467C7D80EDC}" type="parTrans" cxnId="{E4C45CC9-9786-4609-9990-EA100EAC6981}">
      <dgm:prSet/>
      <dgm:spPr/>
      <dgm:t>
        <a:bodyPr/>
        <a:lstStyle/>
        <a:p>
          <a:endParaRPr lang="en-US"/>
        </a:p>
      </dgm:t>
    </dgm:pt>
    <dgm:pt modelId="{09F96D24-3360-44CB-BF1A-38FFA1862247}" type="sibTrans" cxnId="{E4C45CC9-9786-4609-9990-EA100EAC6981}">
      <dgm:prSet/>
      <dgm:spPr/>
      <dgm:t>
        <a:bodyPr/>
        <a:lstStyle/>
        <a:p>
          <a:endParaRPr lang="en-US"/>
        </a:p>
      </dgm:t>
    </dgm:pt>
    <dgm:pt modelId="{AC8D4CCD-9EA3-420D-9B3F-FAEF355B658A}">
      <dgm:prSet phldrT="[Text]"/>
      <dgm:spPr/>
      <dgm:t>
        <a:bodyPr/>
        <a:lstStyle/>
        <a:p>
          <a:r>
            <a:rPr lang="en-US" dirty="0"/>
            <a:t>What data do I need to run the analysis? (GERMPLASM AND HERBARIUM DATA)</a:t>
          </a:r>
        </a:p>
      </dgm:t>
    </dgm:pt>
    <dgm:pt modelId="{50F66EF7-C8F2-4121-8949-BB47BB813046}" type="parTrans" cxnId="{A237DDC8-B884-41B2-BD27-C26C6C6A2031}">
      <dgm:prSet/>
      <dgm:spPr/>
      <dgm:t>
        <a:bodyPr/>
        <a:lstStyle/>
        <a:p>
          <a:endParaRPr lang="en-US"/>
        </a:p>
      </dgm:t>
    </dgm:pt>
    <dgm:pt modelId="{B4785723-7869-4C8C-9EA6-8C187876B542}" type="sibTrans" cxnId="{A237DDC8-B884-41B2-BD27-C26C6C6A2031}">
      <dgm:prSet/>
      <dgm:spPr/>
      <dgm:t>
        <a:bodyPr/>
        <a:lstStyle/>
        <a:p>
          <a:endParaRPr lang="en-US"/>
        </a:p>
      </dgm:t>
    </dgm:pt>
    <dgm:pt modelId="{5031E39F-14BB-4F10-917B-D6F32F438F1D}">
      <dgm:prSet phldrT="[Text]"/>
      <dgm:spPr/>
      <dgm:t>
        <a:bodyPr/>
        <a:lstStyle/>
        <a:p>
          <a:r>
            <a:rPr lang="en-US" dirty="0"/>
            <a:t>What databases should I use and how to download the data? (DEFINE DATABASES TO USE: WIEWS, GENESYS, GBIF, USDA)</a:t>
          </a:r>
        </a:p>
      </dgm:t>
    </dgm:pt>
    <dgm:pt modelId="{F593284F-0BF1-48FF-96A9-D83160600ABB}" type="parTrans" cxnId="{4607D567-F954-4EA1-AB7E-292F59CA1FF9}">
      <dgm:prSet/>
      <dgm:spPr/>
      <dgm:t>
        <a:bodyPr/>
        <a:lstStyle/>
        <a:p>
          <a:endParaRPr lang="en-US"/>
        </a:p>
      </dgm:t>
    </dgm:pt>
    <dgm:pt modelId="{0F543DA5-BC21-41DB-A86A-C7F5339A37B9}" type="sibTrans" cxnId="{4607D567-F954-4EA1-AB7E-292F59CA1FF9}">
      <dgm:prSet/>
      <dgm:spPr/>
      <dgm:t>
        <a:bodyPr/>
        <a:lstStyle/>
        <a:p>
          <a:endParaRPr lang="en-US"/>
        </a:p>
      </dgm:t>
    </dgm:pt>
    <dgm:pt modelId="{E576E830-8841-4847-AEAC-C77E5AB2F3FF}">
      <dgm:prSet phldrT="[Text]"/>
      <dgm:spPr/>
      <dgm:t>
        <a:bodyPr/>
        <a:lstStyle/>
        <a:p>
          <a:r>
            <a:rPr lang="en-US" dirty="0"/>
            <a:t>Preprocessing (Observe data)</a:t>
          </a:r>
        </a:p>
      </dgm:t>
    </dgm:pt>
    <dgm:pt modelId="{74115568-B9D3-4B37-8CEB-FD340B996F71}" type="parTrans" cxnId="{72C8F024-50FC-42E1-BD4D-06C9F84E74E4}">
      <dgm:prSet/>
      <dgm:spPr/>
      <dgm:t>
        <a:bodyPr/>
        <a:lstStyle/>
        <a:p>
          <a:endParaRPr lang="en-US"/>
        </a:p>
      </dgm:t>
    </dgm:pt>
    <dgm:pt modelId="{A727E573-854E-4B00-9C99-CC9FDDF33504}" type="sibTrans" cxnId="{72C8F024-50FC-42E1-BD4D-06C9F84E74E4}">
      <dgm:prSet/>
      <dgm:spPr/>
      <dgm:t>
        <a:bodyPr/>
        <a:lstStyle/>
        <a:p>
          <a:endParaRPr lang="en-US"/>
        </a:p>
      </dgm:t>
    </dgm:pt>
    <dgm:pt modelId="{ABBBF8C4-F4EC-465B-B92D-E0F6B1C56BCB}">
      <dgm:prSet phldrT="[Text]"/>
      <dgm:spPr/>
      <dgm:t>
        <a:bodyPr/>
        <a:lstStyle/>
        <a:p>
          <a:endParaRPr lang="en-US" dirty="0"/>
        </a:p>
      </dgm:t>
    </dgm:pt>
    <dgm:pt modelId="{52C241C8-C9BD-457E-9565-C7D27D4D8565}" type="parTrans" cxnId="{95B72512-9805-44B2-9103-9DBC8D47FD8B}">
      <dgm:prSet/>
      <dgm:spPr/>
      <dgm:t>
        <a:bodyPr/>
        <a:lstStyle/>
        <a:p>
          <a:endParaRPr lang="en-US"/>
        </a:p>
      </dgm:t>
    </dgm:pt>
    <dgm:pt modelId="{B8F18CB0-5CDE-4A24-BF94-EB09B21D2F20}" type="sibTrans" cxnId="{95B72512-9805-44B2-9103-9DBC8D47FD8B}">
      <dgm:prSet/>
      <dgm:spPr/>
      <dgm:t>
        <a:bodyPr/>
        <a:lstStyle/>
        <a:p>
          <a:endParaRPr lang="en-US"/>
        </a:p>
      </dgm:t>
    </dgm:pt>
    <dgm:pt modelId="{36A63699-FC5E-4717-9B9C-3BC000B1BA5D}">
      <dgm:prSet phldrT="[Text]"/>
      <dgm:spPr/>
      <dgm:t>
        <a:bodyPr/>
        <a:lstStyle/>
        <a:p>
          <a:r>
            <a:rPr lang="en-US" dirty="0"/>
            <a:t>Preprocessing (clean data) </a:t>
          </a:r>
        </a:p>
      </dgm:t>
    </dgm:pt>
    <dgm:pt modelId="{94760EFE-B747-469B-87F7-DC09A624B703}" type="parTrans" cxnId="{950C5059-29E5-4573-850F-BFAE0003FCB3}">
      <dgm:prSet/>
      <dgm:spPr/>
      <dgm:t>
        <a:bodyPr/>
        <a:lstStyle/>
        <a:p>
          <a:endParaRPr lang="en-US"/>
        </a:p>
      </dgm:t>
    </dgm:pt>
    <dgm:pt modelId="{3F72D1C7-741F-440C-ABF0-F3F4A0F7BA97}" type="sibTrans" cxnId="{950C5059-29E5-4573-850F-BFAE0003FCB3}">
      <dgm:prSet/>
      <dgm:spPr/>
      <dgm:t>
        <a:bodyPr/>
        <a:lstStyle/>
        <a:p>
          <a:endParaRPr lang="en-US"/>
        </a:p>
      </dgm:t>
    </dgm:pt>
    <dgm:pt modelId="{2CD1F0AC-6ACE-4E6A-88BD-D89D7EC90932}">
      <dgm:prSet/>
      <dgm:spPr/>
      <dgm:t>
        <a:bodyPr/>
        <a:lstStyle/>
        <a:p>
          <a:r>
            <a:rPr lang="en-US" dirty="0"/>
            <a:t>Is the data accurate for the analysis? (VISUALIZE DATA)</a:t>
          </a:r>
        </a:p>
      </dgm:t>
    </dgm:pt>
    <dgm:pt modelId="{3EE9E91D-99DB-4DBB-9E46-3141289E5B6E}" type="parTrans" cxnId="{3AD4D65F-5B84-420B-B993-D3A4F6C2C1C1}">
      <dgm:prSet/>
      <dgm:spPr/>
      <dgm:t>
        <a:bodyPr/>
        <a:lstStyle/>
        <a:p>
          <a:endParaRPr lang="en-US"/>
        </a:p>
      </dgm:t>
    </dgm:pt>
    <dgm:pt modelId="{F91B6EEE-A520-4BE9-8237-ED1BA1D86F05}" type="sibTrans" cxnId="{3AD4D65F-5B84-420B-B993-D3A4F6C2C1C1}">
      <dgm:prSet/>
      <dgm:spPr/>
      <dgm:t>
        <a:bodyPr/>
        <a:lstStyle/>
        <a:p>
          <a:endParaRPr lang="en-US"/>
        </a:p>
      </dgm:t>
    </dgm:pt>
    <dgm:pt modelId="{A6914E0D-579A-47D2-B3A2-CA8A2E57D924}">
      <dgm:prSet/>
      <dgm:spPr/>
      <dgm:t>
        <a:bodyPr/>
        <a:lstStyle/>
        <a:p>
          <a:r>
            <a:rPr lang="en-US" dirty="0"/>
            <a:t>What format or requirements are need to performance the analysis? (CHECK COORDS FORMAT)</a:t>
          </a:r>
        </a:p>
      </dgm:t>
    </dgm:pt>
    <dgm:pt modelId="{01ED163B-609C-44D3-9950-E1B107A7B7F9}" type="parTrans" cxnId="{93E6AE88-FDA9-487F-AC62-2C666C33DE1C}">
      <dgm:prSet/>
      <dgm:spPr/>
      <dgm:t>
        <a:bodyPr/>
        <a:lstStyle/>
        <a:p>
          <a:endParaRPr lang="en-US"/>
        </a:p>
      </dgm:t>
    </dgm:pt>
    <dgm:pt modelId="{24A54E70-1260-42BB-BC11-C26C64D6C156}" type="sibTrans" cxnId="{93E6AE88-FDA9-487F-AC62-2C666C33DE1C}">
      <dgm:prSet/>
      <dgm:spPr/>
      <dgm:t>
        <a:bodyPr/>
        <a:lstStyle/>
        <a:p>
          <a:endParaRPr lang="en-US"/>
        </a:p>
      </dgm:t>
    </dgm:pt>
    <dgm:pt modelId="{02C48AD0-E572-4D37-97E1-BA14DF01FCD2}">
      <dgm:prSet/>
      <dgm:spPr/>
      <dgm:t>
        <a:bodyPr/>
        <a:lstStyle/>
        <a:p>
          <a:r>
            <a:rPr lang="en-US" dirty="0"/>
            <a:t>What kind of clean procedure should I do? (DEFINE IF GEOREFERENCIATION, APPLY GQS)</a:t>
          </a:r>
        </a:p>
      </dgm:t>
    </dgm:pt>
    <dgm:pt modelId="{9A7C40E9-D49E-4F9C-B8FF-18E016387573}" type="parTrans" cxnId="{4C4CE485-9AC2-4F4A-8291-5513527CD662}">
      <dgm:prSet/>
      <dgm:spPr/>
      <dgm:t>
        <a:bodyPr/>
        <a:lstStyle/>
        <a:p>
          <a:endParaRPr lang="en-US"/>
        </a:p>
      </dgm:t>
    </dgm:pt>
    <dgm:pt modelId="{FBA15BB6-93EA-4BE2-845C-3D8261A5680D}" type="sibTrans" cxnId="{4C4CE485-9AC2-4F4A-8291-5513527CD662}">
      <dgm:prSet/>
      <dgm:spPr/>
      <dgm:t>
        <a:bodyPr/>
        <a:lstStyle/>
        <a:p>
          <a:endParaRPr lang="en-US"/>
        </a:p>
      </dgm:t>
    </dgm:pt>
    <dgm:pt modelId="{C3491333-85D9-4C28-820D-3ADA522F4057}">
      <dgm:prSet/>
      <dgm:spPr/>
      <dgm:t>
        <a:bodyPr/>
        <a:lstStyle/>
        <a:p>
          <a:r>
            <a:rPr lang="en-US" dirty="0"/>
            <a:t>Are there records with dirty coords? (VISUALIZE)</a:t>
          </a:r>
        </a:p>
      </dgm:t>
    </dgm:pt>
    <dgm:pt modelId="{DF3B4D76-3AF0-4AC6-8A23-C9AE13FF1E93}" type="parTrans" cxnId="{A247A6F2-9C1C-491E-B23A-53F6B8847CD6}">
      <dgm:prSet/>
      <dgm:spPr/>
      <dgm:t>
        <a:bodyPr/>
        <a:lstStyle/>
        <a:p>
          <a:endParaRPr lang="en-US"/>
        </a:p>
      </dgm:t>
    </dgm:pt>
    <dgm:pt modelId="{CE2D13F6-AE6F-4343-9BF1-B23EF6659544}" type="sibTrans" cxnId="{A247A6F2-9C1C-491E-B23A-53F6B8847CD6}">
      <dgm:prSet/>
      <dgm:spPr/>
      <dgm:t>
        <a:bodyPr/>
        <a:lstStyle/>
        <a:p>
          <a:endParaRPr lang="en-US"/>
        </a:p>
      </dgm:t>
    </dgm:pt>
    <dgm:pt modelId="{E243EE6D-E14E-42C2-A76D-F8106A4B8B1B}">
      <dgm:prSet/>
      <dgm:spPr/>
      <dgm:t>
        <a:bodyPr/>
        <a:lstStyle/>
        <a:p>
          <a:r>
            <a:rPr lang="en-US" dirty="0"/>
            <a:t>How can I obtain clean coords? (APPLY GQS)</a:t>
          </a:r>
        </a:p>
      </dgm:t>
    </dgm:pt>
    <dgm:pt modelId="{62D643CF-F3E3-42B7-9CAF-60DB085188A4}" type="parTrans" cxnId="{798593DB-3E8E-4E99-9F4D-8AFA2A2BC4DB}">
      <dgm:prSet/>
      <dgm:spPr/>
      <dgm:t>
        <a:bodyPr/>
        <a:lstStyle/>
        <a:p>
          <a:endParaRPr lang="en-US"/>
        </a:p>
      </dgm:t>
    </dgm:pt>
    <dgm:pt modelId="{449AE11A-6FD0-447D-8DA0-0BC87472D535}" type="sibTrans" cxnId="{798593DB-3E8E-4E99-9F4D-8AFA2A2BC4DB}">
      <dgm:prSet/>
      <dgm:spPr/>
      <dgm:t>
        <a:bodyPr/>
        <a:lstStyle/>
        <a:p>
          <a:endParaRPr lang="en-US"/>
        </a:p>
      </dgm:t>
    </dgm:pt>
    <dgm:pt modelId="{8145BCEC-B661-41C2-B749-6AFEF587BB86}">
      <dgm:prSet/>
      <dgm:spPr/>
      <dgm:t>
        <a:bodyPr/>
        <a:lstStyle/>
        <a:p>
          <a:r>
            <a:rPr lang="en-US" dirty="0"/>
            <a:t>Do I have enough records for the analysis? (VISUALIZE AND COUNT Germplasm and Herbaria data)</a:t>
          </a:r>
        </a:p>
      </dgm:t>
    </dgm:pt>
    <dgm:pt modelId="{58FA839C-1E65-44C1-82B9-9F784E17E078}" type="parTrans" cxnId="{FDDB672E-3064-4616-A28B-DED121A5A471}">
      <dgm:prSet/>
      <dgm:spPr/>
      <dgm:t>
        <a:bodyPr/>
        <a:lstStyle/>
        <a:p>
          <a:endParaRPr lang="en-US"/>
        </a:p>
      </dgm:t>
    </dgm:pt>
    <dgm:pt modelId="{786773C2-597D-4532-BA64-BC81A70168D4}" type="sibTrans" cxnId="{FDDB672E-3064-4616-A28B-DED121A5A471}">
      <dgm:prSet/>
      <dgm:spPr/>
      <dgm:t>
        <a:bodyPr/>
        <a:lstStyle/>
        <a:p>
          <a:endParaRPr lang="en-US"/>
        </a:p>
      </dgm:t>
    </dgm:pt>
    <dgm:pt modelId="{1F018985-41B6-4B61-843C-D3444AC68B6B}">
      <dgm:prSet/>
      <dgm:spPr/>
      <dgm:t>
        <a:bodyPr/>
        <a:lstStyle/>
        <a:p>
          <a:r>
            <a:rPr lang="en-US" dirty="0"/>
            <a:t>How can I obtain germplasm records from GBIF? (USE FAO WIEWS + INDEX HERBARIORUM)</a:t>
          </a:r>
        </a:p>
      </dgm:t>
    </dgm:pt>
    <dgm:pt modelId="{B9BFA265-E088-4836-B771-F40F9BADE1E5}" type="parTrans" cxnId="{74D713B3-5457-4158-B8FF-4154241339ED}">
      <dgm:prSet/>
      <dgm:spPr/>
      <dgm:t>
        <a:bodyPr/>
        <a:lstStyle/>
        <a:p>
          <a:endParaRPr lang="en-US"/>
        </a:p>
      </dgm:t>
    </dgm:pt>
    <dgm:pt modelId="{ADC1B46D-D555-491F-859C-4FDE4321F2FE}" type="sibTrans" cxnId="{74D713B3-5457-4158-B8FF-4154241339ED}">
      <dgm:prSet/>
      <dgm:spPr/>
      <dgm:t>
        <a:bodyPr/>
        <a:lstStyle/>
        <a:p>
          <a:endParaRPr lang="en-US"/>
        </a:p>
      </dgm:t>
    </dgm:pt>
    <dgm:pt modelId="{39E8F89F-54AA-43BC-9EA6-01AB000A2F6D}">
      <dgm:prSet phldrT="[Text]"/>
      <dgm:spPr/>
      <dgm:t>
        <a:bodyPr/>
        <a:lstStyle/>
        <a:p>
          <a:r>
            <a:rPr lang="en-US" dirty="0"/>
            <a:t>What is the geographical region to model? (DEFINE AREA TO DOWNLOAD RECORDS AND ENVIRONMENTAL LAYERS!)</a:t>
          </a:r>
        </a:p>
      </dgm:t>
    </dgm:pt>
    <dgm:pt modelId="{D3FF803F-9CEA-4EED-A8FC-9FF6646A4AD7}" type="parTrans" cxnId="{331E3016-2041-41A8-B2DE-2A6FC7E4F23B}">
      <dgm:prSet/>
      <dgm:spPr/>
    </dgm:pt>
    <dgm:pt modelId="{573481AD-C12B-4334-9847-45309702CE79}" type="sibTrans" cxnId="{331E3016-2041-41A8-B2DE-2A6FC7E4F23B}">
      <dgm:prSet/>
      <dgm:spPr/>
    </dgm:pt>
    <dgm:pt modelId="{377FEE87-865F-4991-ACEF-F37A0250A570}" type="pres">
      <dgm:prSet presAssocID="{2BDA27A1-CC29-461A-976F-88956730257C}" presName="linearFlow" presStyleCnt="0">
        <dgm:presLayoutVars>
          <dgm:dir/>
          <dgm:animLvl val="lvl"/>
          <dgm:resizeHandles val="exact"/>
        </dgm:presLayoutVars>
      </dgm:prSet>
      <dgm:spPr/>
    </dgm:pt>
    <dgm:pt modelId="{83A56D5E-15DE-46AD-9076-D59B297B7FBD}" type="pres">
      <dgm:prSet presAssocID="{52DC8046-ADED-4847-B5AE-8F99B4F87D4F}" presName="composite" presStyleCnt="0"/>
      <dgm:spPr/>
    </dgm:pt>
    <dgm:pt modelId="{4CA7962D-2337-486B-9555-C33FB4AE8A5D}" type="pres">
      <dgm:prSet presAssocID="{52DC8046-ADED-4847-B5AE-8F99B4F87D4F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FDB819A8-F3D6-4453-AA45-493D9E87131E}" type="pres">
      <dgm:prSet presAssocID="{52DC8046-ADED-4847-B5AE-8F99B4F87D4F}" presName="descendantText" presStyleLbl="alignAcc1" presStyleIdx="0" presStyleCnt="4">
        <dgm:presLayoutVars>
          <dgm:bulletEnabled val="1"/>
        </dgm:presLayoutVars>
      </dgm:prSet>
      <dgm:spPr/>
    </dgm:pt>
    <dgm:pt modelId="{ECF7261A-631E-487B-B2F3-1EE3A5A94F5A}" type="pres">
      <dgm:prSet presAssocID="{213A650E-8AC4-4673-8F6D-1FF71D048254}" presName="sp" presStyleCnt="0"/>
      <dgm:spPr/>
    </dgm:pt>
    <dgm:pt modelId="{743EC37C-8C75-4EA3-921A-865C5CCE4855}" type="pres">
      <dgm:prSet presAssocID="{1E672B7E-174F-49AA-9040-8530F59BE81B}" presName="composite" presStyleCnt="0"/>
      <dgm:spPr/>
    </dgm:pt>
    <dgm:pt modelId="{93354F3E-F566-47C0-BDF2-88A6D7636823}" type="pres">
      <dgm:prSet presAssocID="{1E672B7E-174F-49AA-9040-8530F59BE81B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F89638EB-60F7-4158-BDF0-5451AD4CAF12}" type="pres">
      <dgm:prSet presAssocID="{1E672B7E-174F-49AA-9040-8530F59BE81B}" presName="descendantText" presStyleLbl="alignAcc1" presStyleIdx="1" presStyleCnt="4">
        <dgm:presLayoutVars>
          <dgm:bulletEnabled val="1"/>
        </dgm:presLayoutVars>
      </dgm:prSet>
      <dgm:spPr/>
    </dgm:pt>
    <dgm:pt modelId="{3DEAB2BD-2B6F-4F8E-88AB-B82CEEC9A37C}" type="pres">
      <dgm:prSet presAssocID="{09F96D24-3360-44CB-BF1A-38FFA1862247}" presName="sp" presStyleCnt="0"/>
      <dgm:spPr/>
    </dgm:pt>
    <dgm:pt modelId="{27D56814-40BA-4C2A-B030-A88E760EE2EF}" type="pres">
      <dgm:prSet presAssocID="{E576E830-8841-4847-AEAC-C77E5AB2F3FF}" presName="composite" presStyleCnt="0"/>
      <dgm:spPr/>
    </dgm:pt>
    <dgm:pt modelId="{A2B609E9-EA1F-441C-AAD3-DAB8F358D9C9}" type="pres">
      <dgm:prSet presAssocID="{E576E830-8841-4847-AEAC-C77E5AB2F3FF}" presName="parentText" presStyleLbl="alignNode1" presStyleIdx="2" presStyleCnt="4" custLinFactNeighborX="-8620">
        <dgm:presLayoutVars>
          <dgm:chMax val="1"/>
          <dgm:bulletEnabled val="1"/>
        </dgm:presLayoutVars>
      </dgm:prSet>
      <dgm:spPr/>
    </dgm:pt>
    <dgm:pt modelId="{DE26776B-6026-4FD4-B573-D0D055ED523B}" type="pres">
      <dgm:prSet presAssocID="{E576E830-8841-4847-AEAC-C77E5AB2F3FF}" presName="descendantText" presStyleLbl="alignAcc1" presStyleIdx="2" presStyleCnt="4">
        <dgm:presLayoutVars>
          <dgm:bulletEnabled val="1"/>
        </dgm:presLayoutVars>
      </dgm:prSet>
      <dgm:spPr/>
    </dgm:pt>
    <dgm:pt modelId="{EBCA4648-0108-460E-A292-9CEA3F73141B}" type="pres">
      <dgm:prSet presAssocID="{A727E573-854E-4B00-9C99-CC9FDDF33504}" presName="sp" presStyleCnt="0"/>
      <dgm:spPr/>
    </dgm:pt>
    <dgm:pt modelId="{564E9605-5717-4460-9BBE-5EB449A1E823}" type="pres">
      <dgm:prSet presAssocID="{36A63699-FC5E-4717-9B9C-3BC000B1BA5D}" presName="composite" presStyleCnt="0"/>
      <dgm:spPr/>
    </dgm:pt>
    <dgm:pt modelId="{8FAE1217-90A8-42F0-AC0D-ADC0FAC08551}" type="pres">
      <dgm:prSet presAssocID="{36A63699-FC5E-4717-9B9C-3BC000B1BA5D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DAF89253-EB31-4161-BA69-15A6DAE1928F}" type="pres">
      <dgm:prSet presAssocID="{36A63699-FC5E-4717-9B9C-3BC000B1BA5D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F935200A-30E2-475D-ADFA-812AB351BCDF}" type="presOf" srcId="{1F018985-41B6-4B61-843C-D3444AC68B6B}" destId="{DE26776B-6026-4FD4-B573-D0D055ED523B}" srcOrd="0" destOrd="2" presId="urn:microsoft.com/office/officeart/2005/8/layout/chevron2"/>
    <dgm:cxn modelId="{95B72512-9805-44B2-9103-9DBC8D47FD8B}" srcId="{E576E830-8841-4847-AEAC-C77E5AB2F3FF}" destId="{ABBBF8C4-F4EC-465B-B92D-E0F6B1C56BCB}" srcOrd="0" destOrd="0" parTransId="{52C241C8-C9BD-457E-9565-C7D27D4D8565}" sibTransId="{B8F18CB0-5CDE-4A24-BF94-EB09B21D2F20}"/>
    <dgm:cxn modelId="{F6130E13-6208-4AAE-9AB0-B9378B6347A2}" type="presOf" srcId="{A6914E0D-579A-47D2-B3A2-CA8A2E57D924}" destId="{DAF89253-EB31-4161-BA69-15A6DAE1928F}" srcOrd="0" destOrd="1" presId="urn:microsoft.com/office/officeart/2005/8/layout/chevron2"/>
    <dgm:cxn modelId="{331E3016-2041-41A8-B2DE-2A6FC7E4F23B}" srcId="{52DC8046-ADED-4847-B5AE-8F99B4F87D4F}" destId="{39E8F89F-54AA-43BC-9EA6-01AB000A2F6D}" srcOrd="1" destOrd="0" parTransId="{D3FF803F-9CEA-4EED-A8FC-9FF6646A4AD7}" sibTransId="{573481AD-C12B-4334-9847-45309702CE79}"/>
    <dgm:cxn modelId="{72C8F024-50FC-42E1-BD4D-06C9F84E74E4}" srcId="{2BDA27A1-CC29-461A-976F-88956730257C}" destId="{E576E830-8841-4847-AEAC-C77E5AB2F3FF}" srcOrd="2" destOrd="0" parTransId="{74115568-B9D3-4B37-8CEB-FD340B996F71}" sibTransId="{A727E573-854E-4B00-9C99-CC9FDDF33504}"/>
    <dgm:cxn modelId="{FDDB672E-3064-4616-A28B-DED121A5A471}" srcId="{E576E830-8841-4847-AEAC-C77E5AB2F3FF}" destId="{8145BCEC-B661-41C2-B749-6AFEF587BB86}" srcOrd="4" destOrd="0" parTransId="{58FA839C-1E65-44C1-82B9-9F784E17E078}" sibTransId="{786773C2-597D-4532-BA64-BC81A70168D4}"/>
    <dgm:cxn modelId="{54407A31-967F-47F2-953D-781832730A93}" type="presOf" srcId="{ABBBF8C4-F4EC-465B-B92D-E0F6B1C56BCB}" destId="{DE26776B-6026-4FD4-B573-D0D055ED523B}" srcOrd="0" destOrd="0" presId="urn:microsoft.com/office/officeart/2005/8/layout/chevron2"/>
    <dgm:cxn modelId="{92004F39-AD0E-43D7-85AE-16E3A4D2206A}" type="presOf" srcId="{E576E830-8841-4847-AEAC-C77E5AB2F3FF}" destId="{A2B609E9-EA1F-441C-AAD3-DAB8F358D9C9}" srcOrd="0" destOrd="0" presId="urn:microsoft.com/office/officeart/2005/8/layout/chevron2"/>
    <dgm:cxn modelId="{16EF9939-0689-4F23-94C8-2A924AF167DE}" type="presOf" srcId="{2BDA27A1-CC29-461A-976F-88956730257C}" destId="{377FEE87-865F-4991-ACEF-F37A0250A570}" srcOrd="0" destOrd="0" presId="urn:microsoft.com/office/officeart/2005/8/layout/chevron2"/>
    <dgm:cxn modelId="{F2586A3A-C8FC-4040-9E06-0E03EAC760F3}" type="presOf" srcId="{AC8D4CCD-9EA3-420D-9B3F-FAEF355B658A}" destId="{F89638EB-60F7-4158-BDF0-5451AD4CAF12}" srcOrd="0" destOrd="0" presId="urn:microsoft.com/office/officeart/2005/8/layout/chevron2"/>
    <dgm:cxn modelId="{B419503A-B17B-4BA2-900D-09273C12E837}" type="presOf" srcId="{39E8F89F-54AA-43BC-9EA6-01AB000A2F6D}" destId="{FDB819A8-F3D6-4453-AA45-493D9E87131E}" srcOrd="0" destOrd="1" presId="urn:microsoft.com/office/officeart/2005/8/layout/chevron2"/>
    <dgm:cxn modelId="{3AD4D65F-5B84-420B-B993-D3A4F6C2C1C1}" srcId="{36A63699-FC5E-4717-9B9C-3BC000B1BA5D}" destId="{2CD1F0AC-6ACE-4E6A-88BD-D89D7EC90932}" srcOrd="0" destOrd="0" parTransId="{3EE9E91D-99DB-4DBB-9E46-3141289E5B6E}" sibTransId="{F91B6EEE-A520-4BE9-8237-ED1BA1D86F05}"/>
    <dgm:cxn modelId="{386F4C64-6DFE-4AF9-A474-29694B80B5AC}" type="presOf" srcId="{52DC8046-ADED-4847-B5AE-8F99B4F87D4F}" destId="{4CA7962D-2337-486B-9555-C33FB4AE8A5D}" srcOrd="0" destOrd="0" presId="urn:microsoft.com/office/officeart/2005/8/layout/chevron2"/>
    <dgm:cxn modelId="{4607D567-F954-4EA1-AB7E-292F59CA1FF9}" srcId="{1E672B7E-174F-49AA-9040-8530F59BE81B}" destId="{5031E39F-14BB-4F10-917B-D6F32F438F1D}" srcOrd="1" destOrd="0" parTransId="{F593284F-0BF1-48FF-96A9-D83160600ABB}" sibTransId="{0F543DA5-BC21-41DB-A86A-C7F5339A37B9}"/>
    <dgm:cxn modelId="{B5041F49-75A1-4E6D-BBA2-E29B834DA384}" srcId="{2BDA27A1-CC29-461A-976F-88956730257C}" destId="{52DC8046-ADED-4847-B5AE-8F99B4F87D4F}" srcOrd="0" destOrd="0" parTransId="{27BC0590-3F7E-4739-BEA5-8CB2121A4DCF}" sibTransId="{213A650E-8AC4-4673-8F6D-1FF71D048254}"/>
    <dgm:cxn modelId="{8225E754-0074-478D-89D4-D2AD7CE01929}" type="presOf" srcId="{36A63699-FC5E-4717-9B9C-3BC000B1BA5D}" destId="{8FAE1217-90A8-42F0-AC0D-ADC0FAC08551}" srcOrd="0" destOrd="0" presId="urn:microsoft.com/office/officeart/2005/8/layout/chevron2"/>
    <dgm:cxn modelId="{16B95D58-6B75-4E41-9F87-FF6B92DC3A4C}" type="presOf" srcId="{8145BCEC-B661-41C2-B749-6AFEF587BB86}" destId="{DE26776B-6026-4FD4-B573-D0D055ED523B}" srcOrd="0" destOrd="4" presId="urn:microsoft.com/office/officeart/2005/8/layout/chevron2"/>
    <dgm:cxn modelId="{950C5059-29E5-4573-850F-BFAE0003FCB3}" srcId="{2BDA27A1-CC29-461A-976F-88956730257C}" destId="{36A63699-FC5E-4717-9B9C-3BC000B1BA5D}" srcOrd="3" destOrd="0" parTransId="{94760EFE-B747-469B-87F7-DC09A624B703}" sibTransId="{3F72D1C7-741F-440C-ABF0-F3F4A0F7BA97}"/>
    <dgm:cxn modelId="{667CF184-144C-46DB-8C2F-CF12C9B44372}" type="presOf" srcId="{C3491333-85D9-4C28-820D-3ADA522F4057}" destId="{DE26776B-6026-4FD4-B573-D0D055ED523B}" srcOrd="0" destOrd="1" presId="urn:microsoft.com/office/officeart/2005/8/layout/chevron2"/>
    <dgm:cxn modelId="{4C4CE485-9AC2-4F4A-8291-5513527CD662}" srcId="{36A63699-FC5E-4717-9B9C-3BC000B1BA5D}" destId="{02C48AD0-E572-4D37-97E1-BA14DF01FCD2}" srcOrd="2" destOrd="0" parTransId="{9A7C40E9-D49E-4F9C-B8FF-18E016387573}" sibTransId="{FBA15BB6-93EA-4BE2-845C-3D8261A5680D}"/>
    <dgm:cxn modelId="{5F7BC586-13C5-49DB-86E2-42213DAC955B}" type="presOf" srcId="{1CDB434E-C636-421F-8737-FA4531ED7BB3}" destId="{FDB819A8-F3D6-4453-AA45-493D9E87131E}" srcOrd="0" destOrd="0" presId="urn:microsoft.com/office/officeart/2005/8/layout/chevron2"/>
    <dgm:cxn modelId="{93E6AE88-FDA9-487F-AC62-2C666C33DE1C}" srcId="{36A63699-FC5E-4717-9B9C-3BC000B1BA5D}" destId="{A6914E0D-579A-47D2-B3A2-CA8A2E57D924}" srcOrd="1" destOrd="0" parTransId="{01ED163B-609C-44D3-9950-E1B107A7B7F9}" sibTransId="{24A54E70-1260-42BB-BC11-C26C64D6C156}"/>
    <dgm:cxn modelId="{437F48A3-8CA2-40A1-A0F2-FA37AEEB58ED}" type="presOf" srcId="{E243EE6D-E14E-42C2-A76D-F8106A4B8B1B}" destId="{DE26776B-6026-4FD4-B573-D0D055ED523B}" srcOrd="0" destOrd="3" presId="urn:microsoft.com/office/officeart/2005/8/layout/chevron2"/>
    <dgm:cxn modelId="{465710AC-5168-455A-A771-673ED44CCAE1}" srcId="{52DC8046-ADED-4847-B5AE-8F99B4F87D4F}" destId="{1CDB434E-C636-421F-8737-FA4531ED7BB3}" srcOrd="0" destOrd="0" parTransId="{374CECC6-8986-4841-84D6-B554B0E91389}" sibTransId="{F2155A15-C9E1-4757-BE06-F13708DC2CBB}"/>
    <dgm:cxn modelId="{AF0069B1-C4BC-4395-B3B6-3833E503BAB6}" type="presOf" srcId="{2CD1F0AC-6ACE-4E6A-88BD-D89D7EC90932}" destId="{DAF89253-EB31-4161-BA69-15A6DAE1928F}" srcOrd="0" destOrd="0" presId="urn:microsoft.com/office/officeart/2005/8/layout/chevron2"/>
    <dgm:cxn modelId="{74D713B3-5457-4158-B8FF-4154241339ED}" srcId="{E576E830-8841-4847-AEAC-C77E5AB2F3FF}" destId="{1F018985-41B6-4B61-843C-D3444AC68B6B}" srcOrd="2" destOrd="0" parTransId="{B9BFA265-E088-4836-B771-F40F9BADE1E5}" sibTransId="{ADC1B46D-D555-491F-859C-4FDE4321F2FE}"/>
    <dgm:cxn modelId="{A237DDC8-B884-41B2-BD27-C26C6C6A2031}" srcId="{1E672B7E-174F-49AA-9040-8530F59BE81B}" destId="{AC8D4CCD-9EA3-420D-9B3F-FAEF355B658A}" srcOrd="0" destOrd="0" parTransId="{50F66EF7-C8F2-4121-8949-BB47BB813046}" sibTransId="{B4785723-7869-4C8C-9EA6-8C187876B542}"/>
    <dgm:cxn modelId="{E4C45CC9-9786-4609-9990-EA100EAC6981}" srcId="{2BDA27A1-CC29-461A-976F-88956730257C}" destId="{1E672B7E-174F-49AA-9040-8530F59BE81B}" srcOrd="1" destOrd="0" parTransId="{93AF693B-991A-4512-A028-9467C7D80EDC}" sibTransId="{09F96D24-3360-44CB-BF1A-38FFA1862247}"/>
    <dgm:cxn modelId="{798593DB-3E8E-4E99-9F4D-8AFA2A2BC4DB}" srcId="{E576E830-8841-4847-AEAC-C77E5AB2F3FF}" destId="{E243EE6D-E14E-42C2-A76D-F8106A4B8B1B}" srcOrd="3" destOrd="0" parTransId="{62D643CF-F3E3-42B7-9CAF-60DB085188A4}" sibTransId="{449AE11A-6FD0-447D-8DA0-0BC87472D535}"/>
    <dgm:cxn modelId="{721259E5-730E-4B4D-A606-6C48824ED2A5}" type="presOf" srcId="{1E672B7E-174F-49AA-9040-8530F59BE81B}" destId="{93354F3E-F566-47C0-BDF2-88A6D7636823}" srcOrd="0" destOrd="0" presId="urn:microsoft.com/office/officeart/2005/8/layout/chevron2"/>
    <dgm:cxn modelId="{A247A6F2-9C1C-491E-B23A-53F6B8847CD6}" srcId="{E576E830-8841-4847-AEAC-C77E5AB2F3FF}" destId="{C3491333-85D9-4C28-820D-3ADA522F4057}" srcOrd="1" destOrd="0" parTransId="{DF3B4D76-3AF0-4AC6-8A23-C9AE13FF1E93}" sibTransId="{CE2D13F6-AE6F-4343-9BF1-B23EF6659544}"/>
    <dgm:cxn modelId="{632C9AF3-483E-4F71-B1AC-89CCA5084207}" type="presOf" srcId="{5031E39F-14BB-4F10-917B-D6F32F438F1D}" destId="{F89638EB-60F7-4158-BDF0-5451AD4CAF12}" srcOrd="0" destOrd="1" presId="urn:microsoft.com/office/officeart/2005/8/layout/chevron2"/>
    <dgm:cxn modelId="{70734DFB-B697-4AAA-B540-447BC218C4D1}" type="presOf" srcId="{02C48AD0-E572-4D37-97E1-BA14DF01FCD2}" destId="{DAF89253-EB31-4161-BA69-15A6DAE1928F}" srcOrd="0" destOrd="2" presId="urn:microsoft.com/office/officeart/2005/8/layout/chevron2"/>
    <dgm:cxn modelId="{09176282-04B8-4363-9B18-5612F9D3F6B2}" type="presParOf" srcId="{377FEE87-865F-4991-ACEF-F37A0250A570}" destId="{83A56D5E-15DE-46AD-9076-D59B297B7FBD}" srcOrd="0" destOrd="0" presId="urn:microsoft.com/office/officeart/2005/8/layout/chevron2"/>
    <dgm:cxn modelId="{3450C87A-2070-48A1-BFDB-6178A2969A1A}" type="presParOf" srcId="{83A56D5E-15DE-46AD-9076-D59B297B7FBD}" destId="{4CA7962D-2337-486B-9555-C33FB4AE8A5D}" srcOrd="0" destOrd="0" presId="urn:microsoft.com/office/officeart/2005/8/layout/chevron2"/>
    <dgm:cxn modelId="{98D8A163-E08B-4C11-92D2-22B738D9A06E}" type="presParOf" srcId="{83A56D5E-15DE-46AD-9076-D59B297B7FBD}" destId="{FDB819A8-F3D6-4453-AA45-493D9E87131E}" srcOrd="1" destOrd="0" presId="urn:microsoft.com/office/officeart/2005/8/layout/chevron2"/>
    <dgm:cxn modelId="{866DDBD9-2128-48D2-8C9C-04580555286C}" type="presParOf" srcId="{377FEE87-865F-4991-ACEF-F37A0250A570}" destId="{ECF7261A-631E-487B-B2F3-1EE3A5A94F5A}" srcOrd="1" destOrd="0" presId="urn:microsoft.com/office/officeart/2005/8/layout/chevron2"/>
    <dgm:cxn modelId="{24CE559F-84AB-4D05-9EC8-5DCC27FBDE6B}" type="presParOf" srcId="{377FEE87-865F-4991-ACEF-F37A0250A570}" destId="{743EC37C-8C75-4EA3-921A-865C5CCE4855}" srcOrd="2" destOrd="0" presId="urn:microsoft.com/office/officeart/2005/8/layout/chevron2"/>
    <dgm:cxn modelId="{679B5562-6919-45BC-AC1D-DD839F5454A5}" type="presParOf" srcId="{743EC37C-8C75-4EA3-921A-865C5CCE4855}" destId="{93354F3E-F566-47C0-BDF2-88A6D7636823}" srcOrd="0" destOrd="0" presId="urn:microsoft.com/office/officeart/2005/8/layout/chevron2"/>
    <dgm:cxn modelId="{25E35260-D95D-4FAD-8F8F-EA165ECDF17B}" type="presParOf" srcId="{743EC37C-8C75-4EA3-921A-865C5CCE4855}" destId="{F89638EB-60F7-4158-BDF0-5451AD4CAF12}" srcOrd="1" destOrd="0" presId="urn:microsoft.com/office/officeart/2005/8/layout/chevron2"/>
    <dgm:cxn modelId="{B6DB954B-902E-4A32-BBF7-36F4501EA59A}" type="presParOf" srcId="{377FEE87-865F-4991-ACEF-F37A0250A570}" destId="{3DEAB2BD-2B6F-4F8E-88AB-B82CEEC9A37C}" srcOrd="3" destOrd="0" presId="urn:microsoft.com/office/officeart/2005/8/layout/chevron2"/>
    <dgm:cxn modelId="{3826CEA9-10F9-462C-96FB-D64B15D37E81}" type="presParOf" srcId="{377FEE87-865F-4991-ACEF-F37A0250A570}" destId="{27D56814-40BA-4C2A-B030-A88E760EE2EF}" srcOrd="4" destOrd="0" presId="urn:microsoft.com/office/officeart/2005/8/layout/chevron2"/>
    <dgm:cxn modelId="{6506F661-652C-4A8E-A1FC-D9A149F4CBE4}" type="presParOf" srcId="{27D56814-40BA-4C2A-B030-A88E760EE2EF}" destId="{A2B609E9-EA1F-441C-AAD3-DAB8F358D9C9}" srcOrd="0" destOrd="0" presId="urn:microsoft.com/office/officeart/2005/8/layout/chevron2"/>
    <dgm:cxn modelId="{8CA09908-1430-4368-85B1-67841B3AD3E6}" type="presParOf" srcId="{27D56814-40BA-4C2A-B030-A88E760EE2EF}" destId="{DE26776B-6026-4FD4-B573-D0D055ED523B}" srcOrd="1" destOrd="0" presId="urn:microsoft.com/office/officeart/2005/8/layout/chevron2"/>
    <dgm:cxn modelId="{420B11D7-178E-434E-952D-E1BE274494AB}" type="presParOf" srcId="{377FEE87-865F-4991-ACEF-F37A0250A570}" destId="{EBCA4648-0108-460E-A292-9CEA3F73141B}" srcOrd="5" destOrd="0" presId="urn:microsoft.com/office/officeart/2005/8/layout/chevron2"/>
    <dgm:cxn modelId="{929EB154-3578-4068-A9CA-26DBF5D66610}" type="presParOf" srcId="{377FEE87-865F-4991-ACEF-F37A0250A570}" destId="{564E9605-5717-4460-9BBE-5EB449A1E823}" srcOrd="6" destOrd="0" presId="urn:microsoft.com/office/officeart/2005/8/layout/chevron2"/>
    <dgm:cxn modelId="{40FD50E6-B836-4E10-A69D-1CDC9B57B4AE}" type="presParOf" srcId="{564E9605-5717-4460-9BBE-5EB449A1E823}" destId="{8FAE1217-90A8-42F0-AC0D-ADC0FAC08551}" srcOrd="0" destOrd="0" presId="urn:microsoft.com/office/officeart/2005/8/layout/chevron2"/>
    <dgm:cxn modelId="{54DD3AFC-E6E1-465A-8987-F782EC46901F}" type="presParOf" srcId="{564E9605-5717-4460-9BBE-5EB449A1E823}" destId="{DAF89253-EB31-4161-BA69-15A6DAE1928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A7962D-2337-486B-9555-C33FB4AE8A5D}">
      <dsp:nvSpPr>
        <dsp:cNvPr id="0" name=""/>
        <dsp:cNvSpPr/>
      </dsp:nvSpPr>
      <dsp:spPr>
        <a:xfrm rot="5400000">
          <a:off x="-179747" y="180063"/>
          <a:ext cx="1198317" cy="838822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Establish type of analysis to do</a:t>
          </a:r>
        </a:p>
      </dsp:txBody>
      <dsp:txXfrm rot="-5400000">
        <a:off x="1" y="419726"/>
        <a:ext cx="838822" cy="359495"/>
      </dsp:txXfrm>
    </dsp:sp>
    <dsp:sp modelId="{FDB819A8-F3D6-4453-AA45-493D9E87131E}">
      <dsp:nvSpPr>
        <dsp:cNvPr id="0" name=""/>
        <dsp:cNvSpPr/>
      </dsp:nvSpPr>
      <dsp:spPr>
        <a:xfrm rot="5400000">
          <a:off x="5287757" y="-4448620"/>
          <a:ext cx="778906" cy="9676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Is the taxon a crop wild relatives or a landrace?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What is the geographical region to model?</a:t>
          </a:r>
        </a:p>
      </dsp:txBody>
      <dsp:txXfrm rot="-5400000">
        <a:off x="838822" y="38338"/>
        <a:ext cx="9638754" cy="702860"/>
      </dsp:txXfrm>
    </dsp:sp>
    <dsp:sp modelId="{93354F3E-F566-47C0-BDF2-88A6D7636823}">
      <dsp:nvSpPr>
        <dsp:cNvPr id="0" name=""/>
        <dsp:cNvSpPr/>
      </dsp:nvSpPr>
      <dsp:spPr>
        <a:xfrm rot="5400000">
          <a:off x="-179747" y="1230859"/>
          <a:ext cx="1198317" cy="838822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Search the data</a:t>
          </a:r>
        </a:p>
      </dsp:txBody>
      <dsp:txXfrm rot="-5400000">
        <a:off x="1" y="1470522"/>
        <a:ext cx="838822" cy="359495"/>
      </dsp:txXfrm>
    </dsp:sp>
    <dsp:sp modelId="{F89638EB-60F7-4158-BDF0-5451AD4CAF12}">
      <dsp:nvSpPr>
        <dsp:cNvPr id="0" name=""/>
        <dsp:cNvSpPr/>
      </dsp:nvSpPr>
      <dsp:spPr>
        <a:xfrm rot="5400000">
          <a:off x="5287757" y="-3397823"/>
          <a:ext cx="778906" cy="9676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What data do I need to run the analysis?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What databases should I use and how to download the data?</a:t>
          </a:r>
        </a:p>
      </dsp:txBody>
      <dsp:txXfrm rot="-5400000">
        <a:off x="838822" y="1089135"/>
        <a:ext cx="9638754" cy="702860"/>
      </dsp:txXfrm>
    </dsp:sp>
    <dsp:sp modelId="{A2B609E9-EA1F-441C-AAD3-DAB8F358D9C9}">
      <dsp:nvSpPr>
        <dsp:cNvPr id="0" name=""/>
        <dsp:cNvSpPr/>
      </dsp:nvSpPr>
      <dsp:spPr>
        <a:xfrm rot="5400000">
          <a:off x="-179747" y="2281656"/>
          <a:ext cx="1198317" cy="838822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Preprocessing (Observe data)</a:t>
          </a:r>
        </a:p>
      </dsp:txBody>
      <dsp:txXfrm rot="-5400000">
        <a:off x="1" y="2521319"/>
        <a:ext cx="838822" cy="359495"/>
      </dsp:txXfrm>
    </dsp:sp>
    <dsp:sp modelId="{DE26776B-6026-4FD4-B573-D0D055ED523B}">
      <dsp:nvSpPr>
        <dsp:cNvPr id="0" name=""/>
        <dsp:cNvSpPr/>
      </dsp:nvSpPr>
      <dsp:spPr>
        <a:xfrm rot="5400000">
          <a:off x="5287757" y="-2347027"/>
          <a:ext cx="778906" cy="9676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Are there records with dirty coords?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How can I obtain germplasm records from GBIF?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How can I obtain clean coords?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Do I have enough records for the analysis?</a:t>
          </a:r>
        </a:p>
      </dsp:txBody>
      <dsp:txXfrm rot="-5400000">
        <a:off x="838822" y="2139931"/>
        <a:ext cx="9638754" cy="702860"/>
      </dsp:txXfrm>
    </dsp:sp>
    <dsp:sp modelId="{8FAE1217-90A8-42F0-AC0D-ADC0FAC08551}">
      <dsp:nvSpPr>
        <dsp:cNvPr id="0" name=""/>
        <dsp:cNvSpPr/>
      </dsp:nvSpPr>
      <dsp:spPr>
        <a:xfrm rot="5400000">
          <a:off x="-179747" y="3332452"/>
          <a:ext cx="1198317" cy="838822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Preprocessing (clean data) </a:t>
          </a:r>
        </a:p>
      </dsp:txBody>
      <dsp:txXfrm rot="-5400000">
        <a:off x="1" y="3572115"/>
        <a:ext cx="838822" cy="359495"/>
      </dsp:txXfrm>
    </dsp:sp>
    <dsp:sp modelId="{DAF89253-EB31-4161-BA69-15A6DAE1928F}">
      <dsp:nvSpPr>
        <dsp:cNvPr id="0" name=""/>
        <dsp:cNvSpPr/>
      </dsp:nvSpPr>
      <dsp:spPr>
        <a:xfrm rot="5400000">
          <a:off x="5287757" y="-1296230"/>
          <a:ext cx="778906" cy="9676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Is the data accurate for the analysis?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What format or requirements are need to performance the analysis?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What kind of clean procedure should I do</a:t>
          </a:r>
        </a:p>
      </dsp:txBody>
      <dsp:txXfrm rot="-5400000">
        <a:off x="838822" y="3190728"/>
        <a:ext cx="9638754" cy="7028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A7962D-2337-486B-9555-C33FB4AE8A5D}">
      <dsp:nvSpPr>
        <dsp:cNvPr id="0" name=""/>
        <dsp:cNvSpPr/>
      </dsp:nvSpPr>
      <dsp:spPr>
        <a:xfrm rot="5400000">
          <a:off x="-179747" y="180063"/>
          <a:ext cx="1198317" cy="838822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Establish type of analysis to do</a:t>
          </a:r>
        </a:p>
      </dsp:txBody>
      <dsp:txXfrm rot="-5400000">
        <a:off x="1" y="419726"/>
        <a:ext cx="838822" cy="359495"/>
      </dsp:txXfrm>
    </dsp:sp>
    <dsp:sp modelId="{FDB819A8-F3D6-4453-AA45-493D9E87131E}">
      <dsp:nvSpPr>
        <dsp:cNvPr id="0" name=""/>
        <dsp:cNvSpPr/>
      </dsp:nvSpPr>
      <dsp:spPr>
        <a:xfrm rot="5400000">
          <a:off x="5287757" y="-4448620"/>
          <a:ext cx="778906" cy="9676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080" rIns="5080" bIns="508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Is the taxon a crop wild relatives or a landrace? (DEFINE LANDRACE OR CWR GAP ANALYSIS)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What is the geographical region to model? (DEFINE AREA TO DOWNLOAD RECORDS AND ENVIRONMENTAL LAYERS!)</a:t>
          </a:r>
        </a:p>
      </dsp:txBody>
      <dsp:txXfrm rot="-5400000">
        <a:off x="838822" y="38338"/>
        <a:ext cx="9638754" cy="702860"/>
      </dsp:txXfrm>
    </dsp:sp>
    <dsp:sp modelId="{93354F3E-F566-47C0-BDF2-88A6D7636823}">
      <dsp:nvSpPr>
        <dsp:cNvPr id="0" name=""/>
        <dsp:cNvSpPr/>
      </dsp:nvSpPr>
      <dsp:spPr>
        <a:xfrm rot="5400000">
          <a:off x="-179747" y="1230859"/>
          <a:ext cx="1198317" cy="838822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Search the data</a:t>
          </a:r>
        </a:p>
      </dsp:txBody>
      <dsp:txXfrm rot="-5400000">
        <a:off x="1" y="1470522"/>
        <a:ext cx="838822" cy="359495"/>
      </dsp:txXfrm>
    </dsp:sp>
    <dsp:sp modelId="{F89638EB-60F7-4158-BDF0-5451AD4CAF12}">
      <dsp:nvSpPr>
        <dsp:cNvPr id="0" name=""/>
        <dsp:cNvSpPr/>
      </dsp:nvSpPr>
      <dsp:spPr>
        <a:xfrm rot="5400000">
          <a:off x="5287757" y="-3397823"/>
          <a:ext cx="778906" cy="9676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080" rIns="5080" bIns="508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What data do I need to run the analysis? (GERMPLASM AND HERBARIUM DATA)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What databases should I use and how to download the data? (DEFINE DATABASES TO USE: WIEWS, GENESYS, GBIF, USDA)</a:t>
          </a:r>
        </a:p>
      </dsp:txBody>
      <dsp:txXfrm rot="-5400000">
        <a:off x="838822" y="1089135"/>
        <a:ext cx="9638754" cy="702860"/>
      </dsp:txXfrm>
    </dsp:sp>
    <dsp:sp modelId="{A2B609E9-EA1F-441C-AAD3-DAB8F358D9C9}">
      <dsp:nvSpPr>
        <dsp:cNvPr id="0" name=""/>
        <dsp:cNvSpPr/>
      </dsp:nvSpPr>
      <dsp:spPr>
        <a:xfrm rot="5400000">
          <a:off x="-179747" y="2281656"/>
          <a:ext cx="1198317" cy="838822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Preprocessing (Observe data)</a:t>
          </a:r>
        </a:p>
      </dsp:txBody>
      <dsp:txXfrm rot="-5400000">
        <a:off x="1" y="2521319"/>
        <a:ext cx="838822" cy="359495"/>
      </dsp:txXfrm>
    </dsp:sp>
    <dsp:sp modelId="{DE26776B-6026-4FD4-B573-D0D055ED523B}">
      <dsp:nvSpPr>
        <dsp:cNvPr id="0" name=""/>
        <dsp:cNvSpPr/>
      </dsp:nvSpPr>
      <dsp:spPr>
        <a:xfrm rot="5400000">
          <a:off x="5287757" y="-2347027"/>
          <a:ext cx="778906" cy="9676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080" rIns="5080" bIns="508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Are there records with dirty coords? (VISUALIZE)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How can I obtain germplasm records from GBIF? (USE FAO WIEWS + INDEX HERBARIORUM)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How can I obtain clean coords? (APPLY GQS)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Do I have enough records for the analysis? (VISUALIZE AND COUNT Germplasm and Herbaria data)</a:t>
          </a:r>
        </a:p>
      </dsp:txBody>
      <dsp:txXfrm rot="-5400000">
        <a:off x="838822" y="2139931"/>
        <a:ext cx="9638754" cy="702860"/>
      </dsp:txXfrm>
    </dsp:sp>
    <dsp:sp modelId="{8FAE1217-90A8-42F0-AC0D-ADC0FAC08551}">
      <dsp:nvSpPr>
        <dsp:cNvPr id="0" name=""/>
        <dsp:cNvSpPr/>
      </dsp:nvSpPr>
      <dsp:spPr>
        <a:xfrm rot="5400000">
          <a:off x="-179747" y="3332452"/>
          <a:ext cx="1198317" cy="838822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Preprocessing (clean data) </a:t>
          </a:r>
        </a:p>
      </dsp:txBody>
      <dsp:txXfrm rot="-5400000">
        <a:off x="1" y="3572115"/>
        <a:ext cx="838822" cy="359495"/>
      </dsp:txXfrm>
    </dsp:sp>
    <dsp:sp modelId="{DAF89253-EB31-4161-BA69-15A6DAE1928F}">
      <dsp:nvSpPr>
        <dsp:cNvPr id="0" name=""/>
        <dsp:cNvSpPr/>
      </dsp:nvSpPr>
      <dsp:spPr>
        <a:xfrm rot="5400000">
          <a:off x="5287757" y="-1296230"/>
          <a:ext cx="778906" cy="9676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080" rIns="5080" bIns="508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Is the data accurate for the analysis? (VISUALIZE DATA)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What format or requirements are need to performance the analysis? (CHECK COORDS FORMAT)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What kind of clean procedure should I do? (DEFINE IF GEOREFERENCIATION, APPLY GQS)</a:t>
          </a:r>
        </a:p>
      </dsp:txBody>
      <dsp:txXfrm rot="-5400000">
        <a:off x="838822" y="3190728"/>
        <a:ext cx="9638754" cy="7028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7AE87-D86D-402F-A4F8-E1DCE45B8AF8}" type="datetimeFigureOut">
              <a:rPr lang="es-CO" smtClean="0"/>
              <a:t>5/11/2025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67A99-0E10-4BD0-B029-1D855C7142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6057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ABEFE7DD-9EE0-3BC8-84FD-3C97A16C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>
            <a:extLst>
              <a:ext uri="{FF2B5EF4-FFF2-40B4-BE49-F238E27FC236}">
                <a16:creationId xmlns:a16="http://schemas.microsoft.com/office/drawing/2014/main" id="{003B12B9-792C-B30C-DDA6-8AAB715C1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" name="Google Shape;51;p2:notes">
            <a:extLst>
              <a:ext uri="{FF2B5EF4-FFF2-40B4-BE49-F238E27FC236}">
                <a16:creationId xmlns:a16="http://schemas.microsoft.com/office/drawing/2014/main" id="{81585F4A-17EC-03D8-0BE0-2FE89FB0FF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8628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5650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690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67A99-0E10-4BD0-B029-1D855C714224}" type="slidenum">
              <a:rPr lang="es-CO" smtClean="0"/>
              <a:t>33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495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19A7538C-58A8-843B-0FF5-E2ACD8FB6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>
            <a:extLst>
              <a:ext uri="{FF2B5EF4-FFF2-40B4-BE49-F238E27FC236}">
                <a16:creationId xmlns:a16="http://schemas.microsoft.com/office/drawing/2014/main" id="{6549BBD7-C206-FF23-0780-8E8F37E9B8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" name="Google Shape;51;p2:notes">
            <a:extLst>
              <a:ext uri="{FF2B5EF4-FFF2-40B4-BE49-F238E27FC236}">
                <a16:creationId xmlns:a16="http://schemas.microsoft.com/office/drawing/2014/main" id="{0E19330F-086E-E75E-09DF-5433917DA8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7099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8e8cad253c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18e8cad253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field with lines in the middle&#10;&#10;AI-generated content may be incorrect.">
            <a:extLst>
              <a:ext uri="{FF2B5EF4-FFF2-40B4-BE49-F238E27FC236}">
                <a16:creationId xmlns:a16="http://schemas.microsoft.com/office/drawing/2014/main" id="{633A8EA2-59AA-542E-1B80-DBF7AB792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195181-6814-57F3-47A1-91DA85F76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400" y="1554511"/>
            <a:ext cx="9144000" cy="2387600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s-C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4546E2-EB35-4613-A0D0-773125A2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8400" y="4034186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92D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3771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a black border&#10;&#10;AI-generated content may be incorrect.">
            <a:extLst>
              <a:ext uri="{FF2B5EF4-FFF2-40B4-BE49-F238E27FC236}">
                <a16:creationId xmlns:a16="http://schemas.microsoft.com/office/drawing/2014/main" id="{FC6B86BC-152C-EA20-8BA8-91B061F24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B0E431-AAB9-2077-5A89-E76240554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7C84-F46F-7239-14F2-9F9DD73F8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9649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C6B86BC-152C-EA20-8BA8-91B061F24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B0E431-AAB9-2077-5A89-E76240554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7C84-F46F-7239-14F2-9F9DD73F8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8397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surface with white text&#10;&#10;AI-generated content may be incorrect.">
            <a:extLst>
              <a:ext uri="{FF2B5EF4-FFF2-40B4-BE49-F238E27FC236}">
                <a16:creationId xmlns:a16="http://schemas.microsoft.com/office/drawing/2014/main" id="{D7FFB053-6168-4A75-716A-0740E8CFC4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3F2BAB-C6A8-41A0-882B-0761672B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48356"/>
            <a:ext cx="10515600" cy="28527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63179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7FFB053-6168-4A75-716A-0740E8CFC4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3F2BAB-C6A8-41A0-882B-0761672B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48356"/>
            <a:ext cx="10515600" cy="28527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1090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AD65-6CF8-FFC0-5149-BB0F4AAD1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s-C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0B6221-956D-D29F-9092-3E6E21DF3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36294-9EAD-4573-A696-A9D1803E7819}" type="datetimeFigureOut">
              <a:rPr lang="es-CO" smtClean="0"/>
              <a:t>5/11/2025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AE7F6-4401-8EF8-56FE-F36FF91AF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52128-DFA8-8278-E1AB-9D1B88C2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73903-F73E-4F0A-825B-B0706B7DFC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119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photo&amp;text">
  <p:cSld name="Background photo&amp;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23"/>
          <p:cNvSpPr txBox="1">
            <a:spLocks noGrp="1"/>
          </p:cNvSpPr>
          <p:nvPr>
            <p:ph type="title"/>
          </p:nvPr>
        </p:nvSpPr>
        <p:spPr>
          <a:xfrm>
            <a:off x="0" y="687938"/>
            <a:ext cx="5289846" cy="16002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body" idx="1"/>
          </p:nvPr>
        </p:nvSpPr>
        <p:spPr>
          <a:xfrm>
            <a:off x="1" y="2356500"/>
            <a:ext cx="5289846" cy="394175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B3838"/>
              </a:buClr>
              <a:buSzPts val="1600"/>
              <a:buFont typeface="Arial"/>
              <a:buChar char="•"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8253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&amp; picture" type="picTx">
  <p:cSld name="Text &amp; pictur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4"/>
          <p:cNvSpPr txBox="1">
            <a:spLocks noGrp="1"/>
          </p:cNvSpPr>
          <p:nvPr>
            <p:ph type="title"/>
          </p:nvPr>
        </p:nvSpPr>
        <p:spPr>
          <a:xfrm>
            <a:off x="626148" y="435709"/>
            <a:ext cx="10977073" cy="93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  <a:defRPr sz="3600" b="1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>
            <a:spLocks noGrp="1"/>
          </p:cNvSpPr>
          <p:nvPr>
            <p:ph type="pic" idx="2"/>
          </p:nvPr>
        </p:nvSpPr>
        <p:spPr>
          <a:xfrm>
            <a:off x="6375161" y="1632247"/>
            <a:ext cx="5964965" cy="3811588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617598" y="1632246"/>
            <a:ext cx="521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B3838"/>
              </a:buClr>
              <a:buSzPts val="2400"/>
              <a:buFont typeface="Arial"/>
              <a:buChar char="•"/>
              <a:defRPr sz="2400">
                <a:solidFill>
                  <a:srgbClr val="3B383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2273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642257-0BEA-22A3-D803-5925CC757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1717A-D503-43F0-FCCE-631A5E946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2695A-2462-E850-761D-C3F84D43D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36294-9EAD-4573-A696-A9D1803E7819}" type="datetimeFigureOut">
              <a:rPr lang="es-CO" smtClean="0"/>
              <a:t>5/11/2025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86699-393F-4B91-A6D4-8D7F65885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7CFA8-8579-4153-8535-6FA229C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73903-F73E-4F0A-825B-B0706B7DFC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97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61" r:id="rId5"/>
    <p:sldLayoutId id="2147483654" r:id="rId6"/>
    <p:sldLayoutId id="2147483662" r:id="rId7"/>
    <p:sldLayoutId id="2147483663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maps/d/edit?mid=19tZfXiauYtgdmlOj4iMZFddwSJo8SRE&amp;usp=sharing" TargetMode="External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geo-locate.org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rs.tdwg.org/dwc" TargetMode="External"/><Relationship Id="rId2" Type="http://schemas.openxmlformats.org/officeDocument/2006/relationships/hyperlink" Target="https://cgspace.cgiar.org/server/api/core/bitstreams/7947d48c-5cf1-4164-8c61-fa276d658463/conten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ao.org/4/i3704e/i3704e.pdf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92102-2343-A1D3-46A0-C586E31106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Gap Analysis: </a:t>
            </a:r>
            <a:r>
              <a:rPr lang="en-US" dirty="0"/>
              <a:t>Main issues in geographical coordinates (CURATION + WORKFLOW)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B5AD34-62B4-38F6-BA31-51B0670C9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4710" y="5722373"/>
            <a:ext cx="9144000" cy="920273"/>
          </a:xfrm>
        </p:spPr>
        <p:txBody>
          <a:bodyPr/>
          <a:lstStyle/>
          <a:p>
            <a:r>
              <a:rPr lang="en-US" noProof="0" dirty="0"/>
              <a:t>November 6, 2025</a:t>
            </a:r>
          </a:p>
          <a:p>
            <a:r>
              <a:rPr lang="en-US" dirty="0"/>
              <a:t>Alliance Bioversity International &amp; CIAT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059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2DC3F1-FCFF-DC61-BD2E-973FDC178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9194"/>
            <a:ext cx="10515600" cy="2852737"/>
          </a:xfrm>
        </p:spPr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workflow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a gap </a:t>
            </a:r>
            <a:r>
              <a:rPr lang="es-ES" dirty="0" err="1"/>
              <a:t>analysis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86521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>
          <a:extLst>
            <a:ext uri="{FF2B5EF4-FFF2-40B4-BE49-F238E27FC236}">
              <a16:creationId xmlns:a16="http://schemas.microsoft.com/office/drawing/2014/main" id="{2F6AF0AB-6E96-A53C-5B20-5C6E7C42F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E63936B-036E-E7CA-E56F-47D72CA1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7AC1D24-722C-47A6-5C6C-7A109C2FB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381" y="-58587"/>
            <a:ext cx="9497750" cy="683037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57EB8D5-F434-090D-9172-84F98CDB2108}"/>
              </a:ext>
            </a:extLst>
          </p:cNvPr>
          <p:cNvSpPr txBox="1"/>
          <p:nvPr/>
        </p:nvSpPr>
        <p:spPr>
          <a:xfrm>
            <a:off x="293019" y="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36E8E49-9A1B-5B98-F083-ABBB6A658F03}"/>
              </a:ext>
            </a:extLst>
          </p:cNvPr>
          <p:cNvSpPr txBox="1"/>
          <p:nvPr/>
        </p:nvSpPr>
        <p:spPr>
          <a:xfrm>
            <a:off x="4986225" y="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01C3DFA-015D-DB5C-C817-F3E0656121EF}"/>
              </a:ext>
            </a:extLst>
          </p:cNvPr>
          <p:cNvSpPr txBox="1"/>
          <p:nvPr/>
        </p:nvSpPr>
        <p:spPr>
          <a:xfrm>
            <a:off x="293019" y="342900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120FD14-8AB0-498B-5272-C138D6F88B74}"/>
              </a:ext>
            </a:extLst>
          </p:cNvPr>
          <p:cNvSpPr txBox="1"/>
          <p:nvPr/>
        </p:nvSpPr>
        <p:spPr>
          <a:xfrm>
            <a:off x="4986225" y="342900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6494714-8F8F-C23B-110A-9DCF884AB309}"/>
              </a:ext>
            </a:extLst>
          </p:cNvPr>
          <p:cNvSpPr txBox="1"/>
          <p:nvPr/>
        </p:nvSpPr>
        <p:spPr>
          <a:xfrm>
            <a:off x="540117" y="2766236"/>
            <a:ext cx="3905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Species </a:t>
            </a:r>
            <a: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occurrences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A2176C5-035F-9E12-0D3E-9931EA1CF761}"/>
              </a:ext>
            </a:extLst>
          </p:cNvPr>
          <p:cNvSpPr txBox="1"/>
          <p:nvPr/>
        </p:nvSpPr>
        <p:spPr>
          <a:xfrm>
            <a:off x="5508739" y="2766048"/>
            <a:ext cx="3527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Realized niche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7842DE3-13AF-23D5-63F8-AD7C60586683}"/>
              </a:ext>
            </a:extLst>
          </p:cNvPr>
          <p:cNvSpPr txBox="1"/>
          <p:nvPr/>
        </p:nvSpPr>
        <p:spPr>
          <a:xfrm>
            <a:off x="815533" y="5791926"/>
            <a:ext cx="35271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Sampled germplasm</a:t>
            </a:r>
            <a:endParaRPr lang="en-US" sz="28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0BD8B2B-1029-51C0-DA8A-3F5431453E68}"/>
              </a:ext>
            </a:extLst>
          </p:cNvPr>
          <p:cNvSpPr txBox="1"/>
          <p:nvPr/>
        </p:nvSpPr>
        <p:spPr>
          <a:xfrm>
            <a:off x="5598926" y="6055316"/>
            <a:ext cx="3527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Where to collect</a:t>
            </a:r>
            <a:endParaRPr lang="en-US" sz="28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69233EE-83CC-175E-F242-13CC8CEDE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1812" y="997066"/>
            <a:ext cx="434396" cy="38967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B615097-F2D0-3C6C-709A-66F703660C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1812" y="1492155"/>
            <a:ext cx="434396" cy="4778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4B1616D-DF8C-BF8E-4AE8-13A4C90364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1544" y="2003051"/>
            <a:ext cx="817254" cy="80916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02161A3-B5C0-7351-BE96-202D761CE0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734" y="3094992"/>
            <a:ext cx="388552" cy="388552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8EB46D7D-BFCD-2876-5CE0-64F24FAFCCFA}"/>
              </a:ext>
            </a:extLst>
          </p:cNvPr>
          <p:cNvSpPr txBox="1"/>
          <p:nvPr/>
        </p:nvSpPr>
        <p:spPr>
          <a:xfrm>
            <a:off x="10438798" y="1042644"/>
            <a:ext cx="2335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Germplasm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DE6DC5E-8284-AA25-8F37-28B39954EC34}"/>
              </a:ext>
            </a:extLst>
          </p:cNvPr>
          <p:cNvSpPr txBox="1"/>
          <p:nvPr/>
        </p:nvSpPr>
        <p:spPr>
          <a:xfrm>
            <a:off x="10438798" y="1508788"/>
            <a:ext cx="2335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coordinates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199E88A-3199-C0D5-C4D5-A2C4DF7631EC}"/>
              </a:ext>
            </a:extLst>
          </p:cNvPr>
          <p:cNvSpPr txBox="1"/>
          <p:nvPr/>
        </p:nvSpPr>
        <p:spPr>
          <a:xfrm>
            <a:off x="10114903" y="2242828"/>
            <a:ext cx="2335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Collected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germplasm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1177E83-7648-EBB4-4B39-76480753509B}"/>
              </a:ext>
            </a:extLst>
          </p:cNvPr>
          <p:cNvSpPr txBox="1"/>
          <p:nvPr/>
        </p:nvSpPr>
        <p:spPr>
          <a:xfrm>
            <a:off x="10111843" y="3094992"/>
            <a:ext cx="2335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latin typeface="Arial" panose="020B0604020202020204" pitchFamily="34" charset="0"/>
                <a:cs typeface="Arial" panose="020B0604020202020204" pitchFamily="34" charset="0"/>
              </a:rPr>
              <a:t>Potential area to be collected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3574665C-B8DC-328B-B166-EE66560A4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1214" y="582390"/>
            <a:ext cx="2829320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979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8C457-8E8D-9E52-53C6-8883518AE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Basics of  data curation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49A8507-0610-52E3-8BB9-103549C23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5172" y="1372807"/>
            <a:ext cx="5157787" cy="823912"/>
          </a:xfrm>
        </p:spPr>
        <p:txBody>
          <a:bodyPr/>
          <a:lstStyle/>
          <a:p>
            <a:pPr marL="76200" indent="0" algn="ctr">
              <a:buNone/>
            </a:pPr>
            <a:r>
              <a:rPr lang="en-US" dirty="0"/>
              <a:t>Activity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F0E642-68D9-AF2D-4D3F-F98A84A02497}"/>
              </a:ext>
            </a:extLst>
          </p:cNvPr>
          <p:cNvSpPr txBox="1">
            <a:spLocks/>
          </p:cNvSpPr>
          <p:nvPr/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Tx/>
              <a:buChar char="-"/>
            </a:pPr>
            <a:r>
              <a:rPr lang="en-US">
                <a:highlight>
                  <a:srgbClr val="FF00FF"/>
                </a:highlight>
              </a:rPr>
              <a:t>Taxonomic data</a:t>
            </a:r>
          </a:p>
          <a:p>
            <a:pPr>
              <a:buFontTx/>
              <a:buChar char="-"/>
            </a:pPr>
            <a:endParaRPr lang="en-US"/>
          </a:p>
          <a:p>
            <a:endParaRPr lang="en-US"/>
          </a:p>
          <a:p>
            <a:endParaRPr lang="en-US"/>
          </a:p>
          <a:p>
            <a:pPr>
              <a:buFontTx/>
              <a:buChar char="-"/>
            </a:pPr>
            <a:r>
              <a:rPr lang="en-US">
                <a:highlight>
                  <a:srgbClr val="808000"/>
                </a:highlight>
              </a:rPr>
              <a:t>Geographical coordinates</a:t>
            </a:r>
          </a:p>
          <a:p>
            <a:pPr>
              <a:buFontTx/>
              <a:buChar char="-"/>
            </a:pPr>
            <a:endParaRPr lang="en-US"/>
          </a:p>
          <a:p>
            <a:pPr>
              <a:buFontTx/>
              <a:buChar char="-"/>
            </a:pPr>
            <a:endParaRPr lang="en-US"/>
          </a:p>
          <a:p>
            <a:pPr>
              <a:buFontTx/>
              <a:buChar char="-"/>
            </a:pPr>
            <a:r>
              <a:rPr lang="en-US">
                <a:highlight>
                  <a:srgbClr val="FFFF00"/>
                </a:highlight>
              </a:rPr>
              <a:t>Environmental information</a:t>
            </a:r>
          </a:p>
          <a:p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8788777-675B-11BE-E3C9-82564E3BE0F4}"/>
              </a:ext>
            </a:extLst>
          </p:cNvPr>
          <p:cNvSpPr txBox="1">
            <a:spLocks/>
          </p:cNvSpPr>
          <p:nvPr/>
        </p:nvSpPr>
        <p:spPr>
          <a:xfrm>
            <a:off x="6172200" y="1489139"/>
            <a:ext cx="5183188" cy="82391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dirty="0"/>
              <a:t>What respond?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7FC1187-6AB7-BD49-05AD-5B86DA3A66F9}"/>
              </a:ext>
            </a:extLst>
          </p:cNvPr>
          <p:cNvSpPr txBox="1">
            <a:spLocks/>
          </p:cNvSpPr>
          <p:nvPr/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Tx/>
              <a:buChar char="-"/>
            </a:pPr>
            <a:r>
              <a:rPr lang="en-US">
                <a:highlight>
                  <a:srgbClr val="FF00FF"/>
                </a:highlight>
              </a:rPr>
              <a:t>The species that I am analyzing have other scientific names or it is even a valid name?</a:t>
            </a:r>
          </a:p>
          <a:p>
            <a:pPr>
              <a:buFontTx/>
              <a:buChar char="-"/>
            </a:pPr>
            <a:endParaRPr lang="en-US"/>
          </a:p>
          <a:p>
            <a:pPr>
              <a:buFontTx/>
              <a:buChar char="-"/>
            </a:pPr>
            <a:r>
              <a:rPr lang="en-US">
                <a:highlight>
                  <a:srgbClr val="808000"/>
                </a:highlight>
              </a:rPr>
              <a:t>How accurate is the geographical information found for my species?</a:t>
            </a:r>
          </a:p>
          <a:p>
            <a:pPr>
              <a:buFontTx/>
              <a:buChar char="-"/>
            </a:pPr>
            <a:endParaRPr lang="en-US"/>
          </a:p>
          <a:p>
            <a:pPr>
              <a:buFontTx/>
              <a:buChar char="-"/>
            </a:pPr>
            <a:r>
              <a:rPr lang="en-US">
                <a:highlight>
                  <a:srgbClr val="FFFF00"/>
                </a:highlight>
              </a:rPr>
              <a:t>What environmental information can be used to model the species distribution of the species?</a:t>
            </a:r>
          </a:p>
          <a:p>
            <a:pPr>
              <a:buFontTx/>
              <a:buChar char="-"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35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0081-2AFA-9300-602A-CF0EB5204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important to curate geographical coordinates?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15194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F13159-69A1-B138-B3E9-B921FF0CF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 need curation!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BD6352-E9B0-A26B-8BE2-859F9675A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038391"/>
            <a:ext cx="9067800" cy="5090695"/>
          </a:xfrm>
          <a:prstGeom prst="rect">
            <a:avLst/>
          </a:prstGeom>
        </p:spPr>
      </p:pic>
      <p:pic>
        <p:nvPicPr>
          <p:cNvPr id="2050" name="Picture 2" descr="the Global Biodiversity Information Facility (GBIF) - The WorldFAIR Project">
            <a:extLst>
              <a:ext uri="{FF2B5EF4-FFF2-40B4-BE49-F238E27FC236}">
                <a16:creationId xmlns:a16="http://schemas.microsoft.com/office/drawing/2014/main" id="{307D66AD-F71C-C80D-5BAC-65D60C599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502172"/>
            <a:ext cx="2012950" cy="813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9BE729-3361-101F-D4A3-BEDF7E87B2F2}"/>
              </a:ext>
            </a:extLst>
          </p:cNvPr>
          <p:cNvSpPr/>
          <p:nvPr/>
        </p:nvSpPr>
        <p:spPr>
          <a:xfrm>
            <a:off x="5486400" y="1038391"/>
            <a:ext cx="1234440" cy="1777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71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7FC86-9602-613B-C69F-2AB33298E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C55927-9508-B000-53FD-D0F401F80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45" y="403912"/>
            <a:ext cx="10238555" cy="57087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33CE35-E651-2B97-E098-395D027F7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45" y="406402"/>
            <a:ext cx="2000529" cy="523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C53FB4-094F-430F-92F2-738AB2A19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199" y="365126"/>
            <a:ext cx="4124901" cy="4096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03E0EA1-012D-7832-B135-D733A6587667}"/>
              </a:ext>
            </a:extLst>
          </p:cNvPr>
          <p:cNvSpPr/>
          <p:nvPr/>
        </p:nvSpPr>
        <p:spPr>
          <a:xfrm>
            <a:off x="7763256" y="475488"/>
            <a:ext cx="137160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3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D6FEF-55CC-08DD-20B3-DB2290023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AC3111-7FD0-DB78-B367-C722019BE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92" y="226602"/>
            <a:ext cx="9039907" cy="62677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80FB78-1D5F-FBC8-858B-1BF4F543A509}"/>
              </a:ext>
            </a:extLst>
          </p:cNvPr>
          <p:cNvSpPr txBox="1"/>
          <p:nvPr/>
        </p:nvSpPr>
        <p:spPr>
          <a:xfrm>
            <a:off x="6991350" y="7271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https://www.gbif.org/species/9206251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9FE05B-1B39-4546-CFED-28693A64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714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A052E-CB10-28D8-6E36-123F245C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CA03C-4529-A006-57F1-9AEB559F5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6AA497-C3BF-14EB-74E4-A049A6DB8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0"/>
            <a:ext cx="8559342" cy="62845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91952C-2559-7531-9F94-FD50046A87BC}"/>
              </a:ext>
            </a:extLst>
          </p:cNvPr>
          <p:cNvSpPr txBox="1"/>
          <p:nvPr/>
        </p:nvSpPr>
        <p:spPr>
          <a:xfrm>
            <a:off x="7287984" y="211236"/>
            <a:ext cx="6118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https://www.gbif.org/species/6109611</a:t>
            </a:r>
          </a:p>
        </p:txBody>
      </p:sp>
    </p:spTree>
    <p:extLst>
      <p:ext uri="{BB962C8B-B14F-4D97-AF65-F5344CB8AC3E}">
        <p14:creationId xmlns:p14="http://schemas.microsoft.com/office/powerpoint/2010/main" val="2518651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9DE2F-6048-3782-B0B5-F8CA1D868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904" y="365125"/>
            <a:ext cx="5060895" cy="1053477"/>
          </a:xfrm>
        </p:spPr>
        <p:txBody>
          <a:bodyPr>
            <a:normAutofit fontScale="90000"/>
          </a:bodyPr>
          <a:lstStyle/>
          <a:p>
            <a:r>
              <a:rPr lang="en-US" dirty="0"/>
              <a:t>Sampling bias is common in biological collections!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C2FEF-57A6-806B-E25C-26E064EE6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2500" y="1620526"/>
            <a:ext cx="5919079" cy="4351338"/>
          </a:xfrm>
        </p:spPr>
        <p:txBody>
          <a:bodyPr/>
          <a:lstStyle/>
          <a:p>
            <a:r>
              <a:rPr lang="en-US" sz="2000" dirty="0"/>
              <a:t>Roadsides</a:t>
            </a:r>
          </a:p>
          <a:p>
            <a:r>
              <a:rPr lang="en-US" sz="2000" dirty="0"/>
              <a:t>Cities</a:t>
            </a:r>
          </a:p>
          <a:p>
            <a:r>
              <a:rPr lang="en-US" sz="2000" dirty="0"/>
              <a:t>Accessible areas</a:t>
            </a:r>
          </a:p>
          <a:p>
            <a:pPr marL="76200" indent="0" algn="ctr">
              <a:buNone/>
            </a:pPr>
            <a:endParaRPr lang="en-US" dirty="0"/>
          </a:p>
          <a:p>
            <a:pPr marL="76200" indent="0" algn="ctr">
              <a:buNone/>
            </a:pPr>
            <a:endParaRPr lang="en-US" dirty="0"/>
          </a:p>
          <a:p>
            <a:pPr marL="76200" indent="0" algn="ctr">
              <a:buNone/>
            </a:pPr>
            <a:endParaRPr lang="en-US" dirty="0"/>
          </a:p>
        </p:txBody>
      </p:sp>
      <p:pic>
        <p:nvPicPr>
          <p:cNvPr id="6" name="Imagen 3">
            <a:extLst>
              <a:ext uri="{FF2B5EF4-FFF2-40B4-BE49-F238E27FC236}">
                <a16:creationId xmlns:a16="http://schemas.microsoft.com/office/drawing/2014/main" id="{490B071D-1F5A-DC62-5C33-7B241652557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804" y="52501"/>
            <a:ext cx="6073004" cy="65370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90DD46-437F-0E7A-D1A4-05902D8C1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47" y="3949702"/>
            <a:ext cx="3079105" cy="11620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1A17C20-CC2B-3E1F-ACC8-B9C71858E95A}"/>
              </a:ext>
            </a:extLst>
          </p:cNvPr>
          <p:cNvSpPr/>
          <p:nvPr/>
        </p:nvSpPr>
        <p:spPr>
          <a:xfrm>
            <a:off x="4508500" y="3619500"/>
            <a:ext cx="1282700" cy="1162050"/>
          </a:xfrm>
          <a:prstGeom prst="rect">
            <a:avLst/>
          </a:pr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307AC1-4494-ED7F-9B79-BCF2558AFB94}"/>
              </a:ext>
            </a:extLst>
          </p:cNvPr>
          <p:cNvSpPr/>
          <p:nvPr/>
        </p:nvSpPr>
        <p:spPr>
          <a:xfrm>
            <a:off x="2584450" y="1433200"/>
            <a:ext cx="1384300" cy="1475099"/>
          </a:xfrm>
          <a:prstGeom prst="rect">
            <a:avLst/>
          </a:pr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A9548C3-AA39-ABED-D828-9E41D77D0E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905" y="3683000"/>
            <a:ext cx="2024846" cy="232007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03914B8-8452-58A9-8E89-E2A98FE46E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848" y="3683000"/>
            <a:ext cx="2887630" cy="22525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C16BEB1-1F6A-1B07-A86A-CB64E4AA14E0}"/>
              </a:ext>
            </a:extLst>
          </p:cNvPr>
          <p:cNvSpPr txBox="1"/>
          <p:nvPr/>
        </p:nvSpPr>
        <p:spPr>
          <a:xfrm>
            <a:off x="2686050" y="143487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2CDB6E-BB60-238B-9921-166E58BADD0A}"/>
              </a:ext>
            </a:extLst>
          </p:cNvPr>
          <p:cNvSpPr txBox="1"/>
          <p:nvPr/>
        </p:nvSpPr>
        <p:spPr>
          <a:xfrm>
            <a:off x="4508500" y="367242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0072A8-C889-E9EB-62E9-EA15756D4F01}"/>
              </a:ext>
            </a:extLst>
          </p:cNvPr>
          <p:cNvSpPr txBox="1"/>
          <p:nvPr/>
        </p:nvSpPr>
        <p:spPr>
          <a:xfrm>
            <a:off x="6217925" y="363540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		        2</a:t>
            </a:r>
          </a:p>
        </p:txBody>
      </p:sp>
    </p:spTree>
    <p:extLst>
      <p:ext uri="{BB962C8B-B14F-4D97-AF65-F5344CB8AC3E}">
        <p14:creationId xmlns:p14="http://schemas.microsoft.com/office/powerpoint/2010/main" val="2479515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80685-99E8-EE5D-6730-8988279C5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5575"/>
            <a:ext cx="10515600" cy="105347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CD2409-022D-0D90-E112-9A1D79DC6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15" y="730249"/>
            <a:ext cx="7163385" cy="5756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914D02-6065-B16E-631B-6EFA1B4BEAD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94600" y="1234452"/>
            <a:ext cx="4735044" cy="1371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4CE55B-4B7D-2149-225E-AF74DCDD8D88}"/>
              </a:ext>
            </a:extLst>
          </p:cNvPr>
          <p:cNvSpPr txBox="1"/>
          <p:nvPr/>
        </p:nvSpPr>
        <p:spPr>
          <a:xfrm>
            <a:off x="7816850" y="3259481"/>
            <a:ext cx="437515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Herbarium specimens tended to be collected closer than expected to roads and herbaria (P &lt; 0.01)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than 50% of herbarium specimens were collected within 2 km of road-sides in all three ﬂoras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tendency for specimens to be collected at lower elevation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924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4DB08-800E-6A17-6E02-8FCD5D65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8000"/>
                </a:highlight>
              </a:rPr>
              <a:t>Main issues in coordinates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857CA-D7C5-6FC8-3262-F4FC5CF5B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 coords (some issues):</a:t>
            </a:r>
          </a:p>
          <a:p>
            <a:r>
              <a:rPr lang="en-US" dirty="0"/>
              <a:t>Inaccurate geographical information reported</a:t>
            </a:r>
          </a:p>
          <a:p>
            <a:r>
              <a:rPr lang="en-US" dirty="0"/>
              <a:t>Disappeared  administrative regions and countries</a:t>
            </a:r>
          </a:p>
          <a:p>
            <a:r>
              <a:rPr lang="en-US" dirty="0"/>
              <a:t>Protected sites (e.g., Federal protected areas in USA in the case of H</a:t>
            </a:r>
            <a:r>
              <a:rPr lang="en-US" i="1" dirty="0"/>
              <a:t>. paradoxus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78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02AA6-BEED-E74B-A4B9-D1557A10B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8000"/>
                </a:highlight>
              </a:rPr>
              <a:t>Main issues in coordinates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85236-612C-C552-A16D-E6CE0B3D3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Accuracy</a:t>
            </a:r>
          </a:p>
          <a:p>
            <a:r>
              <a:rPr lang="en-US" dirty="0"/>
              <a:t>Changes between formats</a:t>
            </a:r>
          </a:p>
          <a:p>
            <a:r>
              <a:rPr lang="en-US" dirty="0"/>
              <a:t>Duplicated coords</a:t>
            </a:r>
          </a:p>
          <a:p>
            <a:r>
              <a:rPr lang="en-US" dirty="0"/>
              <a:t>Commas instead period (e.g. 1,2999; 1.2999)</a:t>
            </a:r>
          </a:p>
          <a:p>
            <a:r>
              <a:rPr lang="en-US" dirty="0">
                <a:highlight>
                  <a:srgbClr val="FF0000"/>
                </a:highlight>
              </a:rPr>
              <a:t>Wrong Longitude and Latitude</a:t>
            </a:r>
          </a:p>
          <a:p>
            <a:r>
              <a:rPr lang="en-US" dirty="0">
                <a:highlight>
                  <a:srgbClr val="FF0000"/>
                </a:highlight>
              </a:rPr>
              <a:t>Wrong coords format! (e.g. UTM, decimal </a:t>
            </a:r>
            <a:r>
              <a:rPr lang="en-US" dirty="0" err="1">
                <a:highlight>
                  <a:srgbClr val="FF0000"/>
                </a:highlight>
              </a:rPr>
              <a:t>degress</a:t>
            </a:r>
            <a:r>
              <a:rPr lang="en-US" dirty="0">
                <a:highlight>
                  <a:srgbClr val="FF0000"/>
                </a:highlight>
              </a:rPr>
              <a:t>, hours, minute, second)</a:t>
            </a:r>
          </a:p>
          <a:p>
            <a:r>
              <a:rPr lang="en-US" dirty="0">
                <a:highlight>
                  <a:srgbClr val="FF0000"/>
                </a:highlight>
              </a:rPr>
              <a:t>Unknown datum!</a:t>
            </a:r>
          </a:p>
          <a:p>
            <a:r>
              <a:rPr lang="en-US" dirty="0"/>
              <a:t>Coords in sea</a:t>
            </a:r>
          </a:p>
          <a:p>
            <a:r>
              <a:rPr lang="en-US" dirty="0"/>
              <a:t>Truncated coords (E.g. longitude represented as latitude)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303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B8E80-B62F-A731-C9D1-84C537913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61231-2A62-FCF6-6896-C2FE9F60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geographical coordinates issues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7755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036B9-0E3D-5476-178B-F6AA1E469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A17C-CF23-F80A-07FC-F71D5E26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 of descriptions in natural history collections: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153DB-F927-3CDA-66A4-BCA33F29F5A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5028" y="1501296"/>
            <a:ext cx="10336067" cy="46393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B8867C-9DAC-FB53-26CA-EF8FA3ECCB84}"/>
              </a:ext>
            </a:extLst>
          </p:cNvPr>
          <p:cNvSpPr txBox="1"/>
          <p:nvPr/>
        </p:nvSpPr>
        <p:spPr>
          <a:xfrm>
            <a:off x="4926152" y="622331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Wieczorek et al., 2004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4D2CB1-87C3-25FF-3475-35E115C77360}"/>
              </a:ext>
            </a:extLst>
          </p:cNvPr>
          <p:cNvSpPr/>
          <p:nvPr/>
        </p:nvSpPr>
        <p:spPr>
          <a:xfrm>
            <a:off x="7651750" y="4660900"/>
            <a:ext cx="1822450" cy="298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56692F-F3F3-C05E-D48F-A73CED45ABDE}"/>
              </a:ext>
            </a:extLst>
          </p:cNvPr>
          <p:cNvSpPr/>
          <p:nvPr/>
        </p:nvSpPr>
        <p:spPr>
          <a:xfrm>
            <a:off x="7651749" y="5026108"/>
            <a:ext cx="3189345" cy="612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9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99C3A-7E74-5CEA-09DC-2F368677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 uncertainty is present! (what is the exact location?)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B03DD-5925-E7E6-FA7A-B5E9C5106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BAECB4-D337-5537-8C2F-79A72CD5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1128098"/>
            <a:ext cx="7277100" cy="546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80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9931-3661-0EB9-10BB-9BB79130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33 possible locations!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2F4D1-F6A7-D5D7-9668-3F9473A46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85F1A5-4BDB-EAA7-B000-BB1474268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41" y="1077714"/>
            <a:ext cx="7169859" cy="543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992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E84D-8FAA-E7BE-1A7A-48B731583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see accuracy: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A6402-9576-B929-E869-E2F106A4B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552563"/>
            <a:ext cx="6096000" cy="995568"/>
          </a:xfrm>
        </p:spPr>
        <p:txBody>
          <a:bodyPr>
            <a:normAutofit/>
          </a:bodyPr>
          <a:lstStyle/>
          <a:p>
            <a:pPr marL="762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30DB22-E3C6-010D-793F-CA2DC9ED42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23" t="1681" r="13304" b="19753"/>
          <a:stretch/>
        </p:blipFill>
        <p:spPr>
          <a:xfrm>
            <a:off x="6246444" y="-113509"/>
            <a:ext cx="5945556" cy="39097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26F866-C0D1-1E9D-4104-3A8911F0A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" y="3796195"/>
            <a:ext cx="7751873" cy="26966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BF3DCA-6F24-02EE-4AE0-8A0061F9326D}"/>
              </a:ext>
            </a:extLst>
          </p:cNvPr>
          <p:cNvSpPr txBox="1"/>
          <p:nvPr/>
        </p:nvSpPr>
        <p:spPr>
          <a:xfrm>
            <a:off x="8102393" y="499064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https://www.gbif.org/occurrence/4516468723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D93CE5-DB8A-DDD2-7ED9-D653CF45F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96" y="1056928"/>
            <a:ext cx="3134162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1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9E392-8080-B971-97B7-943B113C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hlinkClick r:id="rId3"/>
              </a:rPr>
              <a:t>https://www.google.com/maps/d/edit?mid=19tZfXiauYtgdmlOj4iMZFddwSJo8SRE&amp;usp=sharing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20DD2-D5E0-E38F-D939-F089838BB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1E6644-7680-F311-B343-83EC2D5A8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036" y="1469493"/>
            <a:ext cx="4739013" cy="26389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6E6D98-741C-970D-7B22-94FA8717F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9991" y="1446204"/>
            <a:ext cx="3171677" cy="26389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9F655A-5052-9EE3-C5C3-7342A711BE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46" y="1446205"/>
            <a:ext cx="3012870" cy="26389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D17917-2466-A0E3-B70D-C035E486EC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6316" y="4374299"/>
            <a:ext cx="3134162" cy="1495634"/>
          </a:xfrm>
          <a:prstGeom prst="rect">
            <a:avLst/>
          </a:prstGeom>
        </p:spPr>
      </p:pic>
      <p:sp>
        <p:nvSpPr>
          <p:cNvPr id="13" name="Left Brace 12">
            <a:extLst>
              <a:ext uri="{FF2B5EF4-FFF2-40B4-BE49-F238E27FC236}">
                <a16:creationId xmlns:a16="http://schemas.microsoft.com/office/drawing/2014/main" id="{69A72B19-2301-568A-F482-474D4159B3D5}"/>
              </a:ext>
            </a:extLst>
          </p:cNvPr>
          <p:cNvSpPr/>
          <p:nvPr/>
        </p:nvSpPr>
        <p:spPr>
          <a:xfrm rot="10800000">
            <a:off x="6988564" y="5530374"/>
            <a:ext cx="122516" cy="26035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6CF3A4-E7DE-300B-3FC3-028352D4ABD5}"/>
              </a:ext>
            </a:extLst>
          </p:cNvPr>
          <p:cNvCxnSpPr>
            <a:stCxn id="13" idx="1"/>
            <a:endCxn id="5" idx="2"/>
          </p:cNvCxnSpPr>
          <p:nvPr/>
        </p:nvCxnSpPr>
        <p:spPr>
          <a:xfrm flipV="1">
            <a:off x="7111080" y="4108451"/>
            <a:ext cx="2476463" cy="15520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A758D201-4555-6225-B9BE-EB3ADEED2808}"/>
              </a:ext>
            </a:extLst>
          </p:cNvPr>
          <p:cNvSpPr/>
          <p:nvPr/>
        </p:nvSpPr>
        <p:spPr>
          <a:xfrm rot="10800000">
            <a:off x="6927305" y="5121514"/>
            <a:ext cx="122516" cy="26035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CD39DFC-F258-41F2-C599-58EC3DCE283C}"/>
              </a:ext>
            </a:extLst>
          </p:cNvPr>
          <p:cNvCxnSpPr>
            <a:cxnSpLocks/>
          </p:cNvCxnSpPr>
          <p:nvPr/>
        </p:nvCxnSpPr>
        <p:spPr>
          <a:xfrm flipV="1">
            <a:off x="7049821" y="4043364"/>
            <a:ext cx="34332" cy="12135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Left Brace 18">
            <a:extLst>
              <a:ext uri="{FF2B5EF4-FFF2-40B4-BE49-F238E27FC236}">
                <a16:creationId xmlns:a16="http://schemas.microsoft.com/office/drawing/2014/main" id="{85F1427A-87D8-CF66-1A36-76F45E69DBB2}"/>
              </a:ext>
            </a:extLst>
          </p:cNvPr>
          <p:cNvSpPr/>
          <p:nvPr/>
        </p:nvSpPr>
        <p:spPr>
          <a:xfrm>
            <a:off x="3733800" y="4944349"/>
            <a:ext cx="122516" cy="26035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A5A925C-32B5-B965-05D6-DB58331912A9}"/>
              </a:ext>
            </a:extLst>
          </p:cNvPr>
          <p:cNvCxnSpPr>
            <a:cxnSpLocks/>
          </p:cNvCxnSpPr>
          <p:nvPr/>
        </p:nvCxnSpPr>
        <p:spPr>
          <a:xfrm flipH="1" flipV="1">
            <a:off x="2476463" y="4029884"/>
            <a:ext cx="1245970" cy="1006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552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5DE24-1978-3F36-A72A-461A0CCEE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US" dirty="0"/>
          </a:p>
        </p:txBody>
      </p:sp>
      <p:pic>
        <p:nvPicPr>
          <p:cNvPr id="1026" name="Picture 2" descr="Coordinate Precision">
            <a:extLst>
              <a:ext uri="{FF2B5EF4-FFF2-40B4-BE49-F238E27FC236}">
                <a16:creationId xmlns:a16="http://schemas.microsoft.com/office/drawing/2014/main" id="{31A33F08-956B-A743-C1F8-02D21E93B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8878" y="1925836"/>
            <a:ext cx="3954822" cy="394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13F1D6-32B5-5BBF-42D1-D45914A35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210" y="1688574"/>
            <a:ext cx="3270840" cy="41253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673F98-7EAF-3A77-5800-0C1A64424663}"/>
              </a:ext>
            </a:extLst>
          </p:cNvPr>
          <p:cNvSpPr txBox="1"/>
          <p:nvPr/>
        </p:nvSpPr>
        <p:spPr>
          <a:xfrm>
            <a:off x="946150" y="586601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https://support.garmin.com/en-US/?faq=hRMBoCTy5a7HqVkxukhHd8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A3F0046-2CD1-E4CF-3263-C2D3127F2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accuracy is important in geographical data!</a:t>
            </a:r>
          </a:p>
        </p:txBody>
      </p:sp>
    </p:spTree>
    <p:extLst>
      <p:ext uri="{BB962C8B-B14F-4D97-AF65-F5344CB8AC3E}">
        <p14:creationId xmlns:p14="http://schemas.microsoft.com/office/powerpoint/2010/main" val="498418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32D75-924B-907B-49E9-E255F9DF8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E49D9-EF86-D576-3E74-6A09FE1B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Error types in geographical coordinates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FF870-6C7D-388E-E76E-2365A876C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dirty="0"/>
              <a:t>Duplicated coordinates:</a:t>
            </a:r>
          </a:p>
          <a:p>
            <a:pPr marL="76200" indent="0">
              <a:buNone/>
            </a:pPr>
            <a:r>
              <a:rPr lang="en-US" dirty="0"/>
              <a:t>Different accessions can have the same coordinates, but their related information can be different.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F37F6F-CC22-AF32-0318-A326CE693DB4}"/>
              </a:ext>
            </a:extLst>
          </p:cNvPr>
          <p:cNvGraphicFramePr>
            <a:graphicFrameLocks noGrp="1"/>
          </p:cNvGraphicFramePr>
          <p:nvPr/>
        </p:nvGraphicFramePr>
        <p:xfrm>
          <a:off x="4456590" y="2578116"/>
          <a:ext cx="3116062" cy="34562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61039">
                  <a:extLst>
                    <a:ext uri="{9D8B030D-6E8A-4147-A177-3AD203B41FA5}">
                      <a16:colId xmlns:a16="http://schemas.microsoft.com/office/drawing/2014/main" val="910660904"/>
                    </a:ext>
                  </a:extLst>
                </a:gridCol>
                <a:gridCol w="752152">
                  <a:extLst>
                    <a:ext uri="{9D8B030D-6E8A-4147-A177-3AD203B41FA5}">
                      <a16:colId xmlns:a16="http://schemas.microsoft.com/office/drawing/2014/main" val="1485421969"/>
                    </a:ext>
                  </a:extLst>
                </a:gridCol>
                <a:gridCol w="1002871">
                  <a:extLst>
                    <a:ext uri="{9D8B030D-6E8A-4147-A177-3AD203B41FA5}">
                      <a16:colId xmlns:a16="http://schemas.microsoft.com/office/drawing/2014/main" val="783709527"/>
                    </a:ext>
                  </a:extLst>
                </a:gridCol>
              </a:tblGrid>
              <a:tr h="362203"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Common_names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Latitude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Longitude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extLst>
                  <a:ext uri="{0D108BD9-81ED-4DB2-BD59-A6C34878D82A}">
                    <a16:rowId xmlns:a16="http://schemas.microsoft.com/office/drawing/2014/main" val="2363723603"/>
                  </a:ext>
                </a:extLst>
              </a:tr>
              <a:tr h="362203"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Rochelas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2.9167 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-75 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extLst>
                  <a:ext uri="{0D108BD9-81ED-4DB2-BD59-A6C34878D82A}">
                    <a16:rowId xmlns:a16="http://schemas.microsoft.com/office/drawing/2014/main" val="965538503"/>
                  </a:ext>
                </a:extLst>
              </a:tr>
              <a:tr h="362203"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Rochelas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2.9167 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-75 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extLst>
                  <a:ext uri="{0D108BD9-81ED-4DB2-BD59-A6C34878D82A}">
                    <a16:rowId xmlns:a16="http://schemas.microsoft.com/office/drawing/2014/main" val="2430178650"/>
                  </a:ext>
                </a:extLst>
              </a:tr>
              <a:tr h="362203"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Rochelas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2.9167 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-75 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extLst>
                  <a:ext uri="{0D108BD9-81ED-4DB2-BD59-A6C34878D82A}">
                    <a16:rowId xmlns:a16="http://schemas.microsoft.com/office/drawing/2014/main" val="3157908033"/>
                  </a:ext>
                </a:extLst>
              </a:tr>
              <a:tr h="362203"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Revoltura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2.9167 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-75 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extLst>
                  <a:ext uri="{0D108BD9-81ED-4DB2-BD59-A6C34878D82A}">
                    <a16:rowId xmlns:a16="http://schemas.microsoft.com/office/drawing/2014/main" val="3168965496"/>
                  </a:ext>
                </a:extLst>
              </a:tr>
              <a:tr h="362203"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Revoltura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2.9167 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-75 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extLst>
                  <a:ext uri="{0D108BD9-81ED-4DB2-BD59-A6C34878D82A}">
                    <a16:rowId xmlns:a16="http://schemas.microsoft.com/office/drawing/2014/main" val="3761227022"/>
                  </a:ext>
                </a:extLst>
              </a:tr>
              <a:tr h="362203"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Revoltura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2.9167 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400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-75 </a:t>
                      </a:r>
                      <a:endParaRPr lang="en-US" sz="1400" b="0" i="0">
                        <a:effectLst/>
                      </a:endParaRPr>
                    </a:p>
                  </a:txBody>
                  <a:tcPr marL="88803" marR="88803" marT="44401" marB="44401" anchor="b"/>
                </a:tc>
                <a:extLst>
                  <a:ext uri="{0D108BD9-81ED-4DB2-BD59-A6C34878D82A}">
                    <a16:rowId xmlns:a16="http://schemas.microsoft.com/office/drawing/2014/main" val="3990129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9955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2A8F-CC4F-7CF8-8B9E-C8860A245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5E2C-381F-2A8C-B59B-77E215EF5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Error types in geographical coordinates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B6956-DA0D-D4DB-7364-58C6C89A0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20526"/>
            <a:ext cx="5349536" cy="1255839"/>
          </a:xfrm>
        </p:spPr>
        <p:txBody>
          <a:bodyPr/>
          <a:lstStyle/>
          <a:p>
            <a:r>
              <a:rPr lang="en-US"/>
              <a:t>Coordinates in the ocean: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E85DF458-F915-08B9-6988-642667214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930" y="2595239"/>
            <a:ext cx="3692139" cy="2431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3599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0B79A-239C-10ED-B242-76475C96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26C09-8572-50D6-0A31-07777034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Error types in geographical coordinates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FDE99-B801-8ADF-0E0A-208292877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 coordinates precision:</a:t>
            </a:r>
          </a:p>
          <a:p>
            <a:pPr marL="76200" indent="0">
              <a:buNone/>
            </a:pPr>
            <a:r>
              <a:rPr lang="en-US" dirty="0"/>
              <a:t>Coordinates can fall right outside the correct region or country.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0B05225-9DB6-6145-A349-AA5C82BD7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043" y="3146301"/>
            <a:ext cx="375285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342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DCCC-2BA3-C9B5-66F5-6F1861389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3DE7-AFF1-15A3-058D-2849241ED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Error types in geographical coordinates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7F92A-23B2-7302-7CFE-84B67820B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Inverted coordinates sign :</a:t>
            </a:r>
          </a:p>
          <a:p>
            <a:pPr marL="76200" indent="0">
              <a:buNone/>
            </a:pPr>
            <a:r>
              <a:rPr lang="en-US" dirty="0"/>
              <a:t>Either the latitude, the longitude, or both have the wrong sign.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A conversion was done from degrees, minutes, and seconds, but the hemisphere (W/E, N/S) was not considered in the conversion.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9356E1-3C4A-10F7-94DD-523AEC79B2E1}"/>
              </a:ext>
            </a:extLst>
          </p:cNvPr>
          <p:cNvGraphicFramePr>
            <a:graphicFrameLocks noGrp="1"/>
          </p:cNvGraphicFramePr>
          <p:nvPr/>
        </p:nvGraphicFramePr>
        <p:xfrm>
          <a:off x="3086100" y="3210084"/>
          <a:ext cx="2286000" cy="1417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51819116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926306951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Latitude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Longitude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6245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 dirty="0">
                          <a:solidFill>
                            <a:srgbClr val="FF0000"/>
                          </a:solidFill>
                          <a:effectLst/>
                        </a:rPr>
                        <a:t>2.9167</a:t>
                      </a:r>
                      <a:r>
                        <a:rPr lang="en-US" sz="1100" b="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75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49036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fontAlgn="b"/>
                      <a:endParaRPr lang="en-US" dirty="0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</a:rPr>
                        <a:t>2.9167 </a:t>
                      </a:r>
                      <a:endParaRPr lang="en-US" b="0" i="0" dirty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 dirty="0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</a:rPr>
                        <a:t>-75 </a:t>
                      </a:r>
                      <a:endParaRPr lang="en-US" b="0" i="0" dirty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9075067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404024E-E198-900F-B2D2-D454D384F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75" y="2828476"/>
            <a:ext cx="3323246" cy="20243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3ECD26-5CB2-FB21-F120-768E4B951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926" y="2828476"/>
            <a:ext cx="2910649" cy="202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3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E2BB9-8A81-5C26-E8B0-ACC0F726D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75B6A-4161-F0B9-6C3A-B609F9935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Error types in geographical coordinates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8D473-B8EF-5C39-EAC6-C1B5CA6E0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Zero coordinates:</a:t>
            </a:r>
          </a:p>
          <a:p>
            <a:endParaRPr lang="en-US"/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r>
              <a:rPr lang="en-US"/>
              <a:t>There can be a lack of standard reporting of missing data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C6A569-5DCC-3316-4655-8E5BEDDAE7C4}"/>
              </a:ext>
            </a:extLst>
          </p:cNvPr>
          <p:cNvGraphicFramePr>
            <a:graphicFrameLocks noGrp="1"/>
          </p:cNvGraphicFramePr>
          <p:nvPr/>
        </p:nvGraphicFramePr>
        <p:xfrm>
          <a:off x="4686670" y="2617931"/>
          <a:ext cx="2286000" cy="1417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51819116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926306951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Latitude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Longitude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6245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49036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-75 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90750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31465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402D4-D86D-A3F2-96B9-AA62CB5B2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B8768-382F-1F7B-2CBE-B71C37E8D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Error types in geographical coordinates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AEE73-A393-79EC-F2FD-8F8CD4852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Coordinates out of collecting country</a:t>
            </a:r>
          </a:p>
          <a:p>
            <a:endParaRPr lang="en-US"/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r>
              <a:rPr lang="en-US"/>
              <a:t>Country of collection in the passport data does not match to where the coordinate falls. </a:t>
            </a:r>
          </a:p>
          <a:p>
            <a:pPr marL="76200" indent="0">
              <a:buNone/>
            </a:pPr>
            <a:r>
              <a:rPr lang="en-US"/>
              <a:t>*The donor country is reported whereas the actual collection location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F78D5C-F31B-9794-19F5-BB02908D111F}"/>
              </a:ext>
            </a:extLst>
          </p:cNvPr>
          <p:cNvGraphicFramePr>
            <a:graphicFrameLocks noGrp="1"/>
          </p:cNvGraphicFramePr>
          <p:nvPr/>
        </p:nvGraphicFramePr>
        <p:xfrm>
          <a:off x="4671965" y="2455133"/>
          <a:ext cx="3353448" cy="194773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03883">
                  <a:extLst>
                    <a:ext uri="{9D8B030D-6E8A-4147-A177-3AD203B41FA5}">
                      <a16:colId xmlns:a16="http://schemas.microsoft.com/office/drawing/2014/main" val="2505821865"/>
                    </a:ext>
                  </a:extLst>
                </a:gridCol>
                <a:gridCol w="831094">
                  <a:extLst>
                    <a:ext uri="{9D8B030D-6E8A-4147-A177-3AD203B41FA5}">
                      <a16:colId xmlns:a16="http://schemas.microsoft.com/office/drawing/2014/main" val="3084736424"/>
                    </a:ext>
                  </a:extLst>
                </a:gridCol>
                <a:gridCol w="1018471">
                  <a:extLst>
                    <a:ext uri="{9D8B030D-6E8A-4147-A177-3AD203B41FA5}">
                      <a16:colId xmlns:a16="http://schemas.microsoft.com/office/drawing/2014/main" val="3183506064"/>
                    </a:ext>
                  </a:extLst>
                </a:gridCol>
              </a:tblGrid>
              <a:tr h="530414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Country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Latitude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Longitude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176648313"/>
                  </a:ext>
                </a:extLst>
              </a:tr>
              <a:tr h="391496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Colombia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 dirty="0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 dirty="0">
                          <a:solidFill>
                            <a:srgbClr val="FF0000"/>
                          </a:solidFill>
                          <a:effectLst/>
                        </a:rPr>
                        <a:t>3.029</a:t>
                      </a:r>
                      <a:r>
                        <a:rPr lang="en-US" sz="1100" b="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114.028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665093757"/>
                  </a:ext>
                </a:extLst>
              </a:tr>
              <a:tr h="391496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Colombia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2.9167 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-75 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199234461"/>
                  </a:ext>
                </a:extLst>
              </a:tr>
              <a:tr h="391496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Colombia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2.9167 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 dirty="0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</a:rPr>
                        <a:t>-75 </a:t>
                      </a:r>
                      <a:endParaRPr lang="en-US" b="0" i="0" dirty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05439833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2032332-27A3-A4CE-ED72-6E4193601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614" y="2455133"/>
            <a:ext cx="2880723" cy="194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3116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AB4E4-030A-D23D-A34B-BC15E1308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8CC05-4A1D-A1E5-D5FF-EB140F58D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Error types in geographical coordinates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F7D48-67E2-99C6-7F40-EAB197BB7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Straight-line pattern in latitude or longitude: </a:t>
            </a:r>
          </a:p>
          <a:p>
            <a:pPr lvl="1"/>
            <a:r>
              <a:rPr lang="en-US" dirty="0"/>
              <a:t>Sampling effort? </a:t>
            </a:r>
          </a:p>
          <a:p>
            <a:pPr lvl="1"/>
            <a:r>
              <a:rPr lang="en-US" dirty="0"/>
              <a:t>Errors in coordinates?</a:t>
            </a:r>
          </a:p>
          <a:p>
            <a:pPr lvl="1"/>
            <a:r>
              <a:rPr lang="en-US" dirty="0"/>
              <a:t>?</a:t>
            </a:r>
          </a:p>
          <a:p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61637EB-83FE-6826-FD66-30BE30C73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255" y="2334433"/>
            <a:ext cx="5449595" cy="354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864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9B19F-6C45-81B9-16D7-2180156BB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D8686-6337-4FF0-C1BF-976A61D1D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Error types in geographical coordinates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90A1E-C883-6879-65A9-444BE3382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Decimal degrees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/>
              <a:t>Missing E/W and/or N/S letters </a:t>
            </a:r>
          </a:p>
          <a:p>
            <a:endParaRPr lang="en-US"/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D72E38-04B7-AA6A-3F09-D8D31598DBA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851315"/>
          <a:ext cx="4428617" cy="188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51395">
                  <a:extLst>
                    <a:ext uri="{9D8B030D-6E8A-4147-A177-3AD203B41FA5}">
                      <a16:colId xmlns:a16="http://schemas.microsoft.com/office/drawing/2014/main" val="2701932417"/>
                    </a:ext>
                  </a:extLst>
                </a:gridCol>
                <a:gridCol w="1376965">
                  <a:extLst>
                    <a:ext uri="{9D8B030D-6E8A-4147-A177-3AD203B41FA5}">
                      <a16:colId xmlns:a16="http://schemas.microsoft.com/office/drawing/2014/main" val="593611205"/>
                    </a:ext>
                  </a:extLst>
                </a:gridCol>
                <a:gridCol w="1600257">
                  <a:extLst>
                    <a:ext uri="{9D8B030D-6E8A-4147-A177-3AD203B41FA5}">
                      <a16:colId xmlns:a16="http://schemas.microsoft.com/office/drawing/2014/main" val="785351494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Common_names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Latitude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Longitude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572163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Rochelas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2.9167</a:t>
                      </a:r>
                      <a:r>
                        <a:rPr lang="en-US" sz="1100" b="0">
                          <a:effectLst/>
                        </a:rPr>
                        <a:t> º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 N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75</a:t>
                      </a:r>
                      <a:r>
                        <a:rPr lang="en-US" sz="1100" b="0">
                          <a:effectLst/>
                        </a:rPr>
                        <a:t> º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 W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27817427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Revoltura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2.9167N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75W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52330057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 err="1">
                          <a:solidFill>
                            <a:srgbClr val="000000"/>
                          </a:solidFill>
                          <a:effectLst/>
                        </a:rPr>
                        <a:t>Revoltura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2.9167N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75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75444739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072327-E934-BF7E-5861-948EE8843DC5}"/>
              </a:ext>
            </a:extLst>
          </p:cNvPr>
          <p:cNvGraphicFramePr>
            <a:graphicFrameLocks noGrp="1"/>
          </p:cNvGraphicFramePr>
          <p:nvPr/>
        </p:nvGraphicFramePr>
        <p:xfrm>
          <a:off x="6017951" y="2851316"/>
          <a:ext cx="5478632" cy="194263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68668">
                  <a:extLst>
                    <a:ext uri="{9D8B030D-6E8A-4147-A177-3AD203B41FA5}">
                      <a16:colId xmlns:a16="http://schemas.microsoft.com/office/drawing/2014/main" val="2314591843"/>
                    </a:ext>
                  </a:extLst>
                </a:gridCol>
                <a:gridCol w="959931">
                  <a:extLst>
                    <a:ext uri="{9D8B030D-6E8A-4147-A177-3AD203B41FA5}">
                      <a16:colId xmlns:a16="http://schemas.microsoft.com/office/drawing/2014/main" val="1886337480"/>
                    </a:ext>
                  </a:extLst>
                </a:gridCol>
                <a:gridCol w="995051">
                  <a:extLst>
                    <a:ext uri="{9D8B030D-6E8A-4147-A177-3AD203B41FA5}">
                      <a16:colId xmlns:a16="http://schemas.microsoft.com/office/drawing/2014/main" val="2284866378"/>
                    </a:ext>
                  </a:extLst>
                </a:gridCol>
                <a:gridCol w="948225">
                  <a:extLst>
                    <a:ext uri="{9D8B030D-6E8A-4147-A177-3AD203B41FA5}">
                      <a16:colId xmlns:a16="http://schemas.microsoft.com/office/drawing/2014/main" val="402477749"/>
                    </a:ext>
                  </a:extLst>
                </a:gridCol>
                <a:gridCol w="1006757">
                  <a:extLst>
                    <a:ext uri="{9D8B030D-6E8A-4147-A177-3AD203B41FA5}">
                      <a16:colId xmlns:a16="http://schemas.microsoft.com/office/drawing/2014/main" val="1266117874"/>
                    </a:ext>
                  </a:extLst>
                </a:gridCol>
              </a:tblGrid>
              <a:tr h="525317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Common_names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Latitude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t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Lat_letter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Longitude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t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Lon_letter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981570"/>
                  </a:ext>
                </a:extLst>
              </a:tr>
              <a:tr h="422130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Rochelas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2.9167 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N </a:t>
                      </a:r>
                      <a:endParaRPr lang="en-US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75</a:t>
                      </a:r>
                      <a:r>
                        <a:rPr lang="en-US" sz="1100" b="0">
                          <a:effectLst/>
                        </a:rPr>
                        <a:t> 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W </a:t>
                      </a:r>
                      <a:endParaRPr lang="en-US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604871"/>
                  </a:ext>
                </a:extLst>
              </a:tr>
              <a:tr h="422130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Revoltura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2.9167 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N </a:t>
                      </a:r>
                      <a:endParaRPr lang="en-US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75 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W </a:t>
                      </a:r>
                      <a:endParaRPr lang="en-US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507830"/>
                  </a:ext>
                </a:extLst>
              </a:tr>
              <a:tr h="422130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Revoltura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2.9167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N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75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6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365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E1880-6426-DA44-7922-80D275385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9213F-A117-5C80-8AC7-A350C3319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Error types in geographical coordinates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B4DE8-DC1B-1736-9B98-6155BA8BF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Degrees, Minutes, Seconds (DMS)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/>
              <a:t>Missing symbols º or ’ or “, or missing values at degree, minute or second </a:t>
            </a:r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A4C9E2-B7F4-EA55-E7E5-D039766265F5}"/>
              </a:ext>
            </a:extLst>
          </p:cNvPr>
          <p:cNvGraphicFramePr>
            <a:graphicFrameLocks noGrp="1"/>
          </p:cNvGraphicFramePr>
          <p:nvPr/>
        </p:nvGraphicFramePr>
        <p:xfrm>
          <a:off x="2972123" y="2902998"/>
          <a:ext cx="5381763" cy="2362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862354">
                  <a:extLst>
                    <a:ext uri="{9D8B030D-6E8A-4147-A177-3AD203B41FA5}">
                      <a16:colId xmlns:a16="http://schemas.microsoft.com/office/drawing/2014/main" val="3983009077"/>
                    </a:ext>
                  </a:extLst>
                </a:gridCol>
                <a:gridCol w="1627727">
                  <a:extLst>
                    <a:ext uri="{9D8B030D-6E8A-4147-A177-3AD203B41FA5}">
                      <a16:colId xmlns:a16="http://schemas.microsoft.com/office/drawing/2014/main" val="813497822"/>
                    </a:ext>
                  </a:extLst>
                </a:gridCol>
                <a:gridCol w="1891682">
                  <a:extLst>
                    <a:ext uri="{9D8B030D-6E8A-4147-A177-3AD203B41FA5}">
                      <a16:colId xmlns:a16="http://schemas.microsoft.com/office/drawing/2014/main" val="448239525"/>
                    </a:ext>
                  </a:extLst>
                </a:gridCol>
              </a:tblGrid>
              <a:tr h="444716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Common_names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Latitude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Longitude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888570794"/>
                  </a:ext>
                </a:extLst>
              </a:tr>
              <a:tr h="399959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Rochelas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40</a:t>
                      </a:r>
                      <a:r>
                        <a:rPr lang="en-US" sz="1100" b="0">
                          <a:effectLst/>
                        </a:rPr>
                        <a:t>º 42’46”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N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74</a:t>
                      </a:r>
                      <a:r>
                        <a:rPr lang="en-US" sz="1100" b="0">
                          <a:effectLst/>
                        </a:rPr>
                        <a:t>º 0’ 22”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W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827219061"/>
                  </a:ext>
                </a:extLst>
              </a:tr>
              <a:tr h="399959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Revoltura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40  42 46 N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74  0’ 22”W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612642337"/>
                  </a:ext>
                </a:extLst>
              </a:tr>
              <a:tr h="399959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Revoltura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40º 42’46 N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74º 0’ 22”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328629889"/>
                  </a:ext>
                </a:extLst>
              </a:tr>
              <a:tr h="399959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Rochelas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40º 42’N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74º  22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693492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68292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F4E50-0DD9-329B-776B-B955B56B2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BD63C-E36A-C516-432A-61473C502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Error types in geographical coordinates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731A9-C7AD-F01C-F46A-219C5EC7A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Degrees and Decimal minutes (DMM)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/>
              <a:t>Missing symbols º or ’ or “, or missing values at degree, minute or second </a:t>
            </a:r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endParaRPr lang="en-US"/>
          </a:p>
          <a:p>
            <a:pPr marL="76200" indent="0">
              <a:buNone/>
            </a:pP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34A4AE-3121-C8F9-80D5-E16B4C43DD53}"/>
              </a:ext>
            </a:extLst>
          </p:cNvPr>
          <p:cNvGraphicFramePr>
            <a:graphicFrameLocks noGrp="1"/>
          </p:cNvGraphicFramePr>
          <p:nvPr/>
        </p:nvGraphicFramePr>
        <p:xfrm>
          <a:off x="3508020" y="2811402"/>
          <a:ext cx="4952399" cy="242607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23055">
                  <a:extLst>
                    <a:ext uri="{9D8B030D-6E8A-4147-A177-3AD203B41FA5}">
                      <a16:colId xmlns:a16="http://schemas.microsoft.com/office/drawing/2014/main" val="3785691482"/>
                    </a:ext>
                  </a:extLst>
                </a:gridCol>
                <a:gridCol w="1539822">
                  <a:extLst>
                    <a:ext uri="{9D8B030D-6E8A-4147-A177-3AD203B41FA5}">
                      <a16:colId xmlns:a16="http://schemas.microsoft.com/office/drawing/2014/main" val="4278417227"/>
                    </a:ext>
                  </a:extLst>
                </a:gridCol>
                <a:gridCol w="1789522">
                  <a:extLst>
                    <a:ext uri="{9D8B030D-6E8A-4147-A177-3AD203B41FA5}">
                      <a16:colId xmlns:a16="http://schemas.microsoft.com/office/drawing/2014/main" val="316412788"/>
                    </a:ext>
                  </a:extLst>
                </a:gridCol>
              </a:tblGrid>
              <a:tr h="536312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Common_names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Latitude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Longitude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275184548"/>
                  </a:ext>
                </a:extLst>
              </a:tr>
              <a:tr h="395850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Rochelas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40</a:t>
                      </a:r>
                      <a:r>
                        <a:rPr lang="en-US" sz="1100" b="0">
                          <a:effectLst/>
                        </a:rPr>
                        <a:t>º 42.767’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N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74</a:t>
                      </a:r>
                      <a:r>
                        <a:rPr lang="en-US" sz="1100" b="0">
                          <a:effectLst/>
                        </a:rPr>
                        <a:t>º 0.367’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W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844252320"/>
                  </a:ext>
                </a:extLst>
              </a:tr>
              <a:tr h="395850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Revoltura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40 N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74  22 W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245188319"/>
                  </a:ext>
                </a:extLst>
              </a:tr>
              <a:tr h="395850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Revoltura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40º 42’46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74º 0’ 22”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48371038"/>
                  </a:ext>
                </a:extLst>
              </a:tr>
              <a:tr h="395850"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000000"/>
                          </a:solidFill>
                          <a:effectLst/>
                        </a:rPr>
                        <a:t>Rochelas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40 42 N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endParaRPr lang="en-US">
                        <a:effectLst/>
                      </a:endParaRPr>
                    </a:p>
                    <a:p>
                      <a:pPr algn="r" rtl="0" fontAlgn="base"/>
                      <a:r>
                        <a:rPr lang="en-US" sz="1100" b="0">
                          <a:solidFill>
                            <a:srgbClr val="FF0000"/>
                          </a:solidFill>
                          <a:effectLst/>
                        </a:rPr>
                        <a:t>74 22 </a:t>
                      </a:r>
                      <a:endParaRPr lang="en-US" b="0" i="0"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936962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0312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2F9BE-E2F4-122E-BF94-335114A08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76B65-15DB-0542-9420-FD7FED00F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Error types in geographical coordinates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6085-2567-F347-641A-EC0568A44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Datum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4D4D4D"/>
                </a:solidFill>
                <a:effectLst/>
                <a:latin typeface="Lucida Grande"/>
              </a:rPr>
              <a:t>A datum provides a frame of reference for measuring locations on the surface of the earth. It defines the origin and orientation of latitude and longitude lines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4D4D4D"/>
                </a:solidFill>
                <a:effectLst/>
                <a:latin typeface="Lucida Grande"/>
              </a:rPr>
              <a:t>WGS 1984</a:t>
            </a:r>
            <a:r>
              <a:rPr lang="en-US" dirty="0">
                <a:solidFill>
                  <a:srgbClr val="4D4D4D"/>
                </a:solidFill>
                <a:latin typeface="Lucida Grande"/>
              </a:rPr>
              <a:t> (The most used) </a:t>
            </a:r>
            <a:endParaRPr lang="en-US" dirty="0"/>
          </a:p>
          <a:p>
            <a:r>
              <a:rPr lang="en-US" dirty="0">
                <a:solidFill>
                  <a:srgbClr val="4D4D4D"/>
                </a:solidFill>
                <a:latin typeface="Lucida Grande"/>
              </a:rPr>
              <a:t>Geographic Coordinate System (GCS)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4D4D4D"/>
                </a:solidFill>
                <a:effectLst/>
                <a:latin typeface="Lucida Grande"/>
              </a:rPr>
              <a:t>Define locations on a model of the surface of the earth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4D4D4D"/>
                </a:solidFill>
                <a:effectLst/>
                <a:latin typeface="Lucida Grande"/>
              </a:rPr>
              <a:t>WGS 1984</a:t>
            </a:r>
            <a:r>
              <a:rPr lang="en-US" dirty="0">
                <a:solidFill>
                  <a:srgbClr val="4D4D4D"/>
                </a:solidFill>
                <a:latin typeface="Lucida Grande"/>
              </a:rPr>
              <a:t> (The most used) </a:t>
            </a:r>
            <a:endParaRPr lang="en-US" dirty="0"/>
          </a:p>
          <a:p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</p:txBody>
      </p:sp>
      <p:pic>
        <p:nvPicPr>
          <p:cNvPr id="1026" name="Picture 2" descr="Illustration of the graticular network">
            <a:extLst>
              <a:ext uri="{FF2B5EF4-FFF2-40B4-BE49-F238E27FC236}">
                <a16:creationId xmlns:a16="http://schemas.microsoft.com/office/drawing/2014/main" id="{263AE1C7-2960-66AA-E99E-14D42E82B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25" y="4228789"/>
            <a:ext cx="5314950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same location on a GCS and a PCS">
            <a:extLst>
              <a:ext uri="{FF2B5EF4-FFF2-40B4-BE49-F238E27FC236}">
                <a16:creationId xmlns:a16="http://schemas.microsoft.com/office/drawing/2014/main" id="{209BE6C3-E38F-65A6-3CC0-07DD12661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299" y="4126867"/>
            <a:ext cx="3375025" cy="197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1097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99C45-C76F-3FC0-6D54-0938B2A86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808000"/>
                </a:highlight>
              </a:rPr>
              <a:t>Geographical coordinates</a:t>
            </a:r>
            <a:br>
              <a:rPr lang="en-US" dirty="0">
                <a:highlight>
                  <a:srgbClr val="808000"/>
                </a:highlight>
              </a:rPr>
            </a:b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3BFE5B-91CE-D286-5B0F-306EB51AF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20838"/>
            <a:ext cx="10515600" cy="4351337"/>
          </a:xfrm>
        </p:spPr>
        <p:txBody>
          <a:bodyPr/>
          <a:lstStyle/>
          <a:p>
            <a:r>
              <a:rPr lang="en-US" dirty="0"/>
              <a:t>How to evaluate the quality of geographical coordinates reported for a given accession?</a:t>
            </a:r>
          </a:p>
          <a:p>
            <a:endParaRPr lang="en-US" dirty="0"/>
          </a:p>
          <a:p>
            <a:r>
              <a:rPr lang="en-US" dirty="0"/>
              <a:t>Ideas?</a:t>
            </a:r>
          </a:p>
        </p:txBody>
      </p:sp>
    </p:spTree>
    <p:extLst>
      <p:ext uri="{BB962C8B-B14F-4D97-AF65-F5344CB8AC3E}">
        <p14:creationId xmlns:p14="http://schemas.microsoft.com/office/powerpoint/2010/main" val="16627932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FFE95-1EC1-DCA1-9F51-68BCC3EC3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How to evaluate the quality of geographical coordinates reported for a given accession?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Ideas?</a:t>
            </a:r>
            <a:br>
              <a:rPr lang="en-US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458463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C01D3-2533-2E44-AEF9-F383D436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15A78-DF48-A7A1-FCCE-C8529015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Georeferentiation</a:t>
            </a:r>
            <a:endParaRPr lang="en-US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6400F86D-177A-7A9B-7B70-FC3FB0AF0264}"/>
              </a:ext>
            </a:extLst>
          </p:cNvPr>
          <p:cNvSpPr txBox="1">
            <a:spLocks/>
          </p:cNvSpPr>
          <p:nvPr/>
        </p:nvSpPr>
        <p:spPr>
          <a:xfrm>
            <a:off x="1101828" y="4476098"/>
            <a:ext cx="10515600" cy="1087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Obtaining geographical information from passport data</a:t>
            </a:r>
          </a:p>
        </p:txBody>
      </p:sp>
    </p:spTree>
    <p:extLst>
      <p:ext uri="{BB962C8B-B14F-4D97-AF65-F5344CB8AC3E}">
        <p14:creationId xmlns:p14="http://schemas.microsoft.com/office/powerpoint/2010/main" val="5101910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36DC3-985A-E987-311C-4003BCD9F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obtain records from existent data (Georeferentiation)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A5383-DBD7-18F3-65E6-99D7E857E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27BC1B-8AF1-C171-B4C8-B1EF000C92F7}"/>
              </a:ext>
            </a:extLst>
          </p:cNvPr>
          <p:cNvSpPr txBox="1">
            <a:spLocks/>
          </p:cNvSpPr>
          <p:nvPr/>
        </p:nvSpPr>
        <p:spPr>
          <a:xfrm>
            <a:off x="505028" y="1253331"/>
            <a:ext cx="10515600" cy="416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B3838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1"/>
            <a:r>
              <a:rPr lang="en-US" dirty="0">
                <a:hlinkClick r:id="rId2"/>
              </a:rPr>
              <a:t>https://www.geo-locate.org/</a:t>
            </a:r>
            <a:r>
              <a:rPr lang="en-US" dirty="0"/>
              <a:t> (Lets try georeferencing some data!)</a:t>
            </a:r>
          </a:p>
          <a:p>
            <a:pPr marL="457200" lvl="1" indent="0">
              <a:buFont typeface="Arial"/>
              <a:buNone/>
            </a:pPr>
            <a:endParaRPr lang="en-US" dirty="0"/>
          </a:p>
          <a:p>
            <a:pPr marL="457200" lvl="1" indent="0">
              <a:buFont typeface="Arial"/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1ABAD9-EC9E-8839-87F2-DD6A5E8EBB2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5028" y="1501296"/>
            <a:ext cx="10336067" cy="46393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801D70-88C9-E160-978B-4ABAD9184358}"/>
              </a:ext>
            </a:extLst>
          </p:cNvPr>
          <p:cNvSpPr txBox="1"/>
          <p:nvPr/>
        </p:nvSpPr>
        <p:spPr>
          <a:xfrm>
            <a:off x="4926152" y="622331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Wieczorek et al., 2004</a:t>
            </a:r>
          </a:p>
        </p:txBody>
      </p:sp>
    </p:spTree>
    <p:extLst>
      <p:ext uri="{BB962C8B-B14F-4D97-AF65-F5344CB8AC3E}">
        <p14:creationId xmlns:p14="http://schemas.microsoft.com/office/powerpoint/2010/main" val="12422092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9B1DA-65A2-831E-91E0-C665C4C77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3F2E2-9A21-2141-F4CD-08B12E480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07F722-9260-F5BB-471B-EFF574D06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16932" cy="64325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93E696-A03B-F473-66D8-1250EDAF8F55}"/>
              </a:ext>
            </a:extLst>
          </p:cNvPr>
          <p:cNvSpPr txBox="1">
            <a:spLocks/>
          </p:cNvSpPr>
          <p:nvPr/>
        </p:nvSpPr>
        <p:spPr>
          <a:xfrm>
            <a:off x="6757311" y="499745"/>
            <a:ext cx="414745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B3838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The uncertainty matters</a:t>
            </a:r>
          </a:p>
          <a:p>
            <a:r>
              <a:rPr lang="en-US"/>
              <a:t>Point-radius method:</a:t>
            </a:r>
          </a:p>
          <a:p>
            <a:pPr marL="0" indent="0">
              <a:buFont typeface="Arial"/>
              <a:buNone/>
            </a:pPr>
            <a:r>
              <a:rPr lang="en-US"/>
              <a:t>The point-radius method describes a locality as a coordinate pair and a distance from that point (that is, a circle) </a:t>
            </a:r>
            <a:endParaRPr lang="en-US" dirty="0"/>
          </a:p>
        </p:txBody>
      </p:sp>
      <p:pic>
        <p:nvPicPr>
          <p:cNvPr id="7" name="Content Placeholder 9">
            <a:extLst>
              <a:ext uri="{FF2B5EF4-FFF2-40B4-BE49-F238E27FC236}">
                <a16:creationId xmlns:a16="http://schemas.microsoft.com/office/drawing/2014/main" id="{135154F5-14F0-857E-8299-46C4AD912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453445"/>
            <a:ext cx="5181600" cy="152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3163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B786D-7355-9D1D-FB29-E2523158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Recommendations to report geographical data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How to report geographical data!</a:t>
            </a:r>
            <a:br>
              <a:rPr lang="en-US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930505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DDF23-CD30-0D4B-9633-8593173E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0B5F1-4CB2-1100-E0F5-2CF193D8E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is not a unique way to report data. Nevertheless…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0168-6BC6-D70A-6B43-11683105D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</a:t>
            </a:r>
            <a:r>
              <a:rPr lang="en-US" dirty="0" err="1"/>
              <a:t>Multicrop</a:t>
            </a:r>
            <a:r>
              <a:rPr lang="en-US" dirty="0"/>
              <a:t> Passport Descriptors (MCPD)! </a:t>
            </a:r>
            <a:r>
              <a:rPr lang="en-US" dirty="0">
                <a:hlinkClick r:id="rId2"/>
              </a:rPr>
              <a:t>https://cgspace.cgiar.org/server/api/core/bitstreams/7947d48c-5cf1-4164-8c61-fa276d658463/content</a:t>
            </a:r>
            <a:r>
              <a:rPr lang="en-US" dirty="0"/>
              <a:t> </a:t>
            </a:r>
          </a:p>
          <a:p>
            <a:r>
              <a:rPr lang="en-US" dirty="0"/>
              <a:t>Follow Darwin Core Standards! </a:t>
            </a:r>
            <a:r>
              <a:rPr lang="pl-PL" dirty="0">
                <a:hlinkClick r:id="rId3"/>
              </a:rPr>
              <a:t>http://rs.tdwg.org/dwc</a:t>
            </a:r>
            <a:endParaRPr lang="en-US" dirty="0"/>
          </a:p>
          <a:p>
            <a:r>
              <a:rPr lang="en-US" dirty="0"/>
              <a:t>Follow FAO standards! </a:t>
            </a:r>
            <a:r>
              <a:rPr lang="en-US" dirty="0">
                <a:hlinkClick r:id="rId4"/>
              </a:rPr>
              <a:t>https://www.fao.org/4/i3704e/i3704e.pdf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69528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4F7C-D03F-DCB6-3101-8BDB9A89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MCDP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4C401-13FA-59FB-E618-ADBDF55AD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A7287-FCDF-DC16-487E-688D26F23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578" y="1243964"/>
            <a:ext cx="6449325" cy="1905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94EB9A-C269-4C01-C98F-B3C84A44E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193" y="3548239"/>
            <a:ext cx="6306430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5262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4E61-08D4-83F6-9DAB-4908A8DFC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EA47A-B994-E696-50FF-075026D82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39082B-3543-74F1-7C3A-0929F3F6B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601" y="1814287"/>
            <a:ext cx="6258798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358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85AEB-EBAB-3FD7-7E0E-B84F194B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DarwinCore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87EF0-E054-E479-EB49-5D193D254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EA3D2D-20F1-81D8-204C-078A9DA87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7" y="1176337"/>
            <a:ext cx="6911305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369E80-5FE5-576D-89AD-A4B63A7E5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281" y="990600"/>
            <a:ext cx="52948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629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B423E-3DB4-9F7D-DF87-F84452778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87CCEE6-E656-C82A-7A21-DA5DB4D64446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3FA357-0412-9120-193B-638C139F7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09DA51-A98B-567C-5126-38E543C4E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769" y="171450"/>
            <a:ext cx="6636231" cy="65151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383770-BE8B-DCDA-1E63-82D68311C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3EB9BD-CC30-1542-B30A-903B3A816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48" y="0"/>
            <a:ext cx="38877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0591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05EFC9B-ABFA-89D9-1CF5-A110DCC429A2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5A2434F-06E6-8E00-4435-8CB16769F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69D161-6655-9498-A873-35B31601F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5AD391-C8A6-7B19-3810-84A638DE0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398" y="0"/>
            <a:ext cx="56432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484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05624-315F-70DA-0014-8B40599A2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C3EC6-5EA9-23D5-D983-59A774489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we do to obtain data for the gap analyses?</a:t>
            </a:r>
            <a:endParaRPr lang="en-US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5EC58614-5C69-F3B1-F106-653D958119CD}"/>
              </a:ext>
            </a:extLst>
          </p:cNvPr>
          <p:cNvSpPr txBox="1">
            <a:spLocks/>
          </p:cNvSpPr>
          <p:nvPr/>
        </p:nvSpPr>
        <p:spPr>
          <a:xfrm>
            <a:off x="1101828" y="4476098"/>
            <a:ext cx="10515600" cy="1087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3374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B0BF5-CDBD-0122-1B08-230D54E12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CAB8-1F4A-BD44-13A8-EFB0B416A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questions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CADB51-FCD5-4DF3-DA6E-8A6EDC6A166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90524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CD0DA-FB93-F06B-50B8-896B6132A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questions + the procedures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8749D5-A9BE-FAC2-F822-6B757AD7C9DC}"/>
              </a:ext>
            </a:extLst>
          </p:cNvPr>
          <p:cNvGraphicFramePr>
            <a:graphicFrameLocks/>
          </p:cNvGraphicFramePr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70245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F3C71-ECAF-77AE-3F94-24E6BEF68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a gap </a:t>
            </a:r>
            <a:r>
              <a:rPr lang="es-ES" dirty="0" err="1"/>
              <a:t>analysis</a:t>
            </a:r>
            <a:r>
              <a:rPr lang="es-ES" dirty="0"/>
              <a:t> step </a:t>
            </a:r>
            <a:r>
              <a:rPr lang="es-ES" dirty="0" err="1"/>
              <a:t>by</a:t>
            </a:r>
            <a:r>
              <a:rPr lang="es-ES" dirty="0"/>
              <a:t> step looks </a:t>
            </a:r>
            <a:r>
              <a:rPr lang="es-ES" dirty="0" err="1"/>
              <a:t>like</a:t>
            </a:r>
            <a:r>
              <a:rPr lang="es-ES" dirty="0"/>
              <a:t>!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765718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372D9-15FC-3B2D-D32B-60F95A5B9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77329A2-BC79-C1D0-8266-88966A475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381" y="-58587"/>
            <a:ext cx="9497750" cy="683037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CDAD250-56BB-961C-B861-4A7E4EEF9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812" y="997066"/>
            <a:ext cx="434396" cy="38967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6607C38-4173-0015-7726-79617D302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1544" y="2003051"/>
            <a:ext cx="817254" cy="80916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ED096D6-2902-6801-FE88-9C654BC095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4734" y="3094992"/>
            <a:ext cx="388552" cy="38855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7EEBB2F-B152-A101-B142-2419C61654C6}"/>
              </a:ext>
            </a:extLst>
          </p:cNvPr>
          <p:cNvSpPr txBox="1"/>
          <p:nvPr/>
        </p:nvSpPr>
        <p:spPr>
          <a:xfrm>
            <a:off x="10438798" y="1042644"/>
            <a:ext cx="2335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Germplasm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F951325-2AE6-CE1C-C311-2C0685F1E8F5}"/>
              </a:ext>
            </a:extLst>
          </p:cNvPr>
          <p:cNvSpPr txBox="1"/>
          <p:nvPr/>
        </p:nvSpPr>
        <p:spPr>
          <a:xfrm>
            <a:off x="10438798" y="1508788"/>
            <a:ext cx="2335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coordinates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BB84A66-BD8F-6F81-9918-CBD074ADC479}"/>
              </a:ext>
            </a:extLst>
          </p:cNvPr>
          <p:cNvSpPr txBox="1"/>
          <p:nvPr/>
        </p:nvSpPr>
        <p:spPr>
          <a:xfrm>
            <a:off x="10114903" y="2242828"/>
            <a:ext cx="2335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Collected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germplasm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4E36484-0807-4F6E-0D53-312F0D33CF23}"/>
              </a:ext>
            </a:extLst>
          </p:cNvPr>
          <p:cNvSpPr txBox="1"/>
          <p:nvPr/>
        </p:nvSpPr>
        <p:spPr>
          <a:xfrm>
            <a:off x="10111843" y="3094992"/>
            <a:ext cx="2335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latin typeface="Arial" panose="020B0604020202020204" pitchFamily="34" charset="0"/>
                <a:cs typeface="Arial" panose="020B0604020202020204" pitchFamily="34" charset="0"/>
              </a:rPr>
              <a:t>Potential area to be collected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909C59-6EF2-F076-97E4-7408647FD90C}"/>
              </a:ext>
            </a:extLst>
          </p:cNvPr>
          <p:cNvSpPr txBox="1"/>
          <p:nvPr/>
        </p:nvSpPr>
        <p:spPr>
          <a:xfrm>
            <a:off x="540117" y="2766236"/>
            <a:ext cx="3905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Species </a:t>
            </a:r>
            <a: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occurrences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D274BB2-5CC4-4338-2EB0-AE0676345777}"/>
              </a:ext>
            </a:extLst>
          </p:cNvPr>
          <p:cNvSpPr txBox="1"/>
          <p:nvPr/>
        </p:nvSpPr>
        <p:spPr>
          <a:xfrm>
            <a:off x="5508739" y="2766048"/>
            <a:ext cx="3527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Realized niche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CEC8F98-CBAA-5F6A-CA79-0B69342B3AC7}"/>
              </a:ext>
            </a:extLst>
          </p:cNvPr>
          <p:cNvSpPr txBox="1"/>
          <p:nvPr/>
        </p:nvSpPr>
        <p:spPr>
          <a:xfrm>
            <a:off x="815533" y="5791926"/>
            <a:ext cx="35271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Sampled germplasm</a:t>
            </a:r>
            <a:endParaRPr lang="en-US" sz="28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BBD337D-2379-D5BF-AE80-BADAC575E08B}"/>
              </a:ext>
            </a:extLst>
          </p:cNvPr>
          <p:cNvSpPr txBox="1"/>
          <p:nvPr/>
        </p:nvSpPr>
        <p:spPr>
          <a:xfrm>
            <a:off x="5598926" y="6055316"/>
            <a:ext cx="3527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Where to collect</a:t>
            </a:r>
            <a:endParaRPr lang="en-US" sz="28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4209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C64D-9A7B-9BBC-4704-2A0EFAD87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7689" y="4433"/>
            <a:ext cx="2298700" cy="1053477"/>
          </a:xfrm>
        </p:spPr>
        <p:txBody>
          <a:bodyPr>
            <a:normAutofit fontScale="90000"/>
          </a:bodyPr>
          <a:lstStyle/>
          <a:p>
            <a:r>
              <a:rPr lang="en-US" dirty="0"/>
              <a:t>Download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730F8-0F9F-EE7F-BDD0-6955EA642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2" y="931244"/>
            <a:ext cx="2445890" cy="930898"/>
          </a:xfrm>
          <a:prstGeom prst="rect">
            <a:avLst/>
          </a:prstGeom>
          <a:ln w="57150">
            <a:solidFill>
              <a:schemeClr val="accent2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83155D-76D7-5526-D5BF-5EE8F1224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3" y="2253660"/>
            <a:ext cx="2445889" cy="436163"/>
          </a:xfrm>
          <a:prstGeom prst="rect">
            <a:avLst/>
          </a:prstGeom>
          <a:ln w="57150">
            <a:solidFill>
              <a:schemeClr val="accent2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CE44A4-0CD6-B26B-DE05-4951E0190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604" y="743503"/>
            <a:ext cx="2598963" cy="559659"/>
          </a:xfrm>
          <a:prstGeom prst="rect">
            <a:avLst/>
          </a:prstGeom>
          <a:ln w="38100">
            <a:solidFill>
              <a:schemeClr val="accent3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8A479-F89A-A564-AD1F-D7E7F2321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7689" y="1443634"/>
            <a:ext cx="2010056" cy="562053"/>
          </a:xfrm>
          <a:prstGeom prst="rect">
            <a:avLst/>
          </a:prstGeom>
          <a:ln w="38100">
            <a:solidFill>
              <a:schemeClr val="accent3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144278-EBB3-D657-E7FC-A5CEC23DD8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7513" y="3004176"/>
            <a:ext cx="730403" cy="559659"/>
          </a:xfrm>
          <a:prstGeom prst="rect">
            <a:avLst/>
          </a:prstGeom>
          <a:ln w="38100">
            <a:solidFill>
              <a:schemeClr val="accent3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AEC677B-B70F-92A2-DDB1-A93A3B4213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9135" y="2158786"/>
            <a:ext cx="1867161" cy="562053"/>
          </a:xfrm>
          <a:prstGeom prst="rect">
            <a:avLst/>
          </a:prstGeom>
          <a:ln w="38100">
            <a:solidFill>
              <a:schemeClr val="accent3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850AFE1B-621B-6540-A5B4-289FBA52846B}"/>
              </a:ext>
            </a:extLst>
          </p:cNvPr>
          <p:cNvSpPr/>
          <p:nvPr/>
        </p:nvSpPr>
        <p:spPr>
          <a:xfrm>
            <a:off x="2996466" y="1648783"/>
            <a:ext cx="660400" cy="6048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D5EE2C2F-553E-79BF-AA23-2182EC55ABAA}"/>
              </a:ext>
            </a:extLst>
          </p:cNvPr>
          <p:cNvSpPr/>
          <p:nvPr/>
        </p:nvSpPr>
        <p:spPr>
          <a:xfrm>
            <a:off x="6412005" y="1648783"/>
            <a:ext cx="660400" cy="6048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3466B5C-B576-317F-4962-D7F64A7C559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2944"/>
          <a:stretch/>
        </p:blipFill>
        <p:spPr>
          <a:xfrm>
            <a:off x="7418849" y="1023333"/>
            <a:ext cx="4637467" cy="1802418"/>
          </a:xfrm>
          <a:prstGeom prst="rect">
            <a:avLst/>
          </a:prstGeom>
          <a:ln w="57150">
            <a:solidFill>
              <a:schemeClr val="accent4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FA44773E-B7F1-C112-1D1E-D6A95D791AA2}"/>
              </a:ext>
            </a:extLst>
          </p:cNvPr>
          <p:cNvSpPr txBox="1">
            <a:spLocks/>
          </p:cNvSpPr>
          <p:nvPr/>
        </p:nvSpPr>
        <p:spPr>
          <a:xfrm>
            <a:off x="231711" y="0"/>
            <a:ext cx="2298700" cy="105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Calibri"/>
              <a:buNone/>
              <a:defRPr sz="3600" b="1" i="0" u="none" strike="noStrike" cap="non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Define taxa status for the analysis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7A88AD7C-3238-35B1-1900-09B22A72CF68}"/>
              </a:ext>
            </a:extLst>
          </p:cNvPr>
          <p:cNvSpPr txBox="1">
            <a:spLocks/>
          </p:cNvSpPr>
          <p:nvPr/>
        </p:nvSpPr>
        <p:spPr>
          <a:xfrm>
            <a:off x="7246188" y="121514"/>
            <a:ext cx="4787468" cy="105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Calibri"/>
              <a:buNone/>
              <a:defRPr sz="3600" b="1" i="0" u="none" strike="noStrike" cap="non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Obtain Germplasm and herbarium records from GBIF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514FD889-9FE1-C035-8173-34CD67B18EC6}"/>
              </a:ext>
            </a:extLst>
          </p:cNvPr>
          <p:cNvSpPr/>
          <p:nvPr/>
        </p:nvSpPr>
        <p:spPr>
          <a:xfrm rot="5400000">
            <a:off x="9104943" y="3031938"/>
            <a:ext cx="660400" cy="6048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8584A25-F5C8-1220-C2BD-73D4C140F9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521" y="4068186"/>
            <a:ext cx="5565479" cy="1950631"/>
          </a:xfrm>
          <a:prstGeom prst="rect">
            <a:avLst/>
          </a:prstGeom>
          <a:ln w="38100">
            <a:solidFill>
              <a:srgbClr val="FFC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Arrow: Right 28">
            <a:extLst>
              <a:ext uri="{FF2B5EF4-FFF2-40B4-BE49-F238E27FC236}">
                <a16:creationId xmlns:a16="http://schemas.microsoft.com/office/drawing/2014/main" id="{F126E3B0-BAA1-A3AA-30D5-BCF728F3EFAB}"/>
              </a:ext>
            </a:extLst>
          </p:cNvPr>
          <p:cNvSpPr/>
          <p:nvPr/>
        </p:nvSpPr>
        <p:spPr>
          <a:xfrm rot="10800000">
            <a:off x="6742205" y="4660266"/>
            <a:ext cx="660400" cy="6048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636D60F-9758-59D8-91A0-3AA73AD5B1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2801" y="3684142"/>
            <a:ext cx="3030110" cy="2469051"/>
          </a:xfrm>
          <a:prstGeom prst="rect">
            <a:avLst/>
          </a:prstGeom>
          <a:ln w="38100">
            <a:solidFill>
              <a:srgbClr val="FFC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72368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E4C6CC-4454-91E6-D43F-FC91FDC64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565" y="24874"/>
            <a:ext cx="10977073" cy="931365"/>
          </a:xfrm>
        </p:spPr>
        <p:txBody>
          <a:bodyPr/>
          <a:lstStyle/>
          <a:p>
            <a:r>
              <a:rPr lang="en-US" dirty="0"/>
              <a:t>Differences between </a:t>
            </a:r>
            <a:r>
              <a:rPr lang="en-US"/>
              <a:t>gap analysis methodologies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386980-A601-6100-3D6D-17786F988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61" y="1349869"/>
            <a:ext cx="6064250" cy="1531247"/>
          </a:xfrm>
          <a:prstGeom prst="rect">
            <a:avLst/>
          </a:prstGeom>
        </p:spPr>
      </p:pic>
      <p:pic>
        <p:nvPicPr>
          <p:cNvPr id="10" name="Google Shape;175;g18d7bc6d838_0_92">
            <a:extLst>
              <a:ext uri="{FF2B5EF4-FFF2-40B4-BE49-F238E27FC236}">
                <a16:creationId xmlns:a16="http://schemas.microsoft.com/office/drawing/2014/main" id="{E50D1362-5788-9829-AB48-71BD5FEED6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662" y="3095900"/>
            <a:ext cx="3768882" cy="332834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5AFB83AF-699F-D2D1-98D4-30AC8DC32F99}"/>
              </a:ext>
            </a:extLst>
          </p:cNvPr>
          <p:cNvSpPr txBox="1">
            <a:spLocks/>
          </p:cNvSpPr>
          <p:nvPr/>
        </p:nvSpPr>
        <p:spPr>
          <a:xfrm>
            <a:off x="0" y="2189056"/>
            <a:ext cx="4142702" cy="93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CWR =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311954F6-D96F-C466-C282-FDC5F24CB29F}"/>
              </a:ext>
            </a:extLst>
          </p:cNvPr>
          <p:cNvSpPr txBox="1">
            <a:spLocks/>
          </p:cNvSpPr>
          <p:nvPr/>
        </p:nvSpPr>
        <p:spPr>
          <a:xfrm>
            <a:off x="48298" y="4294389"/>
            <a:ext cx="4142702" cy="93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Landraces =</a:t>
            </a:r>
          </a:p>
        </p:txBody>
      </p:sp>
      <p:pic>
        <p:nvPicPr>
          <p:cNvPr id="13" name="Google Shape;228;g18d7bc6d838_0_0">
            <a:extLst>
              <a:ext uri="{FF2B5EF4-FFF2-40B4-BE49-F238E27FC236}">
                <a16:creationId xmlns:a16="http://schemas.microsoft.com/office/drawing/2014/main" id="{7C1D3FA0-D68F-7B72-6B18-B5BF24F1927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r="51590"/>
          <a:stretch/>
        </p:blipFill>
        <p:spPr>
          <a:xfrm>
            <a:off x="8566149" y="3244850"/>
            <a:ext cx="3070845" cy="2849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FCB26D-9265-460E-F692-1A9CAD923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1474" y="621395"/>
            <a:ext cx="1900422" cy="24990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CFDA912-72CC-7157-771D-7B7E01AA899F}"/>
              </a:ext>
            </a:extLst>
          </p:cNvPr>
          <p:cNvSpPr txBox="1"/>
          <p:nvPr/>
        </p:nvSpPr>
        <p:spPr>
          <a:xfrm>
            <a:off x="8566149" y="4760070"/>
            <a:ext cx="6188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Andean </a:t>
            </a:r>
            <a:r>
              <a:rPr lang="en-US" dirty="0" err="1"/>
              <a:t>genepool</a:t>
            </a:r>
            <a:endParaRPr lang="en-US" dirty="0"/>
          </a:p>
          <a:p>
            <a:r>
              <a:rPr lang="en-US" dirty="0"/>
              <a:t>(Beans)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D4624A1-40F3-23B1-5803-4D6FF6945726}"/>
              </a:ext>
            </a:extLst>
          </p:cNvPr>
          <p:cNvSpPr/>
          <p:nvPr/>
        </p:nvSpPr>
        <p:spPr>
          <a:xfrm>
            <a:off x="7449711" y="1568469"/>
            <a:ext cx="660400" cy="6048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0620F4A3-B124-9DE1-B31E-E694B7C11C67}"/>
              </a:ext>
            </a:extLst>
          </p:cNvPr>
          <p:cNvSpPr/>
          <p:nvPr/>
        </p:nvSpPr>
        <p:spPr>
          <a:xfrm>
            <a:off x="7453405" y="4155193"/>
            <a:ext cx="660400" cy="6048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BCDEC0-41BD-13FE-AD55-D2C5E5234FA4}"/>
              </a:ext>
            </a:extLst>
          </p:cNvPr>
          <p:cNvSpPr txBox="1"/>
          <p:nvPr/>
        </p:nvSpPr>
        <p:spPr>
          <a:xfrm>
            <a:off x="5762625" y="5872468"/>
            <a:ext cx="74714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Only based on coords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B6D1A5-BBA1-AFC9-BEF6-48F2E42004F3}"/>
              </a:ext>
            </a:extLst>
          </p:cNvPr>
          <p:cNvSpPr txBox="1"/>
          <p:nvPr/>
        </p:nvSpPr>
        <p:spPr>
          <a:xfrm>
            <a:off x="5945505" y="2788123"/>
            <a:ext cx="74714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Needs all records!</a:t>
            </a:r>
          </a:p>
        </p:txBody>
      </p:sp>
    </p:spTree>
    <p:extLst>
      <p:ext uri="{BB962C8B-B14F-4D97-AF65-F5344CB8AC3E}">
        <p14:creationId xmlns:p14="http://schemas.microsoft.com/office/powerpoint/2010/main" val="14860983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25B85-F29A-E67C-4365-0B262D2C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59582-98E1-FEB5-F160-BFF7EF8E5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9194"/>
            <a:ext cx="10515600" cy="2852737"/>
          </a:xfrm>
        </p:spPr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workflow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a gap </a:t>
            </a:r>
            <a:r>
              <a:rPr lang="es-ES" dirty="0" err="1"/>
              <a:t>analysis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493116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>
          <a:extLst>
            <a:ext uri="{FF2B5EF4-FFF2-40B4-BE49-F238E27FC236}">
              <a16:creationId xmlns:a16="http://schemas.microsoft.com/office/drawing/2014/main" id="{32C15A14-16DE-EC00-0C67-7DDB15DD0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FFCAFFE-AB22-14F1-DFE1-8EBB5A33D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8FFAE7-EE2C-CD6E-4891-060EA7E6D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381" y="-58587"/>
            <a:ext cx="9497750" cy="683037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0F39257-7247-0D6B-DD21-278DE753BC18}"/>
              </a:ext>
            </a:extLst>
          </p:cNvPr>
          <p:cNvSpPr txBox="1"/>
          <p:nvPr/>
        </p:nvSpPr>
        <p:spPr>
          <a:xfrm>
            <a:off x="293019" y="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C1FFD2D-F074-AA5D-D930-29D44398F31F}"/>
              </a:ext>
            </a:extLst>
          </p:cNvPr>
          <p:cNvSpPr txBox="1"/>
          <p:nvPr/>
        </p:nvSpPr>
        <p:spPr>
          <a:xfrm>
            <a:off x="4986225" y="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5B5C4B2-DE07-15D7-3842-28EB7B087F70}"/>
              </a:ext>
            </a:extLst>
          </p:cNvPr>
          <p:cNvSpPr txBox="1"/>
          <p:nvPr/>
        </p:nvSpPr>
        <p:spPr>
          <a:xfrm>
            <a:off x="293019" y="342900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ABE1425-ECDE-B9A8-0E49-F3B0938BDC0E}"/>
              </a:ext>
            </a:extLst>
          </p:cNvPr>
          <p:cNvSpPr txBox="1"/>
          <p:nvPr/>
        </p:nvSpPr>
        <p:spPr>
          <a:xfrm>
            <a:off x="4986225" y="342900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256CC76-3680-88C3-7EF6-E98389A4DAFB}"/>
              </a:ext>
            </a:extLst>
          </p:cNvPr>
          <p:cNvSpPr txBox="1"/>
          <p:nvPr/>
        </p:nvSpPr>
        <p:spPr>
          <a:xfrm>
            <a:off x="540117" y="2766236"/>
            <a:ext cx="3905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Species </a:t>
            </a:r>
            <a: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occurrences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D9EF1ED-C4B0-43F2-EB06-FE4C74248955}"/>
              </a:ext>
            </a:extLst>
          </p:cNvPr>
          <p:cNvSpPr txBox="1"/>
          <p:nvPr/>
        </p:nvSpPr>
        <p:spPr>
          <a:xfrm>
            <a:off x="5508739" y="2766048"/>
            <a:ext cx="3527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Realized niche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4697ECB-8013-CA34-D130-1FB145B4DEE2}"/>
              </a:ext>
            </a:extLst>
          </p:cNvPr>
          <p:cNvSpPr txBox="1"/>
          <p:nvPr/>
        </p:nvSpPr>
        <p:spPr>
          <a:xfrm>
            <a:off x="815533" y="5791926"/>
            <a:ext cx="35271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Sampled germplasm</a:t>
            </a:r>
            <a:endParaRPr lang="en-US" sz="28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CDD2070-7FF7-3293-B283-E0D83F3C3D27}"/>
              </a:ext>
            </a:extLst>
          </p:cNvPr>
          <p:cNvSpPr txBox="1"/>
          <p:nvPr/>
        </p:nvSpPr>
        <p:spPr>
          <a:xfrm>
            <a:off x="5598926" y="6055316"/>
            <a:ext cx="3527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Where to collect</a:t>
            </a:r>
            <a:endParaRPr lang="en-US" sz="28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152AA24-66B8-0EF1-B380-0E20FFD94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1812" y="997066"/>
            <a:ext cx="434396" cy="38967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BD67533-463F-A292-77BB-747B6BC497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1812" y="1492155"/>
            <a:ext cx="434396" cy="4778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2D2CFB6-C3F1-F1CC-AC74-9D2173475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1544" y="2003051"/>
            <a:ext cx="817254" cy="80916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38F032D5-F230-6B62-93C4-7E91EACAF3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734" y="3094992"/>
            <a:ext cx="388552" cy="388552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BE2A2903-BB53-57D0-BB2F-9CECF6248523}"/>
              </a:ext>
            </a:extLst>
          </p:cNvPr>
          <p:cNvSpPr txBox="1"/>
          <p:nvPr/>
        </p:nvSpPr>
        <p:spPr>
          <a:xfrm>
            <a:off x="10438798" y="1042644"/>
            <a:ext cx="2335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Germplasm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4E2E866-AB46-9186-19AA-D7D18BB53321}"/>
              </a:ext>
            </a:extLst>
          </p:cNvPr>
          <p:cNvSpPr txBox="1"/>
          <p:nvPr/>
        </p:nvSpPr>
        <p:spPr>
          <a:xfrm>
            <a:off x="10438798" y="1508788"/>
            <a:ext cx="2335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coordinates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99A4E3C-B08F-B775-837D-A939C3A964F2}"/>
              </a:ext>
            </a:extLst>
          </p:cNvPr>
          <p:cNvSpPr txBox="1"/>
          <p:nvPr/>
        </p:nvSpPr>
        <p:spPr>
          <a:xfrm>
            <a:off x="10114903" y="2242828"/>
            <a:ext cx="2335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Collected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germplasm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C634394-7287-CFC2-F436-35E34D7AC755}"/>
              </a:ext>
            </a:extLst>
          </p:cNvPr>
          <p:cNvSpPr txBox="1"/>
          <p:nvPr/>
        </p:nvSpPr>
        <p:spPr>
          <a:xfrm>
            <a:off x="10111843" y="3094992"/>
            <a:ext cx="2335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latin typeface="Arial" panose="020B0604020202020204" pitchFamily="34" charset="0"/>
                <a:cs typeface="Arial" panose="020B0604020202020204" pitchFamily="34" charset="0"/>
              </a:rPr>
              <a:t>Potential area to be collected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B74EE115-FE30-B381-64AF-0E866A0C71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1214" y="582390"/>
            <a:ext cx="2829320" cy="1819529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DD80D002-0B10-7C78-D0E5-B24108F2B180}"/>
              </a:ext>
            </a:extLst>
          </p:cNvPr>
          <p:cNvSpPr txBox="1"/>
          <p:nvPr/>
        </p:nvSpPr>
        <p:spPr>
          <a:xfrm>
            <a:off x="43096" y="1000956"/>
            <a:ext cx="5225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0" b="1" dirty="0"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</a:t>
            </a:r>
            <a:endParaRPr lang="es-CO" sz="8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1748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8e8cad253c_0_5"/>
          <p:cNvSpPr txBox="1">
            <a:spLocks noGrp="1"/>
          </p:cNvSpPr>
          <p:nvPr>
            <p:ph type="ctrTitle"/>
          </p:nvPr>
        </p:nvSpPr>
        <p:spPr>
          <a:xfrm>
            <a:off x="5927475" y="3135510"/>
            <a:ext cx="56544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br>
              <a:rPr lang="en-US"/>
            </a:br>
            <a:br>
              <a:rPr lang="en-US"/>
            </a:br>
            <a:r>
              <a:rPr lang="en-US" sz="4200"/>
              <a:t>Questions?</a:t>
            </a:r>
            <a:endParaRPr sz="4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1536</Words>
  <Application>Microsoft Office PowerPoint</Application>
  <PresentationFormat>Panorámica</PresentationFormat>
  <Paragraphs>446</Paragraphs>
  <Slides>53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53</vt:i4>
      </vt:variant>
    </vt:vector>
  </HeadingPairs>
  <TitlesOfParts>
    <vt:vector size="60" baseType="lpstr">
      <vt:lpstr>Aptos</vt:lpstr>
      <vt:lpstr>Aptos Display</vt:lpstr>
      <vt:lpstr>Arial</vt:lpstr>
      <vt:lpstr>Calibri</vt:lpstr>
      <vt:lpstr>Lucida Grande</vt:lpstr>
      <vt:lpstr>Wingdings</vt:lpstr>
      <vt:lpstr>Office Theme</vt:lpstr>
      <vt:lpstr>Gap Analysis: Main issues in geographical coordinates (CURATION + WORKFLOW)</vt:lpstr>
      <vt:lpstr>The workflow for a gap analysis</vt:lpstr>
      <vt:lpstr>Presentación de PowerPoint</vt:lpstr>
      <vt:lpstr>Basics of  data curation</vt:lpstr>
      <vt:lpstr>Why is important to curate geographical coordinates?</vt:lpstr>
      <vt:lpstr>Databases need curation!</vt:lpstr>
      <vt:lpstr>Presentación de PowerPoint</vt:lpstr>
      <vt:lpstr>Presentación de PowerPoint</vt:lpstr>
      <vt:lpstr>Presentación de PowerPoint</vt:lpstr>
      <vt:lpstr>Sampling bias is common in biological collections! </vt:lpstr>
      <vt:lpstr>Presentación de PowerPoint</vt:lpstr>
      <vt:lpstr>Main issues in coordinates</vt:lpstr>
      <vt:lpstr>Main issues in coordinates</vt:lpstr>
      <vt:lpstr>Examples of geographical coordinates issues</vt:lpstr>
      <vt:lpstr>Examples of descriptions in natural history collections:</vt:lpstr>
      <vt:lpstr>High uncertainty is present! (what is the exact location?)</vt:lpstr>
      <vt:lpstr>33 possible locations!</vt:lpstr>
      <vt:lpstr>Let's see accuracy: </vt:lpstr>
      <vt:lpstr>https://www.google.com/maps/d/edit?mid=19tZfXiauYtgdmlOj4iMZFddwSJo8SRE&amp;usp=sharing   </vt:lpstr>
      <vt:lpstr>The accuracy is important in geographical data!</vt:lpstr>
      <vt:lpstr>Error types in geographical coordinates </vt:lpstr>
      <vt:lpstr>Error types in geographical coordinates </vt:lpstr>
      <vt:lpstr>Error types in geographical coordinates </vt:lpstr>
      <vt:lpstr>Error types in geographical coordinates </vt:lpstr>
      <vt:lpstr>Error types in geographical coordinates </vt:lpstr>
      <vt:lpstr>Error types in geographical coordinates </vt:lpstr>
      <vt:lpstr>Error types in geographical coordinates </vt:lpstr>
      <vt:lpstr>Error types in geographical coordinates </vt:lpstr>
      <vt:lpstr>Error types in geographical coordinates </vt:lpstr>
      <vt:lpstr>Error types in geographical coordinates </vt:lpstr>
      <vt:lpstr>Error types in geographical coordinates </vt:lpstr>
      <vt:lpstr>Geographical coordinates </vt:lpstr>
      <vt:lpstr>  How to evaluate the quality of geographical coordinates reported for a given accession?  Ideas? </vt:lpstr>
      <vt:lpstr>Georeferentiation</vt:lpstr>
      <vt:lpstr>How to obtain records from existent data (Georeferentiation)</vt:lpstr>
      <vt:lpstr>Presentación de PowerPoint</vt:lpstr>
      <vt:lpstr>Recommendations to report geographical data  How to report geographical data! </vt:lpstr>
      <vt:lpstr>There is not a unique way to report data. Nevertheless…</vt:lpstr>
      <vt:lpstr>MCDP</vt:lpstr>
      <vt:lpstr>Presentación de PowerPoint</vt:lpstr>
      <vt:lpstr>DarwinCore</vt:lpstr>
      <vt:lpstr>Presentación de PowerPoint</vt:lpstr>
      <vt:lpstr>Presentación de PowerPoint</vt:lpstr>
      <vt:lpstr>What did we do to obtain data for the gap analyses?</vt:lpstr>
      <vt:lpstr>The questions</vt:lpstr>
      <vt:lpstr>The questions + the procedures</vt:lpstr>
      <vt:lpstr>What a gap analysis step by step looks like!</vt:lpstr>
      <vt:lpstr>Presentación de PowerPoint</vt:lpstr>
      <vt:lpstr>Download</vt:lpstr>
      <vt:lpstr>Differences between gap analysis methodologies</vt:lpstr>
      <vt:lpstr>The workflow for a gap analysis</vt:lpstr>
      <vt:lpstr>Presentación de PowerPoint</vt:lpstr>
      <vt:lpstr> 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Urdinola, Jaime Andres (Alliance Bioversity-CIAT)</dc:creator>
  <cp:lastModifiedBy>Chrystian Camilo Sosa Arango</cp:lastModifiedBy>
  <cp:revision>17</cp:revision>
  <dcterms:created xsi:type="dcterms:W3CDTF">2025-10-31T16:08:43Z</dcterms:created>
  <dcterms:modified xsi:type="dcterms:W3CDTF">2025-11-05T19:04:47Z</dcterms:modified>
</cp:coreProperties>
</file>