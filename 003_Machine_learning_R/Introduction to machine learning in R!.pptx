
<file path=[Content_Types].xml><?xml version="1.0" encoding="utf-8"?>
<Types xmlns="http://schemas.openxmlformats.org/package/2006/content-types">
  <Default Extension="Dlj3Qp4OOK7GRuO_FW6CG78zScj7_kcrczu-p01jFNE" ContentType="image/png"/>
  <Default Extension="gif" ContentType="image/gif"/>
  <Default Extension="jpeg" ContentType="image/jpeg"/>
  <Default Extension="jpg" ContentType="image/jpeg"/>
  <Default Extension="org&amp;utm_campaign=parser&amp;utm_content=thumbnail_unscaled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60" r:id="rId3"/>
    <p:sldId id="322" r:id="rId4"/>
    <p:sldId id="265" r:id="rId5"/>
    <p:sldId id="261" r:id="rId6"/>
    <p:sldId id="266" r:id="rId7"/>
    <p:sldId id="264" r:id="rId8"/>
    <p:sldId id="267" r:id="rId9"/>
    <p:sldId id="268" r:id="rId10"/>
    <p:sldId id="269" r:id="rId11"/>
    <p:sldId id="274" r:id="rId12"/>
    <p:sldId id="299" r:id="rId13"/>
    <p:sldId id="276" r:id="rId14"/>
    <p:sldId id="281" r:id="rId15"/>
    <p:sldId id="275" r:id="rId16"/>
    <p:sldId id="277" r:id="rId17"/>
    <p:sldId id="270" r:id="rId18"/>
    <p:sldId id="285" r:id="rId19"/>
    <p:sldId id="279" r:id="rId20"/>
    <p:sldId id="300" r:id="rId21"/>
    <p:sldId id="302" r:id="rId22"/>
    <p:sldId id="303" r:id="rId23"/>
    <p:sldId id="304" r:id="rId24"/>
    <p:sldId id="296" r:id="rId25"/>
    <p:sldId id="306" r:id="rId26"/>
    <p:sldId id="307" r:id="rId27"/>
    <p:sldId id="272" r:id="rId28"/>
    <p:sldId id="263" r:id="rId29"/>
    <p:sldId id="308" r:id="rId30"/>
    <p:sldId id="259" r:id="rId31"/>
    <p:sldId id="309" r:id="rId32"/>
    <p:sldId id="313" r:id="rId33"/>
    <p:sldId id="316" r:id="rId34"/>
    <p:sldId id="310" r:id="rId35"/>
    <p:sldId id="317" r:id="rId36"/>
    <p:sldId id="314" r:id="rId37"/>
    <p:sldId id="319" r:id="rId38"/>
    <p:sldId id="320" r:id="rId39"/>
    <p:sldId id="325" r:id="rId40"/>
    <p:sldId id="326" r:id="rId41"/>
    <p:sldId id="321" r:id="rId42"/>
    <p:sldId id="318" r:id="rId43"/>
    <p:sldId id="324" r:id="rId44"/>
    <p:sldId id="262" r:id="rId45"/>
    <p:sldId id="323" r:id="rId46"/>
    <p:sldId id="327" r:id="rId4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>
        <p:scale>
          <a:sx n="75" d="100"/>
          <a:sy n="75" d="100"/>
        </p:scale>
        <p:origin x="96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A4D812-1743-4C28-B7EC-AA830891ED24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2B8C0C6B-EA25-4B14-AF52-CFA3F087DDAD}">
      <dgm:prSet phldrT="[Texto]" phldr="0"/>
      <dgm:spPr/>
      <dgm:t>
        <a:bodyPr/>
        <a:lstStyle/>
        <a:p>
          <a:r>
            <a:rPr lang="es-ES" dirty="0"/>
            <a:t>Obtener datos</a:t>
          </a:r>
          <a:endParaRPr lang="es-CO" dirty="0"/>
        </a:p>
      </dgm:t>
    </dgm:pt>
    <dgm:pt modelId="{E2DFC5C9-2EB5-4D67-88C0-044FD3072429}" type="parTrans" cxnId="{18A0BCCD-F116-4339-96A8-E72533350E72}">
      <dgm:prSet/>
      <dgm:spPr/>
      <dgm:t>
        <a:bodyPr/>
        <a:lstStyle/>
        <a:p>
          <a:endParaRPr lang="es-CO"/>
        </a:p>
      </dgm:t>
    </dgm:pt>
    <dgm:pt modelId="{8A572F1A-7850-40F9-AF15-9ECDFCDBD578}" type="sibTrans" cxnId="{18A0BCCD-F116-4339-96A8-E72533350E72}">
      <dgm:prSet/>
      <dgm:spPr/>
      <dgm:t>
        <a:bodyPr/>
        <a:lstStyle/>
        <a:p>
          <a:endParaRPr lang="es-CO"/>
        </a:p>
      </dgm:t>
    </dgm:pt>
    <dgm:pt modelId="{AA8D95F3-6A67-4932-9D52-7974DF1238D6}">
      <dgm:prSet phldrT="[Texto]" phldr="0"/>
      <dgm:spPr/>
      <dgm:t>
        <a:bodyPr/>
        <a:lstStyle/>
        <a:p>
          <a:r>
            <a:rPr lang="es-ES" dirty="0" err="1"/>
            <a:t>Gendivrange</a:t>
          </a:r>
          <a:endParaRPr lang="es-CO" dirty="0"/>
        </a:p>
      </dgm:t>
    </dgm:pt>
    <dgm:pt modelId="{3B5EB7C2-DD2E-4A84-A163-1D37389FE6AC}" type="parTrans" cxnId="{5DB52B64-FD70-4197-B8F5-76EE2EB8DC87}">
      <dgm:prSet/>
      <dgm:spPr/>
      <dgm:t>
        <a:bodyPr/>
        <a:lstStyle/>
        <a:p>
          <a:endParaRPr lang="es-CO"/>
        </a:p>
      </dgm:t>
    </dgm:pt>
    <dgm:pt modelId="{F4638C2E-FB1F-4E2D-838F-C754B4FE8B68}" type="sibTrans" cxnId="{5DB52B64-FD70-4197-B8F5-76EE2EB8DC87}">
      <dgm:prSet/>
      <dgm:spPr/>
      <dgm:t>
        <a:bodyPr/>
        <a:lstStyle/>
        <a:p>
          <a:endParaRPr lang="es-CO"/>
        </a:p>
      </dgm:t>
    </dgm:pt>
    <dgm:pt modelId="{96A5C7B3-89A7-4BA3-AE1D-77964368020A}">
      <dgm:prSet phldrT="[Texto]" phldr="0"/>
      <dgm:spPr/>
      <dgm:t>
        <a:bodyPr/>
        <a:lstStyle/>
        <a:p>
          <a:r>
            <a:rPr lang="es-ES" dirty="0"/>
            <a:t>Solo usar variables independientes</a:t>
          </a:r>
          <a:endParaRPr lang="es-CO" dirty="0"/>
        </a:p>
      </dgm:t>
    </dgm:pt>
    <dgm:pt modelId="{975609F0-0CEE-4246-AA54-DF1A9FB0B6F6}" type="parTrans" cxnId="{EF564B56-826D-49D2-B5A5-CCFC290A85FE}">
      <dgm:prSet/>
      <dgm:spPr/>
      <dgm:t>
        <a:bodyPr/>
        <a:lstStyle/>
        <a:p>
          <a:endParaRPr lang="es-CO"/>
        </a:p>
      </dgm:t>
    </dgm:pt>
    <dgm:pt modelId="{CC721465-7BEE-4915-89C7-C6D0CD95FF27}" type="sibTrans" cxnId="{EF564B56-826D-49D2-B5A5-CCFC290A85FE}">
      <dgm:prSet/>
      <dgm:spPr/>
      <dgm:t>
        <a:bodyPr/>
        <a:lstStyle/>
        <a:p>
          <a:endParaRPr lang="es-CO"/>
        </a:p>
      </dgm:t>
    </dgm:pt>
    <dgm:pt modelId="{7E2162F6-CDE4-4200-B101-BDDACF48C21E}">
      <dgm:prSet phldrT="[Texto]" phldr="0"/>
      <dgm:spPr/>
      <dgm:t>
        <a:bodyPr/>
        <a:lstStyle/>
        <a:p>
          <a:r>
            <a:rPr lang="es-ES" dirty="0" err="1"/>
            <a:t>Worldclim</a:t>
          </a:r>
          <a:endParaRPr lang="es-CO" dirty="0"/>
        </a:p>
      </dgm:t>
    </dgm:pt>
    <dgm:pt modelId="{E4EC9B1A-50DD-4958-B2ED-C30695D132FB}" type="parTrans" cxnId="{7A141A28-F755-451A-A05F-9702CA995235}">
      <dgm:prSet/>
      <dgm:spPr/>
      <dgm:t>
        <a:bodyPr/>
        <a:lstStyle/>
        <a:p>
          <a:endParaRPr lang="es-CO"/>
        </a:p>
      </dgm:t>
    </dgm:pt>
    <dgm:pt modelId="{67FCE513-C91E-4E93-B98C-20386EBF31B8}" type="sibTrans" cxnId="{7A141A28-F755-451A-A05F-9702CA995235}">
      <dgm:prSet/>
      <dgm:spPr/>
      <dgm:t>
        <a:bodyPr/>
        <a:lstStyle/>
        <a:p>
          <a:endParaRPr lang="es-CO"/>
        </a:p>
      </dgm:t>
    </dgm:pt>
    <dgm:pt modelId="{8D49F6D0-BD74-458B-B2D7-12051B86F561}">
      <dgm:prSet phldrT="[Texto]" phldr="0"/>
      <dgm:spPr/>
      <dgm:t>
        <a:bodyPr/>
        <a:lstStyle/>
        <a:p>
          <a:r>
            <a:rPr lang="es-ES" dirty="0"/>
            <a:t>Proyectar a un espacio </a:t>
          </a:r>
          <a:r>
            <a:rPr lang="es-ES" dirty="0" err="1"/>
            <a:t>geografico</a:t>
          </a:r>
          <a:endParaRPr lang="es-CO" dirty="0"/>
        </a:p>
      </dgm:t>
    </dgm:pt>
    <dgm:pt modelId="{F38657CE-CBD5-4513-83A2-5A8B6E3FE303}" type="parTrans" cxnId="{D0810942-2303-4B9F-9D39-A2B5FE95D3A7}">
      <dgm:prSet/>
      <dgm:spPr/>
      <dgm:t>
        <a:bodyPr/>
        <a:lstStyle/>
        <a:p>
          <a:endParaRPr lang="es-CO"/>
        </a:p>
      </dgm:t>
    </dgm:pt>
    <dgm:pt modelId="{C8700145-8CCF-46A3-9878-31D3222886C5}" type="sibTrans" cxnId="{D0810942-2303-4B9F-9D39-A2B5FE95D3A7}">
      <dgm:prSet/>
      <dgm:spPr/>
      <dgm:t>
        <a:bodyPr/>
        <a:lstStyle/>
        <a:p>
          <a:endParaRPr lang="es-CO"/>
        </a:p>
      </dgm:t>
    </dgm:pt>
    <dgm:pt modelId="{655BFE8C-A369-42B3-A854-5B67A36AC4FE}">
      <dgm:prSet phldrT="[Texto]" phldr="0"/>
      <dgm:spPr/>
      <dgm:t>
        <a:bodyPr/>
        <a:lstStyle/>
        <a:p>
          <a:r>
            <a:rPr lang="es-ES" dirty="0" err="1"/>
            <a:t>Grid</a:t>
          </a:r>
          <a:r>
            <a:rPr lang="es-ES" dirty="0"/>
            <a:t> </a:t>
          </a:r>
          <a:r>
            <a:rPr lang="es-ES" dirty="0" err="1"/>
            <a:t>search</a:t>
          </a:r>
          <a:endParaRPr lang="es-CO" dirty="0"/>
        </a:p>
      </dgm:t>
    </dgm:pt>
    <dgm:pt modelId="{63CCDDD4-B454-4298-B952-091F19A614DF}" type="parTrans" cxnId="{C6B67B42-A9F7-492F-8341-AFFB86CE0560}">
      <dgm:prSet/>
      <dgm:spPr/>
      <dgm:t>
        <a:bodyPr/>
        <a:lstStyle/>
        <a:p>
          <a:endParaRPr lang="es-CO"/>
        </a:p>
      </dgm:t>
    </dgm:pt>
    <dgm:pt modelId="{30EBC687-2AE8-4A16-B38D-01F426AF5460}" type="sibTrans" cxnId="{C6B67B42-A9F7-492F-8341-AFFB86CE0560}">
      <dgm:prSet/>
      <dgm:spPr/>
      <dgm:t>
        <a:bodyPr/>
        <a:lstStyle/>
        <a:p>
          <a:endParaRPr lang="es-CO"/>
        </a:p>
      </dgm:t>
    </dgm:pt>
    <dgm:pt modelId="{7236475C-427B-4118-B440-A040FEEFB909}">
      <dgm:prSet phldrT="[Texto]" phldr="0"/>
      <dgm:spPr/>
      <dgm:t>
        <a:bodyPr/>
        <a:lstStyle/>
        <a:p>
          <a:r>
            <a:rPr lang="es-ES" dirty="0"/>
            <a:t>Visualizar</a:t>
          </a:r>
          <a:endParaRPr lang="es-CO" dirty="0"/>
        </a:p>
      </dgm:t>
    </dgm:pt>
    <dgm:pt modelId="{25AF5A22-DAAF-4F25-A654-5E3F4761E471}" type="sibTrans" cxnId="{474427D7-3E4B-4E45-A36B-A4DECA4FB567}">
      <dgm:prSet/>
      <dgm:spPr/>
      <dgm:t>
        <a:bodyPr/>
        <a:lstStyle/>
        <a:p>
          <a:endParaRPr lang="es-CO"/>
        </a:p>
      </dgm:t>
    </dgm:pt>
    <dgm:pt modelId="{ED2993B3-BA69-4C9E-B6BF-0EC387D5B2D7}" type="parTrans" cxnId="{474427D7-3E4B-4E45-A36B-A4DECA4FB567}">
      <dgm:prSet/>
      <dgm:spPr/>
      <dgm:t>
        <a:bodyPr/>
        <a:lstStyle/>
        <a:p>
          <a:endParaRPr lang="es-CO"/>
        </a:p>
      </dgm:t>
    </dgm:pt>
    <dgm:pt modelId="{575A252F-64A2-4EC6-9EC0-EAD63B1A9B0A}">
      <dgm:prSet phldrT="[Texto]" phldr="0"/>
      <dgm:spPr/>
      <dgm:t>
        <a:bodyPr/>
        <a:lstStyle/>
        <a:p>
          <a:r>
            <a:rPr lang="es-ES" dirty="0"/>
            <a:t>Definir en donde estudiar</a:t>
          </a:r>
          <a:endParaRPr lang="es-CO" dirty="0"/>
        </a:p>
      </dgm:t>
    </dgm:pt>
    <dgm:pt modelId="{C07A3AFD-D037-44FC-9BF1-496216DCA72C}" type="parTrans" cxnId="{140709A4-EECB-4A94-87E2-CA100F397E2A}">
      <dgm:prSet/>
      <dgm:spPr/>
      <dgm:t>
        <a:bodyPr/>
        <a:lstStyle/>
        <a:p>
          <a:endParaRPr lang="es-CO"/>
        </a:p>
      </dgm:t>
    </dgm:pt>
    <dgm:pt modelId="{719A5EF6-F3D9-4F99-9F67-D51226E5E55F}" type="sibTrans" cxnId="{140709A4-EECB-4A94-87E2-CA100F397E2A}">
      <dgm:prSet/>
      <dgm:spPr/>
      <dgm:t>
        <a:bodyPr/>
        <a:lstStyle/>
        <a:p>
          <a:endParaRPr lang="es-CO"/>
        </a:p>
      </dgm:t>
    </dgm:pt>
    <dgm:pt modelId="{2D8BB2A1-3345-462E-B87A-C7F01F3E3463}" type="pres">
      <dgm:prSet presAssocID="{6EA4D812-1743-4C28-B7EC-AA830891ED24}" presName="rootnode" presStyleCnt="0">
        <dgm:presLayoutVars>
          <dgm:chMax/>
          <dgm:chPref/>
          <dgm:dir/>
          <dgm:animLvl val="lvl"/>
        </dgm:presLayoutVars>
      </dgm:prSet>
      <dgm:spPr/>
    </dgm:pt>
    <dgm:pt modelId="{7AC25416-EAA4-40B3-8039-330B7E7183C0}" type="pres">
      <dgm:prSet presAssocID="{575A252F-64A2-4EC6-9EC0-EAD63B1A9B0A}" presName="composite" presStyleCnt="0"/>
      <dgm:spPr/>
    </dgm:pt>
    <dgm:pt modelId="{2A0E6AAC-2853-47BA-8B5C-A89611E5F7B8}" type="pres">
      <dgm:prSet presAssocID="{575A252F-64A2-4EC6-9EC0-EAD63B1A9B0A}" presName="bentUpArrow1" presStyleLbl="alignImgPlace1" presStyleIdx="0" presStyleCnt="5"/>
      <dgm:spPr/>
    </dgm:pt>
    <dgm:pt modelId="{CF3F7430-3780-4A89-935D-02DA3A18E8B8}" type="pres">
      <dgm:prSet presAssocID="{575A252F-64A2-4EC6-9EC0-EAD63B1A9B0A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801A9BC4-F41A-46D4-8FF3-6646AB8C9FDD}" type="pres">
      <dgm:prSet presAssocID="{575A252F-64A2-4EC6-9EC0-EAD63B1A9B0A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3353BC73-F3BC-47CB-8C16-9B46AC0F59DE}" type="pres">
      <dgm:prSet presAssocID="{719A5EF6-F3D9-4F99-9F67-D51226E5E55F}" presName="sibTrans" presStyleCnt="0"/>
      <dgm:spPr/>
    </dgm:pt>
    <dgm:pt modelId="{0884DB87-275E-4C3E-97B3-045E3B13C04A}" type="pres">
      <dgm:prSet presAssocID="{2B8C0C6B-EA25-4B14-AF52-CFA3F087DDAD}" presName="composite" presStyleCnt="0"/>
      <dgm:spPr/>
    </dgm:pt>
    <dgm:pt modelId="{E804DE15-41BD-4D51-B26A-AE58DFA05643}" type="pres">
      <dgm:prSet presAssocID="{2B8C0C6B-EA25-4B14-AF52-CFA3F087DDAD}" presName="bentUpArrow1" presStyleLbl="alignImgPlace1" presStyleIdx="1" presStyleCnt="5"/>
      <dgm:spPr/>
    </dgm:pt>
    <dgm:pt modelId="{CF04904D-CCED-42CB-8B87-059022D96D54}" type="pres">
      <dgm:prSet presAssocID="{2B8C0C6B-EA25-4B14-AF52-CFA3F087DDAD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206764C2-AC95-47B7-9485-1294390893D1}" type="pres">
      <dgm:prSet presAssocID="{2B8C0C6B-EA25-4B14-AF52-CFA3F087DDAD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1BE30AA9-54E9-46FC-8D57-D1509E55C7F1}" type="pres">
      <dgm:prSet presAssocID="{8A572F1A-7850-40F9-AF15-9ECDFCDBD578}" presName="sibTrans" presStyleCnt="0"/>
      <dgm:spPr/>
    </dgm:pt>
    <dgm:pt modelId="{1B08FEC8-5F70-4350-97E7-B6BA683BD92F}" type="pres">
      <dgm:prSet presAssocID="{96A5C7B3-89A7-4BA3-AE1D-77964368020A}" presName="composite" presStyleCnt="0"/>
      <dgm:spPr/>
    </dgm:pt>
    <dgm:pt modelId="{43280A10-A815-4A4E-BA55-3CF9C66355E7}" type="pres">
      <dgm:prSet presAssocID="{96A5C7B3-89A7-4BA3-AE1D-77964368020A}" presName="bentUpArrow1" presStyleLbl="alignImgPlace1" presStyleIdx="2" presStyleCnt="5"/>
      <dgm:spPr/>
    </dgm:pt>
    <dgm:pt modelId="{3DDC0823-F9EE-4CD7-BE72-E0009EDF0242}" type="pres">
      <dgm:prSet presAssocID="{96A5C7B3-89A7-4BA3-AE1D-77964368020A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06D6D023-331C-450D-94C8-D5DFEA306BD9}" type="pres">
      <dgm:prSet presAssocID="{96A5C7B3-89A7-4BA3-AE1D-77964368020A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A8A2F711-C64D-49C2-BDA8-61D636CECD53}" type="pres">
      <dgm:prSet presAssocID="{CC721465-7BEE-4915-89C7-C6D0CD95FF27}" presName="sibTrans" presStyleCnt="0"/>
      <dgm:spPr/>
    </dgm:pt>
    <dgm:pt modelId="{9D311A1C-B202-4B7F-9D15-CCAA4E610D6E}" type="pres">
      <dgm:prSet presAssocID="{655BFE8C-A369-42B3-A854-5B67A36AC4FE}" presName="composite" presStyleCnt="0"/>
      <dgm:spPr/>
    </dgm:pt>
    <dgm:pt modelId="{93AA39CF-9F9A-4C46-9F7E-66EDF92A6460}" type="pres">
      <dgm:prSet presAssocID="{655BFE8C-A369-42B3-A854-5B67A36AC4FE}" presName="bentUpArrow1" presStyleLbl="alignImgPlace1" presStyleIdx="3" presStyleCnt="5"/>
      <dgm:spPr/>
    </dgm:pt>
    <dgm:pt modelId="{4872DC63-B6AC-4245-AB4A-E25B0C60F5F6}" type="pres">
      <dgm:prSet presAssocID="{655BFE8C-A369-42B3-A854-5B67A36AC4FE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F3E76375-E9E4-4129-B8F4-4784D4166169}" type="pres">
      <dgm:prSet presAssocID="{655BFE8C-A369-42B3-A854-5B67A36AC4FE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7645A3EB-DE43-4A3B-8348-9F329259DBF2}" type="pres">
      <dgm:prSet presAssocID="{30EBC687-2AE8-4A16-B38D-01F426AF5460}" presName="sibTrans" presStyleCnt="0"/>
      <dgm:spPr/>
    </dgm:pt>
    <dgm:pt modelId="{F2CFDEA3-FEA1-4A09-8FDD-5F2CAA8F9EC2}" type="pres">
      <dgm:prSet presAssocID="{8D49F6D0-BD74-458B-B2D7-12051B86F561}" presName="composite" presStyleCnt="0"/>
      <dgm:spPr/>
    </dgm:pt>
    <dgm:pt modelId="{5D74CCFC-9D5F-4A7F-BF06-5E8929B23B1D}" type="pres">
      <dgm:prSet presAssocID="{8D49F6D0-BD74-458B-B2D7-12051B86F561}" presName="bentUpArrow1" presStyleLbl="alignImgPlace1" presStyleIdx="4" presStyleCnt="5"/>
      <dgm:spPr/>
    </dgm:pt>
    <dgm:pt modelId="{B01A7CAF-F8DA-4BB9-AD4D-01D6FEE40268}" type="pres">
      <dgm:prSet presAssocID="{8D49F6D0-BD74-458B-B2D7-12051B86F561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7BBFD7B5-FE8E-42B1-8FE4-22C0B29FB576}" type="pres">
      <dgm:prSet presAssocID="{8D49F6D0-BD74-458B-B2D7-12051B86F561}" presName="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61A0CE62-4701-4E05-9E33-36661B55941F}" type="pres">
      <dgm:prSet presAssocID="{C8700145-8CCF-46A3-9878-31D3222886C5}" presName="sibTrans" presStyleCnt="0"/>
      <dgm:spPr/>
    </dgm:pt>
    <dgm:pt modelId="{1A39B241-0B0C-418A-8EF9-1E8D6C5F1B82}" type="pres">
      <dgm:prSet presAssocID="{7236475C-427B-4118-B440-A040FEEFB909}" presName="composite" presStyleCnt="0"/>
      <dgm:spPr/>
    </dgm:pt>
    <dgm:pt modelId="{EC41CBC9-6A0B-484B-AA1A-674102174B1B}" type="pres">
      <dgm:prSet presAssocID="{7236475C-427B-4118-B440-A040FEEFB909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B841250D-2A97-457F-9D76-783FBCC9FF0D}" type="presOf" srcId="{2B8C0C6B-EA25-4B14-AF52-CFA3F087DDAD}" destId="{CF04904D-CCED-42CB-8B87-059022D96D54}" srcOrd="0" destOrd="0" presId="urn:microsoft.com/office/officeart/2005/8/layout/StepDownProcess"/>
    <dgm:cxn modelId="{C167D40F-7F6E-49FC-9422-170B07EBAC22}" type="presOf" srcId="{655BFE8C-A369-42B3-A854-5B67A36AC4FE}" destId="{4872DC63-B6AC-4245-AB4A-E25B0C60F5F6}" srcOrd="0" destOrd="0" presId="urn:microsoft.com/office/officeart/2005/8/layout/StepDownProcess"/>
    <dgm:cxn modelId="{DC11C418-9661-4C40-9BC9-D25ABD0900BD}" type="presOf" srcId="{6EA4D812-1743-4C28-B7EC-AA830891ED24}" destId="{2D8BB2A1-3345-462E-B87A-C7F01F3E3463}" srcOrd="0" destOrd="0" presId="urn:microsoft.com/office/officeart/2005/8/layout/StepDownProcess"/>
    <dgm:cxn modelId="{A45C191D-030F-4C01-809D-A97BDB9F39EA}" type="presOf" srcId="{96A5C7B3-89A7-4BA3-AE1D-77964368020A}" destId="{3DDC0823-F9EE-4CD7-BE72-E0009EDF0242}" srcOrd="0" destOrd="0" presId="urn:microsoft.com/office/officeart/2005/8/layout/StepDownProcess"/>
    <dgm:cxn modelId="{7A141A28-F755-451A-A05F-9702CA995235}" srcId="{96A5C7B3-89A7-4BA3-AE1D-77964368020A}" destId="{7E2162F6-CDE4-4200-B101-BDDACF48C21E}" srcOrd="0" destOrd="0" parTransId="{E4EC9B1A-50DD-4958-B2ED-C30695D132FB}" sibTransId="{67FCE513-C91E-4E93-B98C-20386EBF31B8}"/>
    <dgm:cxn modelId="{D0810942-2303-4B9F-9D39-A2B5FE95D3A7}" srcId="{6EA4D812-1743-4C28-B7EC-AA830891ED24}" destId="{8D49F6D0-BD74-458B-B2D7-12051B86F561}" srcOrd="4" destOrd="0" parTransId="{F38657CE-CBD5-4513-83A2-5A8B6E3FE303}" sibTransId="{C8700145-8CCF-46A3-9878-31D3222886C5}"/>
    <dgm:cxn modelId="{C6B67B42-A9F7-492F-8341-AFFB86CE0560}" srcId="{6EA4D812-1743-4C28-B7EC-AA830891ED24}" destId="{655BFE8C-A369-42B3-A854-5B67A36AC4FE}" srcOrd="3" destOrd="0" parTransId="{63CCDDD4-B454-4298-B952-091F19A614DF}" sibTransId="{30EBC687-2AE8-4A16-B38D-01F426AF5460}"/>
    <dgm:cxn modelId="{5DB52B64-FD70-4197-B8F5-76EE2EB8DC87}" srcId="{2B8C0C6B-EA25-4B14-AF52-CFA3F087DDAD}" destId="{AA8D95F3-6A67-4932-9D52-7974DF1238D6}" srcOrd="0" destOrd="0" parTransId="{3B5EB7C2-DD2E-4A84-A163-1D37389FE6AC}" sibTransId="{F4638C2E-FB1F-4E2D-838F-C754B4FE8B68}"/>
    <dgm:cxn modelId="{6729BB73-0BB4-4650-8FB8-5A4933F45BAE}" type="presOf" srcId="{7236475C-427B-4118-B440-A040FEEFB909}" destId="{EC41CBC9-6A0B-484B-AA1A-674102174B1B}" srcOrd="0" destOrd="0" presId="urn:microsoft.com/office/officeart/2005/8/layout/StepDownProcess"/>
    <dgm:cxn modelId="{EF564B56-826D-49D2-B5A5-CCFC290A85FE}" srcId="{6EA4D812-1743-4C28-B7EC-AA830891ED24}" destId="{96A5C7B3-89A7-4BA3-AE1D-77964368020A}" srcOrd="2" destOrd="0" parTransId="{975609F0-0CEE-4246-AA54-DF1A9FB0B6F6}" sibTransId="{CC721465-7BEE-4915-89C7-C6D0CD95FF27}"/>
    <dgm:cxn modelId="{140709A4-EECB-4A94-87E2-CA100F397E2A}" srcId="{6EA4D812-1743-4C28-B7EC-AA830891ED24}" destId="{575A252F-64A2-4EC6-9EC0-EAD63B1A9B0A}" srcOrd="0" destOrd="0" parTransId="{C07A3AFD-D037-44FC-9BF1-496216DCA72C}" sibTransId="{719A5EF6-F3D9-4F99-9F67-D51226E5E55F}"/>
    <dgm:cxn modelId="{2600F6AE-2E52-4990-AA58-BF0A7EF9EAAA}" type="presOf" srcId="{575A252F-64A2-4EC6-9EC0-EAD63B1A9B0A}" destId="{CF3F7430-3780-4A89-935D-02DA3A18E8B8}" srcOrd="0" destOrd="0" presId="urn:microsoft.com/office/officeart/2005/8/layout/StepDownProcess"/>
    <dgm:cxn modelId="{11E29DB0-CC25-46CC-B61B-A1ACF5996FF0}" type="presOf" srcId="{7E2162F6-CDE4-4200-B101-BDDACF48C21E}" destId="{06D6D023-331C-450D-94C8-D5DFEA306BD9}" srcOrd="0" destOrd="0" presId="urn:microsoft.com/office/officeart/2005/8/layout/StepDownProcess"/>
    <dgm:cxn modelId="{9A354CB1-0C30-4FDA-9EC0-2C4D91C8F7C5}" type="presOf" srcId="{AA8D95F3-6A67-4932-9D52-7974DF1238D6}" destId="{206764C2-AC95-47B7-9485-1294390893D1}" srcOrd="0" destOrd="0" presId="urn:microsoft.com/office/officeart/2005/8/layout/StepDownProcess"/>
    <dgm:cxn modelId="{D0EA8BC6-24CC-4372-B178-3A7166A0F2B6}" type="presOf" srcId="{8D49F6D0-BD74-458B-B2D7-12051B86F561}" destId="{B01A7CAF-F8DA-4BB9-AD4D-01D6FEE40268}" srcOrd="0" destOrd="0" presId="urn:microsoft.com/office/officeart/2005/8/layout/StepDownProcess"/>
    <dgm:cxn modelId="{18A0BCCD-F116-4339-96A8-E72533350E72}" srcId="{6EA4D812-1743-4C28-B7EC-AA830891ED24}" destId="{2B8C0C6B-EA25-4B14-AF52-CFA3F087DDAD}" srcOrd="1" destOrd="0" parTransId="{E2DFC5C9-2EB5-4D67-88C0-044FD3072429}" sibTransId="{8A572F1A-7850-40F9-AF15-9ECDFCDBD578}"/>
    <dgm:cxn modelId="{474427D7-3E4B-4E45-A36B-A4DECA4FB567}" srcId="{6EA4D812-1743-4C28-B7EC-AA830891ED24}" destId="{7236475C-427B-4118-B440-A040FEEFB909}" srcOrd="5" destOrd="0" parTransId="{ED2993B3-BA69-4C9E-B6BF-0EC387D5B2D7}" sibTransId="{25AF5A22-DAAF-4F25-A654-5E3F4761E471}"/>
    <dgm:cxn modelId="{0BD62DA0-DBCA-449B-8D6D-C08E60D4A634}" type="presParOf" srcId="{2D8BB2A1-3345-462E-B87A-C7F01F3E3463}" destId="{7AC25416-EAA4-40B3-8039-330B7E7183C0}" srcOrd="0" destOrd="0" presId="urn:microsoft.com/office/officeart/2005/8/layout/StepDownProcess"/>
    <dgm:cxn modelId="{DC47C237-54E4-49F7-A25E-DBC210BD066C}" type="presParOf" srcId="{7AC25416-EAA4-40B3-8039-330B7E7183C0}" destId="{2A0E6AAC-2853-47BA-8B5C-A89611E5F7B8}" srcOrd="0" destOrd="0" presId="urn:microsoft.com/office/officeart/2005/8/layout/StepDownProcess"/>
    <dgm:cxn modelId="{BD802F03-EE6A-49E6-8D3E-8CE9F3035445}" type="presParOf" srcId="{7AC25416-EAA4-40B3-8039-330B7E7183C0}" destId="{CF3F7430-3780-4A89-935D-02DA3A18E8B8}" srcOrd="1" destOrd="0" presId="urn:microsoft.com/office/officeart/2005/8/layout/StepDownProcess"/>
    <dgm:cxn modelId="{8256ACB5-7B40-486B-AC76-8E89DE67A304}" type="presParOf" srcId="{7AC25416-EAA4-40B3-8039-330B7E7183C0}" destId="{801A9BC4-F41A-46D4-8FF3-6646AB8C9FDD}" srcOrd="2" destOrd="0" presId="urn:microsoft.com/office/officeart/2005/8/layout/StepDownProcess"/>
    <dgm:cxn modelId="{D0B42BF9-770D-41BB-961F-8171B11A2665}" type="presParOf" srcId="{2D8BB2A1-3345-462E-B87A-C7F01F3E3463}" destId="{3353BC73-F3BC-47CB-8C16-9B46AC0F59DE}" srcOrd="1" destOrd="0" presId="urn:microsoft.com/office/officeart/2005/8/layout/StepDownProcess"/>
    <dgm:cxn modelId="{8319F4C9-3015-435F-BE8D-960C169119AA}" type="presParOf" srcId="{2D8BB2A1-3345-462E-B87A-C7F01F3E3463}" destId="{0884DB87-275E-4C3E-97B3-045E3B13C04A}" srcOrd="2" destOrd="0" presId="urn:microsoft.com/office/officeart/2005/8/layout/StepDownProcess"/>
    <dgm:cxn modelId="{2E1B3C69-40AE-4BA1-904F-30FDFE1A05C1}" type="presParOf" srcId="{0884DB87-275E-4C3E-97B3-045E3B13C04A}" destId="{E804DE15-41BD-4D51-B26A-AE58DFA05643}" srcOrd="0" destOrd="0" presId="urn:microsoft.com/office/officeart/2005/8/layout/StepDownProcess"/>
    <dgm:cxn modelId="{402D1367-6764-4EEE-8D94-38EEB40970E8}" type="presParOf" srcId="{0884DB87-275E-4C3E-97B3-045E3B13C04A}" destId="{CF04904D-CCED-42CB-8B87-059022D96D54}" srcOrd="1" destOrd="0" presId="urn:microsoft.com/office/officeart/2005/8/layout/StepDownProcess"/>
    <dgm:cxn modelId="{D141F7F0-D27F-4C9B-89C6-E32675BD4AB2}" type="presParOf" srcId="{0884DB87-275E-4C3E-97B3-045E3B13C04A}" destId="{206764C2-AC95-47B7-9485-1294390893D1}" srcOrd="2" destOrd="0" presId="urn:microsoft.com/office/officeart/2005/8/layout/StepDownProcess"/>
    <dgm:cxn modelId="{6098A8B0-F4FE-4BAB-B688-41E70F3405DA}" type="presParOf" srcId="{2D8BB2A1-3345-462E-B87A-C7F01F3E3463}" destId="{1BE30AA9-54E9-46FC-8D57-D1509E55C7F1}" srcOrd="3" destOrd="0" presId="urn:microsoft.com/office/officeart/2005/8/layout/StepDownProcess"/>
    <dgm:cxn modelId="{F34BD874-7860-475C-889C-FAE1AE03333F}" type="presParOf" srcId="{2D8BB2A1-3345-462E-B87A-C7F01F3E3463}" destId="{1B08FEC8-5F70-4350-97E7-B6BA683BD92F}" srcOrd="4" destOrd="0" presId="urn:microsoft.com/office/officeart/2005/8/layout/StepDownProcess"/>
    <dgm:cxn modelId="{7CB40A34-27A6-4DC0-9B2F-068B567C19CF}" type="presParOf" srcId="{1B08FEC8-5F70-4350-97E7-B6BA683BD92F}" destId="{43280A10-A815-4A4E-BA55-3CF9C66355E7}" srcOrd="0" destOrd="0" presId="urn:microsoft.com/office/officeart/2005/8/layout/StepDownProcess"/>
    <dgm:cxn modelId="{1140C26F-A71E-4D4C-A30F-5686DB5E18FA}" type="presParOf" srcId="{1B08FEC8-5F70-4350-97E7-B6BA683BD92F}" destId="{3DDC0823-F9EE-4CD7-BE72-E0009EDF0242}" srcOrd="1" destOrd="0" presId="urn:microsoft.com/office/officeart/2005/8/layout/StepDownProcess"/>
    <dgm:cxn modelId="{683F1EB3-2D09-46A6-83B7-AF950E04B8E1}" type="presParOf" srcId="{1B08FEC8-5F70-4350-97E7-B6BA683BD92F}" destId="{06D6D023-331C-450D-94C8-D5DFEA306BD9}" srcOrd="2" destOrd="0" presId="urn:microsoft.com/office/officeart/2005/8/layout/StepDownProcess"/>
    <dgm:cxn modelId="{F4DFC12B-0F4A-47A4-A15A-7BE06764BB25}" type="presParOf" srcId="{2D8BB2A1-3345-462E-B87A-C7F01F3E3463}" destId="{A8A2F711-C64D-49C2-BDA8-61D636CECD53}" srcOrd="5" destOrd="0" presId="urn:microsoft.com/office/officeart/2005/8/layout/StepDownProcess"/>
    <dgm:cxn modelId="{1FD846BA-88FE-4315-A28C-5DB6A322B256}" type="presParOf" srcId="{2D8BB2A1-3345-462E-B87A-C7F01F3E3463}" destId="{9D311A1C-B202-4B7F-9D15-CCAA4E610D6E}" srcOrd="6" destOrd="0" presId="urn:microsoft.com/office/officeart/2005/8/layout/StepDownProcess"/>
    <dgm:cxn modelId="{14421F60-C102-4C02-9E52-E66AE4E90224}" type="presParOf" srcId="{9D311A1C-B202-4B7F-9D15-CCAA4E610D6E}" destId="{93AA39CF-9F9A-4C46-9F7E-66EDF92A6460}" srcOrd="0" destOrd="0" presId="urn:microsoft.com/office/officeart/2005/8/layout/StepDownProcess"/>
    <dgm:cxn modelId="{14F65338-3757-465E-8C73-A73B8D892E18}" type="presParOf" srcId="{9D311A1C-B202-4B7F-9D15-CCAA4E610D6E}" destId="{4872DC63-B6AC-4245-AB4A-E25B0C60F5F6}" srcOrd="1" destOrd="0" presId="urn:microsoft.com/office/officeart/2005/8/layout/StepDownProcess"/>
    <dgm:cxn modelId="{E5D21475-EF9E-4EB0-820B-4DA26B131D06}" type="presParOf" srcId="{9D311A1C-B202-4B7F-9D15-CCAA4E610D6E}" destId="{F3E76375-E9E4-4129-B8F4-4784D4166169}" srcOrd="2" destOrd="0" presId="urn:microsoft.com/office/officeart/2005/8/layout/StepDownProcess"/>
    <dgm:cxn modelId="{F31650D3-9BFE-493F-A75D-ECD5AD4174C7}" type="presParOf" srcId="{2D8BB2A1-3345-462E-B87A-C7F01F3E3463}" destId="{7645A3EB-DE43-4A3B-8348-9F329259DBF2}" srcOrd="7" destOrd="0" presId="urn:microsoft.com/office/officeart/2005/8/layout/StepDownProcess"/>
    <dgm:cxn modelId="{06B68B1F-90B3-4B44-A6CB-C2C3E18D9233}" type="presParOf" srcId="{2D8BB2A1-3345-462E-B87A-C7F01F3E3463}" destId="{F2CFDEA3-FEA1-4A09-8FDD-5F2CAA8F9EC2}" srcOrd="8" destOrd="0" presId="urn:microsoft.com/office/officeart/2005/8/layout/StepDownProcess"/>
    <dgm:cxn modelId="{CBBA4095-88AC-42FA-AD57-87041F930C93}" type="presParOf" srcId="{F2CFDEA3-FEA1-4A09-8FDD-5F2CAA8F9EC2}" destId="{5D74CCFC-9D5F-4A7F-BF06-5E8929B23B1D}" srcOrd="0" destOrd="0" presId="urn:microsoft.com/office/officeart/2005/8/layout/StepDownProcess"/>
    <dgm:cxn modelId="{EF20870B-0449-48C5-BE19-5D7A3C680FC4}" type="presParOf" srcId="{F2CFDEA3-FEA1-4A09-8FDD-5F2CAA8F9EC2}" destId="{B01A7CAF-F8DA-4BB9-AD4D-01D6FEE40268}" srcOrd="1" destOrd="0" presId="urn:microsoft.com/office/officeart/2005/8/layout/StepDownProcess"/>
    <dgm:cxn modelId="{38ECDDFB-6E0A-4B8D-9E7A-102720991AA0}" type="presParOf" srcId="{F2CFDEA3-FEA1-4A09-8FDD-5F2CAA8F9EC2}" destId="{7BBFD7B5-FE8E-42B1-8FE4-22C0B29FB576}" srcOrd="2" destOrd="0" presId="urn:microsoft.com/office/officeart/2005/8/layout/StepDownProcess"/>
    <dgm:cxn modelId="{60D45E9A-F69A-4D60-9181-2917B109A63F}" type="presParOf" srcId="{2D8BB2A1-3345-462E-B87A-C7F01F3E3463}" destId="{61A0CE62-4701-4E05-9E33-36661B55941F}" srcOrd="9" destOrd="0" presId="urn:microsoft.com/office/officeart/2005/8/layout/StepDownProcess"/>
    <dgm:cxn modelId="{5B119FED-3B6C-4F0E-B396-79DF67B52312}" type="presParOf" srcId="{2D8BB2A1-3345-462E-B87A-C7F01F3E3463}" destId="{1A39B241-0B0C-418A-8EF9-1E8D6C5F1B82}" srcOrd="10" destOrd="0" presId="urn:microsoft.com/office/officeart/2005/8/layout/StepDownProcess"/>
    <dgm:cxn modelId="{AB339E81-8345-43C9-B775-0E5F438ACA02}" type="presParOf" srcId="{1A39B241-0B0C-418A-8EF9-1E8D6C5F1B82}" destId="{EC41CBC9-6A0B-484B-AA1A-674102174B1B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0E6AAC-2853-47BA-8B5C-A89611E5F7B8}">
      <dsp:nvSpPr>
        <dsp:cNvPr id="0" name=""/>
        <dsp:cNvSpPr/>
      </dsp:nvSpPr>
      <dsp:spPr>
        <a:xfrm rot="5400000">
          <a:off x="3019060" y="639642"/>
          <a:ext cx="550588" cy="62682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3F7430-3780-4A89-935D-02DA3A18E8B8}">
      <dsp:nvSpPr>
        <dsp:cNvPr id="0" name=""/>
        <dsp:cNvSpPr/>
      </dsp:nvSpPr>
      <dsp:spPr>
        <a:xfrm>
          <a:off x="2873187" y="29303"/>
          <a:ext cx="926867" cy="64877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Definir en donde estudiar</a:t>
          </a:r>
          <a:endParaRPr lang="es-CO" sz="900" kern="1200" dirty="0"/>
        </a:p>
      </dsp:txBody>
      <dsp:txXfrm>
        <a:off x="2904863" y="60979"/>
        <a:ext cx="863515" cy="585425"/>
      </dsp:txXfrm>
    </dsp:sp>
    <dsp:sp modelId="{801A9BC4-F41A-46D4-8FF3-6646AB8C9FDD}">
      <dsp:nvSpPr>
        <dsp:cNvPr id="0" name=""/>
        <dsp:cNvSpPr/>
      </dsp:nvSpPr>
      <dsp:spPr>
        <a:xfrm>
          <a:off x="3800054" y="91179"/>
          <a:ext cx="674114" cy="524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04DE15-41BD-4D51-B26A-AE58DFA05643}">
      <dsp:nvSpPr>
        <dsp:cNvPr id="0" name=""/>
        <dsp:cNvSpPr/>
      </dsp:nvSpPr>
      <dsp:spPr>
        <a:xfrm rot="5400000">
          <a:off x="3787531" y="1368433"/>
          <a:ext cx="550588" cy="62682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4904D-CCED-42CB-8B87-059022D96D54}">
      <dsp:nvSpPr>
        <dsp:cNvPr id="0" name=""/>
        <dsp:cNvSpPr/>
      </dsp:nvSpPr>
      <dsp:spPr>
        <a:xfrm>
          <a:off x="3641659" y="758094"/>
          <a:ext cx="926867" cy="64877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Obtener datos</a:t>
          </a:r>
          <a:endParaRPr lang="es-CO" sz="900" kern="1200" dirty="0"/>
        </a:p>
      </dsp:txBody>
      <dsp:txXfrm>
        <a:off x="3673335" y="789770"/>
        <a:ext cx="863515" cy="585425"/>
      </dsp:txXfrm>
    </dsp:sp>
    <dsp:sp modelId="{206764C2-AC95-47B7-9485-1294390893D1}">
      <dsp:nvSpPr>
        <dsp:cNvPr id="0" name=""/>
        <dsp:cNvSpPr/>
      </dsp:nvSpPr>
      <dsp:spPr>
        <a:xfrm>
          <a:off x="4568526" y="819970"/>
          <a:ext cx="674114" cy="524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700" kern="1200" dirty="0" err="1"/>
            <a:t>Gendivrange</a:t>
          </a:r>
          <a:endParaRPr lang="es-CO" sz="700" kern="1200" dirty="0"/>
        </a:p>
      </dsp:txBody>
      <dsp:txXfrm>
        <a:off x="4568526" y="819970"/>
        <a:ext cx="674114" cy="524370"/>
      </dsp:txXfrm>
    </dsp:sp>
    <dsp:sp modelId="{43280A10-A815-4A4E-BA55-3CF9C66355E7}">
      <dsp:nvSpPr>
        <dsp:cNvPr id="0" name=""/>
        <dsp:cNvSpPr/>
      </dsp:nvSpPr>
      <dsp:spPr>
        <a:xfrm rot="5400000">
          <a:off x="4556003" y="2097223"/>
          <a:ext cx="550588" cy="62682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DC0823-F9EE-4CD7-BE72-E0009EDF0242}">
      <dsp:nvSpPr>
        <dsp:cNvPr id="0" name=""/>
        <dsp:cNvSpPr/>
      </dsp:nvSpPr>
      <dsp:spPr>
        <a:xfrm>
          <a:off x="4410130" y="1486885"/>
          <a:ext cx="926867" cy="64877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Solo usar variables independientes</a:t>
          </a:r>
          <a:endParaRPr lang="es-CO" sz="900" kern="1200" dirty="0"/>
        </a:p>
      </dsp:txBody>
      <dsp:txXfrm>
        <a:off x="4441806" y="1518561"/>
        <a:ext cx="863515" cy="585425"/>
      </dsp:txXfrm>
    </dsp:sp>
    <dsp:sp modelId="{06D6D023-331C-450D-94C8-D5DFEA306BD9}">
      <dsp:nvSpPr>
        <dsp:cNvPr id="0" name=""/>
        <dsp:cNvSpPr/>
      </dsp:nvSpPr>
      <dsp:spPr>
        <a:xfrm>
          <a:off x="5336997" y="1548760"/>
          <a:ext cx="674114" cy="524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700" kern="1200" dirty="0" err="1"/>
            <a:t>Worldclim</a:t>
          </a:r>
          <a:endParaRPr lang="es-CO" sz="700" kern="1200" dirty="0"/>
        </a:p>
      </dsp:txBody>
      <dsp:txXfrm>
        <a:off x="5336997" y="1548760"/>
        <a:ext cx="674114" cy="524370"/>
      </dsp:txXfrm>
    </dsp:sp>
    <dsp:sp modelId="{93AA39CF-9F9A-4C46-9F7E-66EDF92A6460}">
      <dsp:nvSpPr>
        <dsp:cNvPr id="0" name=""/>
        <dsp:cNvSpPr/>
      </dsp:nvSpPr>
      <dsp:spPr>
        <a:xfrm rot="5400000">
          <a:off x="5324474" y="2826014"/>
          <a:ext cx="550588" cy="62682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72DC63-B6AC-4245-AB4A-E25B0C60F5F6}">
      <dsp:nvSpPr>
        <dsp:cNvPr id="0" name=""/>
        <dsp:cNvSpPr/>
      </dsp:nvSpPr>
      <dsp:spPr>
        <a:xfrm>
          <a:off x="5178602" y="2215675"/>
          <a:ext cx="926867" cy="64877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 err="1"/>
            <a:t>Grid</a:t>
          </a:r>
          <a:r>
            <a:rPr lang="es-ES" sz="900" kern="1200" dirty="0"/>
            <a:t> </a:t>
          </a:r>
          <a:r>
            <a:rPr lang="es-ES" sz="900" kern="1200" dirty="0" err="1"/>
            <a:t>search</a:t>
          </a:r>
          <a:endParaRPr lang="es-CO" sz="900" kern="1200" dirty="0"/>
        </a:p>
      </dsp:txBody>
      <dsp:txXfrm>
        <a:off x="5210278" y="2247351"/>
        <a:ext cx="863515" cy="585425"/>
      </dsp:txXfrm>
    </dsp:sp>
    <dsp:sp modelId="{F3E76375-E9E4-4129-B8F4-4784D4166169}">
      <dsp:nvSpPr>
        <dsp:cNvPr id="0" name=""/>
        <dsp:cNvSpPr/>
      </dsp:nvSpPr>
      <dsp:spPr>
        <a:xfrm>
          <a:off x="6105469" y="2277551"/>
          <a:ext cx="674114" cy="524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74CCFC-9D5F-4A7F-BF06-5E8929B23B1D}">
      <dsp:nvSpPr>
        <dsp:cNvPr id="0" name=""/>
        <dsp:cNvSpPr/>
      </dsp:nvSpPr>
      <dsp:spPr>
        <a:xfrm rot="5400000">
          <a:off x="6092946" y="3554805"/>
          <a:ext cx="550588" cy="62682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A7CAF-F8DA-4BB9-AD4D-01D6FEE40268}">
      <dsp:nvSpPr>
        <dsp:cNvPr id="0" name=""/>
        <dsp:cNvSpPr/>
      </dsp:nvSpPr>
      <dsp:spPr>
        <a:xfrm>
          <a:off x="5947073" y="2944466"/>
          <a:ext cx="926867" cy="64877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Proyectar a un espacio </a:t>
          </a:r>
          <a:r>
            <a:rPr lang="es-ES" sz="900" kern="1200" dirty="0" err="1"/>
            <a:t>geografico</a:t>
          </a:r>
          <a:endParaRPr lang="es-CO" sz="900" kern="1200" dirty="0"/>
        </a:p>
      </dsp:txBody>
      <dsp:txXfrm>
        <a:off x="5978749" y="2976142"/>
        <a:ext cx="863515" cy="585425"/>
      </dsp:txXfrm>
    </dsp:sp>
    <dsp:sp modelId="{7BBFD7B5-FE8E-42B1-8FE4-22C0B29FB576}">
      <dsp:nvSpPr>
        <dsp:cNvPr id="0" name=""/>
        <dsp:cNvSpPr/>
      </dsp:nvSpPr>
      <dsp:spPr>
        <a:xfrm>
          <a:off x="6873940" y="3006342"/>
          <a:ext cx="674114" cy="524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41CBC9-6A0B-484B-AA1A-674102174B1B}">
      <dsp:nvSpPr>
        <dsp:cNvPr id="0" name=""/>
        <dsp:cNvSpPr/>
      </dsp:nvSpPr>
      <dsp:spPr>
        <a:xfrm>
          <a:off x="6715545" y="3673257"/>
          <a:ext cx="926867" cy="64877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Visualizar</a:t>
          </a:r>
          <a:endParaRPr lang="es-CO" sz="900" kern="1200" dirty="0"/>
        </a:p>
      </dsp:txBody>
      <dsp:txXfrm>
        <a:off x="6747221" y="3704933"/>
        <a:ext cx="863515" cy="5854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0E4CB-CC68-4173-BAA0-3D0EB2D84362}" type="datetimeFigureOut">
              <a:rPr lang="es-CO" smtClean="0"/>
              <a:t>11/10/2026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A3B9E-A72C-4CED-9F89-F72FC0DE69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3836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A3B9E-A72C-4CED-9F89-F72FC0DE6964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6290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0DAF1-062D-BAFC-6544-CEC98E5E9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620126-FABC-96AD-0072-85D1796F2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45A98-1F7C-391D-83CB-422E2421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39FD-339B-4D18-81C2-EA1FC6E38DCB}" type="datetimeFigureOut">
              <a:rPr lang="es-CO" smtClean="0"/>
              <a:t>11/10/2026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18D6E0-2B9A-A700-209C-126752A9D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883D9-5E13-1C24-DFE8-F90F20E1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2D61-7047-455B-97BE-67224C478F0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6293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291A4-E717-4A85-A51E-A05EADB44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92C24B-5992-DF1D-8594-36E5DC143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3191DF-7E8D-6958-2780-FE46B1E2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39FD-339B-4D18-81C2-EA1FC6E38DCB}" type="datetimeFigureOut">
              <a:rPr lang="es-CO" smtClean="0"/>
              <a:t>11/10/2026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5CA7ED-9BFC-0525-AAB8-C357E5E0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5B39B6-2397-FB40-8343-2FC1B663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2D61-7047-455B-97BE-67224C478F0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8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D563F-F66C-2E7C-F5D0-3FA2B504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CEC5EA-2725-44CF-E551-53FD5127C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248168-6C47-B906-848D-E60F111D9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39FD-339B-4D18-81C2-EA1FC6E38DCB}" type="datetimeFigureOut">
              <a:rPr lang="es-CO" smtClean="0"/>
              <a:t>11/10/2026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A832E2-EC73-4172-6274-CF83A0E2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B08BE3-B09E-B11F-EFBE-7A8B8ECC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2D61-7047-455B-97BE-67224C478F0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348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C0273-6ADA-B30C-1510-12DAA122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9A66A7-70E1-F7C9-05A2-F6782594E8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FC8145-7833-8062-549B-DCE82B388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43BF0A-B7A3-2172-6D4B-605570E5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39FD-339B-4D18-81C2-EA1FC6E38DCB}" type="datetimeFigureOut">
              <a:rPr lang="es-CO" smtClean="0"/>
              <a:t>11/10/2026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1FFD60-ACDE-EC9F-51AB-6E7D5F21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5E2C63-67F7-56CC-FD78-70B3009A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2D61-7047-455B-97BE-67224C478F0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63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115D8-8DCF-BEF7-9353-60376CD80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A465B9-A1D1-8B5B-4282-B13D75938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EF82E5-9714-3C5F-68FF-67E71E7E1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EED85C0-1EE2-9D34-80DC-0AE2C3A4A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5EC57F1-ECD8-6EC7-613A-318E5E4B5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38381C9-C7B8-DA41-2F54-65530472B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39FD-339B-4D18-81C2-EA1FC6E38DCB}" type="datetimeFigureOut">
              <a:rPr lang="es-CO" smtClean="0"/>
              <a:t>11/10/2026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C17233B-769E-F367-87EF-C93BF26DB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201A701-BAB6-2590-B9EE-A12CAD8F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2D61-7047-455B-97BE-67224C478F0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8168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D5D05-7C30-6158-F5BA-FD3661FF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483201-E460-1EF2-1E58-44C30E3E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39FD-339B-4D18-81C2-EA1FC6E38DCB}" type="datetimeFigureOut">
              <a:rPr lang="es-CO" smtClean="0"/>
              <a:t>11/10/2026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DB5A5E-24F6-A176-05E4-20F22BB9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95285A-64BD-711C-AC50-18D0574D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2D61-7047-455B-97BE-67224C478F0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3007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BA771D-34B7-E4A4-E4B3-3274201E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39FD-339B-4D18-81C2-EA1FC6E38DCB}" type="datetimeFigureOut">
              <a:rPr lang="es-CO" smtClean="0"/>
              <a:t>11/10/2026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6CD8891-45D0-EC21-DC98-184D3E10F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EF0C22-4E2E-B8B4-28B9-7923981C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2D61-7047-455B-97BE-67224C478F0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378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33668-39D5-7F5E-0B91-88354D1AF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17F237-ED43-D69E-6234-D00A0CD40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22ADD6-863C-902F-F9A5-9946E39DA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FB8BE3-A9F9-65E6-9822-949D787CD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39FD-339B-4D18-81C2-EA1FC6E38DCB}" type="datetimeFigureOut">
              <a:rPr lang="es-CO" smtClean="0"/>
              <a:t>11/10/2026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C0BAB7-37F6-8627-DCB4-858BD573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1C08A1-FB98-BF6E-0BE6-044B55BBB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2D61-7047-455B-97BE-67224C478F0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856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A96C7-75D1-CEA8-DE9E-FD678FF36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FF0136-8836-6221-C734-1D602CA58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448687-7951-0FCA-E070-26754E00D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D31396-50A5-AB41-5732-2F93E3D8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39FD-339B-4D18-81C2-EA1FC6E38DCB}" type="datetimeFigureOut">
              <a:rPr lang="es-CO" smtClean="0"/>
              <a:t>11/10/2026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557CF8-BB29-2DAB-E11F-525075F1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9564D4-962B-8193-3493-9065A4A7C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2D61-7047-455B-97BE-67224C478F0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7390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5AE27-6CFD-9FA1-C3D3-B603BF32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2FCF94-6D8E-B966-365E-DE3E60D55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A50F5E-75B3-780E-D3F9-43BC81C0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39FD-339B-4D18-81C2-EA1FC6E38DCB}" type="datetimeFigureOut">
              <a:rPr lang="es-CO" smtClean="0"/>
              <a:t>11/10/2026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1D6CD3-4CD8-89BE-96CA-42FB1CFD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A0E12E-2473-43D9-772A-8182F37BA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2D61-7047-455B-97BE-67224C478F0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0306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F77971-D587-7C5A-3CD9-4F19AB44B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D49B3C-6A3A-3A24-F2C7-DF6C22391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45097C-2DE4-EE7B-BC53-C71CE721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39FD-339B-4D18-81C2-EA1FC6E38DCB}" type="datetimeFigureOut">
              <a:rPr lang="es-CO" smtClean="0"/>
              <a:t>11/10/2026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66FEC3-0A54-8E80-B3FD-8614E81AA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6B7AF-E299-75FB-72FD-992651C5E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2D61-7047-455B-97BE-67224C478F0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131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562F4B-D367-9CE0-B880-32EAABD9F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5BAD1E-5F1E-0829-FCDD-C87B6C302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95D8A8-31B0-6467-3E19-C3B43BDC9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839FD-339B-4D18-81C2-EA1FC6E38DCB}" type="datetimeFigureOut">
              <a:rPr lang="es-CO" smtClean="0"/>
              <a:t>11/10/2026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623E86-DD70-72BF-8E7E-AD540E709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7991AF-81F6-F468-AE3B-78DAF56CD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62D61-7047-455B-97BE-67224C478F0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4982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mx-es/topics/artificial-intelligence" TargetMode="External"/><Relationship Id="rId2" Type="http://schemas.openxmlformats.org/officeDocument/2006/relationships/hyperlink" Target="https://www.ibm.com/mx-es/topics/machine-learn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mx-es/think/topics/machine-learning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iopscience.iop.org/article/10.1088/2633-1357/ab805d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es.wikipedia.org/wiki/An%C3%A1lisis_discriminant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org&amp;utm_campaign=parser&amp;utm_content=thumbnail_unscaled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org&amp;utm_campaign=parser&amp;utm_content=thumbnail_unscaled"/><Relationship Id="rId2" Type="http://schemas.openxmlformats.org/officeDocument/2006/relationships/image" Target="../media/image24.org&amp;utm_campaign=parser&amp;utm_content=thumbnail_unscaled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org&amp;utm_campaign=parser&amp;utm_content=thumbnail_unscaled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antimeme/comments/1l5gc1v/werewolves_die_if_hit_by_a_silver_bullet/?tl=es-419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BlyQf2sBlo?feature=oembed" TargetMode="External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csosa/Interpolate-Genetic-diversity" TargetMode="External"/><Relationship Id="rId2" Type="http://schemas.openxmlformats.org/officeDocument/2006/relationships/image" Target="../media/image37.Dlj3Qp4OOK7GRuO_FW6CG78zScj7_kcrczu-p01jFNE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lgatto.github.io/IntroMachineLearningWithR/supervised-learning.html#classification-performanc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1B89C-ED2E-3A91-40C0-96AF77524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¡Aprendizaje de maquinas!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9A7E3A-1F18-2AD5-7D76-E0616E6F4F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31591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17813-92B4-718D-B101-40DEF3DC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E5805D-EDFE-5120-6AC4-0943581EC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El machine </a:t>
            </a:r>
            <a:r>
              <a:rPr lang="es-CO" dirty="0" err="1"/>
              <a:t>learning</a:t>
            </a:r>
            <a:r>
              <a:rPr lang="es-CO" dirty="0"/>
              <a:t> es el subconjunto de inteligencia artificial (IA) centrado en algoritmos que pueden "aprender" los patrones de los datos de entrenamiento y, posteriormente, hacer </a:t>
            </a:r>
            <a:r>
              <a:rPr lang="es-CO" i="1" dirty="0"/>
              <a:t>inferencias</a:t>
            </a:r>
            <a:r>
              <a:rPr lang="es-CO" dirty="0"/>
              <a:t> precisas sobre nuevos datos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6262D2-7089-C27C-2B6F-F2B743CE8314}"/>
              </a:ext>
            </a:extLst>
          </p:cNvPr>
          <p:cNvSpPr txBox="1"/>
          <p:nvPr/>
        </p:nvSpPr>
        <p:spPr>
          <a:xfrm>
            <a:off x="19664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https://www.ibm.com/mx-es/think/topics/machine-learning</a:t>
            </a:r>
          </a:p>
        </p:txBody>
      </p:sp>
    </p:spTree>
    <p:extLst>
      <p:ext uri="{BB962C8B-B14F-4D97-AF65-F5344CB8AC3E}">
        <p14:creationId xmlns:p14="http://schemas.microsoft.com/office/powerpoint/2010/main" val="60318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13017-BAB3-6875-FE12-7464C22E5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Hacer machine </a:t>
            </a:r>
            <a:r>
              <a:rPr lang="es-ES" dirty="0" err="1"/>
              <a:t>learning</a:t>
            </a:r>
            <a:r>
              <a:rPr lang="es-ES" dirty="0"/>
              <a:t> es como cocinar (ODMAP)</a:t>
            </a:r>
            <a:endParaRPr lang="es-CO" dirty="0"/>
          </a:p>
        </p:txBody>
      </p:sp>
      <p:pic>
        <p:nvPicPr>
          <p:cNvPr id="5" name="Imagen 4" descr="Un grupo de folletos sobre una mesa&#10;&#10;El contenido generado por IA puede ser incorrecto.">
            <a:extLst>
              <a:ext uri="{FF2B5EF4-FFF2-40B4-BE49-F238E27FC236}">
                <a16:creationId xmlns:a16="http://schemas.microsoft.com/office/drawing/2014/main" id="{2F920600-DF59-ADE2-77FC-5757452BA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15956"/>
            <a:ext cx="5439508" cy="305972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E8E52DF-8333-F1DC-B493-62D7903AE0F3}"/>
              </a:ext>
            </a:extLst>
          </p:cNvPr>
          <p:cNvSpPr txBox="1">
            <a:spLocks/>
          </p:cNvSpPr>
          <p:nvPr/>
        </p:nvSpPr>
        <p:spPr>
          <a:xfrm>
            <a:off x="147402" y="2521420"/>
            <a:ext cx="5535643" cy="4046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/>
                </a:solidFill>
              </a:rPr>
              <a:t>Overview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/>
                </a:solidFill>
              </a:rPr>
              <a:t>Data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/>
                </a:solidFill>
              </a:rPr>
              <a:t>Model fitting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/>
                </a:solidFill>
              </a:rPr>
              <a:t>Assessment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/>
                </a:solidFill>
              </a:rPr>
              <a:t>Predictions</a:t>
            </a:r>
          </a:p>
        </p:txBody>
      </p:sp>
    </p:spTree>
    <p:extLst>
      <p:ext uri="{BB962C8B-B14F-4D97-AF65-F5344CB8AC3E}">
        <p14:creationId xmlns:p14="http://schemas.microsoft.com/office/powerpoint/2010/main" val="3324158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C7823-4A9F-C6AB-6BF7-93E70B8D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770E70-A846-8E7F-05F4-19A2041D2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 descr="types_of_machine_learning">
            <a:extLst>
              <a:ext uri="{FF2B5EF4-FFF2-40B4-BE49-F238E27FC236}">
                <a16:creationId xmlns:a16="http://schemas.microsoft.com/office/drawing/2014/main" id="{E462E590-A738-168A-CA41-3B40AD2B9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16194"/>
            <a:ext cx="9143999" cy="4572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99EE2D9-4CAF-E76C-FD16-082FECC81D5C}"/>
              </a:ext>
            </a:extLst>
          </p:cNvPr>
          <p:cNvSpPr txBox="1"/>
          <p:nvPr/>
        </p:nvSpPr>
        <p:spPr>
          <a:xfrm>
            <a:off x="216310" y="59887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https://www.geeksforgeeks.org/machine-learning/types-of-machine-learning/</a:t>
            </a:r>
          </a:p>
        </p:txBody>
      </p:sp>
    </p:spTree>
    <p:extLst>
      <p:ext uri="{BB962C8B-B14F-4D97-AF65-F5344CB8AC3E}">
        <p14:creationId xmlns:p14="http://schemas.microsoft.com/office/powerpoint/2010/main" val="3281454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07F2C-679D-1479-51A4-D1B3DCE56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Aprendizaje supervisado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871CED-A7DD-A8A2-3686-5134F4F6C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CO" dirty="0"/>
              <a:t>El aprendizaje supervisado es una técnica de </a:t>
            </a:r>
            <a:r>
              <a:rPr lang="es-CO" dirty="0">
                <a:hlinkClick r:id="rId2"/>
              </a:rPr>
              <a:t>machine </a:t>
            </a:r>
            <a:r>
              <a:rPr lang="es-CO" dirty="0" err="1">
                <a:hlinkClick r:id="rId2"/>
              </a:rPr>
              <a:t>learning</a:t>
            </a:r>
            <a:r>
              <a:rPr lang="es-CO" dirty="0"/>
              <a:t> que utiliza conjuntos de datos etiquetados para entrenar </a:t>
            </a:r>
            <a:r>
              <a:rPr lang="es-CO" dirty="0">
                <a:hlinkClick r:id="rId3"/>
              </a:rPr>
              <a:t>modelos de inteligencia artificial</a:t>
            </a:r>
            <a:r>
              <a:rPr lang="es-CO" dirty="0"/>
              <a:t> (IA) para identificar los patrones y relaciones subyacentes.</a:t>
            </a:r>
          </a:p>
          <a:p>
            <a:pPr marL="0" indent="0">
              <a:buNone/>
            </a:pPr>
            <a:br>
              <a:rPr lang="es-CO" dirty="0"/>
            </a:b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378176-A471-2D80-BA28-62C0605D0802}"/>
              </a:ext>
            </a:extLst>
          </p:cNvPr>
          <p:cNvSpPr txBox="1"/>
          <p:nvPr/>
        </p:nvSpPr>
        <p:spPr>
          <a:xfrm>
            <a:off x="19664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https://www.ibm.com/mx-es/think/topics/machine-learning</a:t>
            </a:r>
          </a:p>
        </p:txBody>
      </p:sp>
    </p:spTree>
    <p:extLst>
      <p:ext uri="{BB962C8B-B14F-4D97-AF65-F5344CB8AC3E}">
        <p14:creationId xmlns:p14="http://schemas.microsoft.com/office/powerpoint/2010/main" val="3447061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EB552-D986-280E-6487-81835278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70C9EA-1700-154D-036E-73D43E40E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6" name="Imagen 5" descr="supervised_learning">
            <a:extLst>
              <a:ext uri="{FF2B5EF4-FFF2-40B4-BE49-F238E27FC236}">
                <a16:creationId xmlns:a16="http://schemas.microsoft.com/office/drawing/2014/main" id="{8D7F897F-B315-FC87-AD86-C6BDD2D2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922" y="1027906"/>
            <a:ext cx="9141489" cy="457074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DB39870-DAE7-FE63-4CCA-E43BF89C7F23}"/>
              </a:ext>
            </a:extLst>
          </p:cNvPr>
          <p:cNvSpPr txBox="1"/>
          <p:nvPr/>
        </p:nvSpPr>
        <p:spPr>
          <a:xfrm>
            <a:off x="216310" y="606780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https://www.geeksforgeeks.org/machine-learning/types-of-machine-learning/</a:t>
            </a:r>
          </a:p>
        </p:txBody>
      </p:sp>
    </p:spTree>
    <p:extLst>
      <p:ext uri="{BB962C8B-B14F-4D97-AF65-F5344CB8AC3E}">
        <p14:creationId xmlns:p14="http://schemas.microsoft.com/office/powerpoint/2010/main" val="1829549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B42BA-D7EE-6BB6-316A-AF41C95F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Aprendizaje  no supervisado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26EC42-4E9A-381A-A0E8-80AB9A025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CO" dirty="0"/>
              <a:t>El aprendizaje no supervisado, también conocido como </a:t>
            </a:r>
            <a:r>
              <a:rPr lang="es-CO" dirty="0">
                <a:hlinkClick r:id="rId2"/>
              </a:rPr>
              <a:t>machine </a:t>
            </a:r>
            <a:r>
              <a:rPr lang="es-CO" dirty="0" err="1">
                <a:hlinkClick r:id="rId2"/>
              </a:rPr>
              <a:t>learning</a:t>
            </a:r>
            <a:r>
              <a:rPr lang="es-CO" dirty="0">
                <a:hlinkClick r:id="rId2"/>
              </a:rPr>
              <a:t> no supervisado</a:t>
            </a:r>
            <a:r>
              <a:rPr lang="es-CO" dirty="0"/>
              <a:t>, utiliza algoritmos de </a:t>
            </a:r>
            <a:r>
              <a:rPr lang="es-CO" dirty="0">
                <a:hlinkClick r:id="rId2"/>
              </a:rPr>
              <a:t>machine </a:t>
            </a:r>
            <a:r>
              <a:rPr lang="es-CO" dirty="0" err="1">
                <a:hlinkClick r:id="rId2"/>
              </a:rPr>
              <a:t>learning</a:t>
            </a:r>
            <a:r>
              <a:rPr lang="es-CO" dirty="0"/>
              <a:t> (ML) para analizar y agrupar conjuntos de datos sin etiquetar. Estos algoritmos descubren patrones ocultos o agrupaciones de datos sin necesidad de intervención humana.</a:t>
            </a:r>
          </a:p>
          <a:p>
            <a:pPr marL="0" indent="0">
              <a:buNone/>
            </a:pPr>
            <a:br>
              <a:rPr lang="es-CO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065C05A-24C1-C9B5-F3B2-13E7962BC9CA}"/>
              </a:ext>
            </a:extLst>
          </p:cNvPr>
          <p:cNvSpPr txBox="1"/>
          <p:nvPr/>
        </p:nvSpPr>
        <p:spPr>
          <a:xfrm>
            <a:off x="19664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https://www.ibm.com/mx-es/think/topics/machine-learning</a:t>
            </a:r>
          </a:p>
        </p:txBody>
      </p:sp>
    </p:spTree>
    <p:extLst>
      <p:ext uri="{BB962C8B-B14F-4D97-AF65-F5344CB8AC3E}">
        <p14:creationId xmlns:p14="http://schemas.microsoft.com/office/powerpoint/2010/main" val="160425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0F0F19-0F89-AAD0-C488-F17B07B3F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4236C1-1F5E-660A-5F67-1A836E83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8" name="Imagen 7" descr="unsupervised_learning">
            <a:extLst>
              <a:ext uri="{FF2B5EF4-FFF2-40B4-BE49-F238E27FC236}">
                <a16:creationId xmlns:a16="http://schemas.microsoft.com/office/drawing/2014/main" id="{03FE6B63-CA61-A078-B0A1-789D3BCDB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54" y="1263445"/>
            <a:ext cx="9143999" cy="4572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B4F7BE-4152-D7E7-A808-50EE322C6B3B}"/>
              </a:ext>
            </a:extLst>
          </p:cNvPr>
          <p:cNvSpPr txBox="1"/>
          <p:nvPr/>
        </p:nvSpPr>
        <p:spPr>
          <a:xfrm>
            <a:off x="422787" y="597038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https://www.geeksforgeeks.org/machine-learning/types-of-machine-learning/</a:t>
            </a:r>
          </a:p>
        </p:txBody>
      </p:sp>
    </p:spTree>
    <p:extLst>
      <p:ext uri="{BB962C8B-B14F-4D97-AF65-F5344CB8AC3E}">
        <p14:creationId xmlns:p14="http://schemas.microsoft.com/office/powerpoint/2010/main" val="3596326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8EADD3-AECA-C87A-5380-B4F971EB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err="1"/>
              <a:t>Reinforcement</a:t>
            </a:r>
            <a:r>
              <a:rPr lang="es-CO" b="1" dirty="0"/>
              <a:t> </a:t>
            </a:r>
            <a:r>
              <a:rPr lang="es-CO" b="1" dirty="0" err="1"/>
              <a:t>Learning</a:t>
            </a:r>
            <a:br>
              <a:rPr lang="es-CO" b="1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7EC88A-1641-9993-7D89-94444FC37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CO" dirty="0"/>
              <a:t>El aprendizaje por refuerzo consiste esencialmente en la relación entre un agente, el entorno y el objetivo. La literatura formula ampliamente esta relación en términos del proceso de decisión de Markov (MDP).</a:t>
            </a:r>
            <a:br>
              <a:rPr lang="es-CO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0639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F4EBC-35EB-9648-701A-399100DA7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099491-FD55-BE12-A87C-9702C1361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6" name="Imagen 5" descr="agent">
            <a:extLst>
              <a:ext uri="{FF2B5EF4-FFF2-40B4-BE49-F238E27FC236}">
                <a16:creationId xmlns:a16="http://schemas.microsoft.com/office/drawing/2014/main" id="{4B87096E-DFE1-D13F-8FF4-D19046A33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216" y="1460715"/>
            <a:ext cx="7697954" cy="508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82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6E143-34BC-9DB9-70C4-117320A8F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 resumen</a:t>
            </a:r>
            <a:br>
              <a:rPr lang="es-CO" dirty="0"/>
            </a:br>
            <a:endParaRPr lang="es-CO" dirty="0"/>
          </a:p>
        </p:txBody>
      </p:sp>
      <p:pic>
        <p:nvPicPr>
          <p:cNvPr id="6" name="Imagen 5" descr="ML types">
            <a:extLst>
              <a:ext uri="{FF2B5EF4-FFF2-40B4-BE49-F238E27FC236}">
                <a16:creationId xmlns:a16="http://schemas.microsoft.com/office/drawing/2014/main" id="{008D14AB-5033-FE35-DDAC-9933D2E01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202" y="428499"/>
            <a:ext cx="6868858" cy="514718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3D72110-F038-BAC0-D5FE-CC048A2F67AE}"/>
              </a:ext>
            </a:extLst>
          </p:cNvPr>
          <p:cNvSpPr txBox="1"/>
          <p:nvPr/>
        </p:nvSpPr>
        <p:spPr>
          <a:xfrm>
            <a:off x="98322" y="5850235"/>
            <a:ext cx="10127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https://pythonnumericalmethods.studentorg.berkeley.edu/notebooks/chapter25.01-Concept-of-Machine-Learning.html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30FE950-C39E-3453-E624-D1ACCB180B11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21840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BF5EA-D4C7-699D-3E66-F30B43F5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Usos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E66191-63E2-3C39-5990-C90BFFB0C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DD504C0-2412-1059-20C6-DE36CF2EA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046" y="778771"/>
            <a:ext cx="7191765" cy="514718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4F96A3B-1493-4237-CCA1-8CDE11EACBC4}"/>
              </a:ext>
            </a:extLst>
          </p:cNvPr>
          <p:cNvSpPr txBox="1"/>
          <p:nvPr/>
        </p:nvSpPr>
        <p:spPr>
          <a:xfrm>
            <a:off x="-157317" y="6211669"/>
            <a:ext cx="12172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https://www.linkedin.com/pulse/understanding-fundamentals-ai-technology-sanyam-goyal/</a:t>
            </a:r>
          </a:p>
        </p:txBody>
      </p:sp>
    </p:spTree>
    <p:extLst>
      <p:ext uri="{BB962C8B-B14F-4D97-AF65-F5344CB8AC3E}">
        <p14:creationId xmlns:p14="http://schemas.microsoft.com/office/powerpoint/2010/main" val="340191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7948D-9D82-9330-FC72-6338B7AAF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D4BE2-D0B0-1D69-85C4-044827523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77697" cy="1325563"/>
          </a:xfrm>
        </p:spPr>
        <p:txBody>
          <a:bodyPr/>
          <a:lstStyle/>
          <a:p>
            <a:r>
              <a:rPr lang="es-ES" dirty="0"/>
              <a:t>En el caso de SDM:</a:t>
            </a:r>
            <a:endParaRPr lang="es-CO" dirty="0"/>
          </a:p>
        </p:txBody>
      </p:sp>
      <p:pic>
        <p:nvPicPr>
          <p:cNvPr id="6" name="Imagen 5" descr="ML types">
            <a:extLst>
              <a:ext uri="{FF2B5EF4-FFF2-40B4-BE49-F238E27FC236}">
                <a16:creationId xmlns:a16="http://schemas.microsoft.com/office/drawing/2014/main" id="{6323F288-441F-E8EC-FBAB-0CA0BCB21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620" y="517525"/>
            <a:ext cx="6868858" cy="514718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2CB38CE-3FA3-6AA1-E34A-22507912A253}"/>
              </a:ext>
            </a:extLst>
          </p:cNvPr>
          <p:cNvSpPr/>
          <p:nvPr/>
        </p:nvSpPr>
        <p:spPr>
          <a:xfrm>
            <a:off x="4970047" y="4019801"/>
            <a:ext cx="1932198" cy="16449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3D3E853-B08A-5C84-24FB-618BF579B9EE}"/>
              </a:ext>
            </a:extLst>
          </p:cNvPr>
          <p:cNvSpPr txBox="1"/>
          <p:nvPr/>
        </p:nvSpPr>
        <p:spPr>
          <a:xfrm>
            <a:off x="98322" y="5850235"/>
            <a:ext cx="10127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https://pythonnumericalmethods.studentorg.berkeley.edu/notebooks/chapter25.01-Concept-of-Machine-Learning.html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DB047442-0FC8-E1EA-17E5-B27C19362FB4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09294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45542-CE7B-33A6-754C-D269C715D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60D622-71DF-7905-B330-815874C24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2843A4-F725-0A55-2662-EEF62B373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37" y="218627"/>
            <a:ext cx="7354326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37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82ADA-3BC8-7A86-C8F0-EDC7D3CBA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tenemos?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9C550D-AFA9-A639-5081-2FFED100E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4" name="Imagen 3" descr="Data representation">
            <a:extLst>
              <a:ext uri="{FF2B5EF4-FFF2-40B4-BE49-F238E27FC236}">
                <a16:creationId xmlns:a16="http://schemas.microsoft.com/office/drawing/2014/main" id="{24137C61-F6A5-A9A4-862A-BA8237BE4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156" y="1341480"/>
            <a:ext cx="8045986" cy="514718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802DF92-60D8-D556-5752-C1E3518FBD02}"/>
              </a:ext>
            </a:extLst>
          </p:cNvPr>
          <p:cNvSpPr txBox="1"/>
          <p:nvPr/>
        </p:nvSpPr>
        <p:spPr>
          <a:xfrm>
            <a:off x="-103239" y="6488668"/>
            <a:ext cx="12398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https://pythonnumericalmethods.studentorg.berkeley.edu/notebooks/chapter25.01-Concept-of-Machine-Learning.html</a:t>
            </a:r>
          </a:p>
        </p:txBody>
      </p:sp>
    </p:spTree>
    <p:extLst>
      <p:ext uri="{BB962C8B-B14F-4D97-AF65-F5344CB8AC3E}">
        <p14:creationId xmlns:p14="http://schemas.microsoft.com/office/powerpoint/2010/main" val="1649981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68292-3E4C-2DD0-4E18-53D820EE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 SDM: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497160-BCC9-C2D6-779F-62AABE136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3" y="1825625"/>
            <a:ext cx="3932903" cy="4351338"/>
          </a:xfrm>
        </p:spPr>
        <p:txBody>
          <a:bodyPr/>
          <a:lstStyle/>
          <a:p>
            <a:r>
              <a:rPr lang="es-ES" dirty="0"/>
              <a:t>Un </a:t>
            </a:r>
            <a:r>
              <a:rPr lang="es-ES" dirty="0" err="1"/>
              <a:t>raster</a:t>
            </a:r>
            <a:r>
              <a:rPr lang="es-ES" dirty="0"/>
              <a:t> o un </a:t>
            </a:r>
            <a:r>
              <a:rPr lang="es-ES" dirty="0" err="1"/>
              <a:t>stack</a:t>
            </a:r>
            <a:r>
              <a:rPr lang="es-ES" dirty="0"/>
              <a:t> es una matriz</a:t>
            </a:r>
          </a:p>
          <a:p>
            <a:r>
              <a:rPr lang="es-ES" dirty="0"/>
              <a:t>Cada celda puede funcionar como una matriz individual de n capas</a:t>
            </a:r>
            <a:endParaRPr lang="es-CO" dirty="0"/>
          </a:p>
        </p:txBody>
      </p:sp>
      <p:pic>
        <p:nvPicPr>
          <p:cNvPr id="4" name="Imagen 3" descr="Introducción a los datos ráster y de imagen | Documentación de ArcGIS Pro">
            <a:extLst>
              <a:ext uri="{FF2B5EF4-FFF2-40B4-BE49-F238E27FC236}">
                <a16:creationId xmlns:a16="http://schemas.microsoft.com/office/drawing/2014/main" id="{4AADACF8-3C32-E3FB-5144-8A94CB06F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098" y="681037"/>
            <a:ext cx="8233902" cy="51537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FAB1072-E440-7DA1-56C6-623D88D9E475}"/>
              </a:ext>
            </a:extLst>
          </p:cNvPr>
          <p:cNvSpPr txBox="1"/>
          <p:nvPr/>
        </p:nvSpPr>
        <p:spPr>
          <a:xfrm>
            <a:off x="0" y="571529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https://doc.esri.com/es/arcgis-pro/latest/help/data/imagery/introduction-to-raster-data.html</a:t>
            </a:r>
          </a:p>
        </p:txBody>
      </p:sp>
    </p:spTree>
    <p:extLst>
      <p:ext uri="{BB962C8B-B14F-4D97-AF65-F5344CB8AC3E}">
        <p14:creationId xmlns:p14="http://schemas.microsoft.com/office/powerpoint/2010/main" val="3691829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549E3-42FE-27E3-F714-9C5DCE713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699"/>
            <a:ext cx="10515600" cy="1325563"/>
          </a:xfrm>
        </p:spPr>
        <p:txBody>
          <a:bodyPr/>
          <a:lstStyle/>
          <a:p>
            <a:r>
              <a:rPr lang="es-ES" dirty="0"/>
              <a:t>¿Qué hacemos en ML?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AD311A-8CE5-5606-A303-3B557C1E1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4E3BCEB-71BE-2E11-783D-BE29AD72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5036597"/>
            <a:ext cx="3459457" cy="167870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8359133-1A78-86CF-DC5E-B0D950CD9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2351"/>
            <a:ext cx="12192000" cy="388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48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7D47F-9DFA-843F-5C79-BDA11D3F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A2C8-74B5-4D63-37DE-FAA8715A8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95"/>
            <a:ext cx="10515600" cy="1053477"/>
          </a:xfrm>
        </p:spPr>
        <p:txBody>
          <a:bodyPr/>
          <a:lstStyle/>
          <a:p>
            <a:pPr algn="ctr"/>
            <a:r>
              <a:rPr lang="en-US"/>
              <a:t>	How a model workflow looks like?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ADBAD47-1F08-5F45-EA54-9AF2CCB2E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68819"/>
            <a:ext cx="10226040" cy="46336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D88A4E-34F4-E764-1AC1-E1DF3475EF60}"/>
              </a:ext>
            </a:extLst>
          </p:cNvPr>
          <p:cNvSpPr txBox="1"/>
          <p:nvPr/>
        </p:nvSpPr>
        <p:spPr>
          <a:xfrm>
            <a:off x="838200" y="6313151"/>
            <a:ext cx="7626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https://iopscience.iop.org/article/10.1088/2633-1357/ab805d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6404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9A0BC-4739-3F00-CCE8-231A0AB72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2858" cy="1325563"/>
          </a:xfrm>
        </p:spPr>
        <p:txBody>
          <a:bodyPr/>
          <a:lstStyle/>
          <a:p>
            <a:r>
              <a:rPr lang="es-ES" dirty="0"/>
              <a:t>A que nos enfrentamos: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17095C-EB41-272A-159B-ABA9F8757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Errores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48A45E8-102F-9CC1-B55E-DE577A516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833" y="108330"/>
            <a:ext cx="7678222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954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E90AD-649D-D355-31E0-8DAC8D835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 lo que nos enfrentamos II: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9CF36D-814A-970F-B316-57EE3A7AB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Tiempo de computación</a:t>
            </a:r>
          </a:p>
          <a:p>
            <a:r>
              <a:rPr lang="es-ES" dirty="0" err="1"/>
              <a:t>Algoritmica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70AA18-A8BA-172A-5860-28D34B699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291" y="-86032"/>
            <a:ext cx="4686709" cy="703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18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0AE48-E86E-FF80-0CFE-9E1BE5E5D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02B5-3692-A442-444E-286577097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 lo que nos enfrentamos III: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0F2AF-263E-0C3D-7A13-9155C5DB9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No todo lo que brilla es oro: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BBF0A4E-7E55-1B5B-7BEA-8B8334277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747" y="585586"/>
            <a:ext cx="4383413" cy="614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410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7E0EB-EEA2-F6DC-2895-675071D57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D9C0B-6E8D-CE0E-732A-2EE50646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 lo que nos enfrentamos IV: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90A298-623A-F109-F84A-CCC3CEEBA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Cómo se procesa hace la diferencia: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3CCE9C-39CA-2494-92C7-9FFAA2C05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363" y="1228572"/>
            <a:ext cx="4330495" cy="541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24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5EEF4-44C2-018C-2EF1-0F876AB22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7BD12-7067-FD22-9A46-4D8B0464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 lo que nos enfrentamos V: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4B97F8-76E9-527C-CAB5-2DFB16F49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93542" cy="4351338"/>
          </a:xfrm>
        </p:spPr>
        <p:txBody>
          <a:bodyPr/>
          <a:lstStyle/>
          <a:p>
            <a:r>
              <a:rPr lang="es-ES" dirty="0"/>
              <a:t>¿Cómo se hace para saber que nuestro modelo es adecuado?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FBE9D8-6D80-D96C-AC9B-9E690EDA4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938" y="934065"/>
            <a:ext cx="4560287" cy="570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00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EB78-D967-0F8D-DA36-39FB2453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Nuestro </a:t>
            </a:r>
            <a:r>
              <a:rPr lang="en-US" dirty="0" err="1"/>
              <a:t>mapa</a:t>
            </a:r>
            <a:r>
              <a:rPr lang="en-US" dirty="0"/>
              <a:t>: ODMAP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C300C-3D86-E37A-D43C-AB4FF82A2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917AE7E-3676-B7AF-350E-57A8C0837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077" y="1507205"/>
            <a:ext cx="70355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348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9CA91-D8F6-A0F4-7893-F9398C299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89437-6021-69AC-1D9C-38F4FE41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C152F-3421-C01D-C9B9-2AF8B5C3D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156408F-F969-81DC-D7FC-576F8A9914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72" r="47903"/>
          <a:stretch>
            <a:fillRect/>
          </a:stretch>
        </p:blipFill>
        <p:spPr>
          <a:xfrm>
            <a:off x="771082" y="365125"/>
            <a:ext cx="1917291" cy="388424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55565DC-0C2A-DBC7-C2B2-B488B823D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873" y="763844"/>
            <a:ext cx="4330495" cy="541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28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B789-EA10-53DE-A76C-D0AF687E3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B91B8-BA09-FF33-D776-B782FEF3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958" y="365125"/>
            <a:ext cx="8660842" cy="1325563"/>
          </a:xfrm>
        </p:spPr>
        <p:txBody>
          <a:bodyPr/>
          <a:lstStyle/>
          <a:p>
            <a:r>
              <a:rPr lang="es-ES" dirty="0"/>
              <a:t>Dilemas: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B67439-3C84-083E-CA42-7262B9AEE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508" y="1825625"/>
            <a:ext cx="8962292" cy="4351338"/>
          </a:xfrm>
        </p:spPr>
        <p:txBody>
          <a:bodyPr/>
          <a:lstStyle/>
          <a:p>
            <a:r>
              <a:rPr lang="es-ES" dirty="0"/>
              <a:t>¿Con qué datos entrenar un modelo?</a:t>
            </a: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FFAA517-64B8-9EA1-AF6F-1CAA9ED969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11" r="36219"/>
          <a:stretch>
            <a:fillRect/>
          </a:stretch>
        </p:blipFill>
        <p:spPr>
          <a:xfrm>
            <a:off x="200968" y="0"/>
            <a:ext cx="1788606" cy="388424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DE6C300-9AA3-238E-F483-5E4EF6669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133" y="2694039"/>
            <a:ext cx="5394917" cy="361786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698550B-4FB2-DFB4-FB00-5438E298A42D}"/>
              </a:ext>
            </a:extLst>
          </p:cNvPr>
          <p:cNvSpPr txBox="1"/>
          <p:nvPr/>
        </p:nvSpPr>
        <p:spPr>
          <a:xfrm>
            <a:off x="0" y="6314205"/>
            <a:ext cx="9429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https://qu4nt.github.io/sklearn-doc-es/modules/cross_validation.html</a:t>
            </a:r>
          </a:p>
        </p:txBody>
      </p:sp>
    </p:spTree>
    <p:extLst>
      <p:ext uri="{BB962C8B-B14F-4D97-AF65-F5344CB8AC3E}">
        <p14:creationId xmlns:p14="http://schemas.microsoft.com/office/powerpoint/2010/main" val="1848163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91A2E-591D-8B55-C742-696F6A603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2ED0CD-99D8-9E8D-467C-D51B46FA5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2443D1-714E-35FD-7E8C-E45A5C556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624" y="121074"/>
            <a:ext cx="7039328" cy="62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72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81E40-9BB8-469D-DE14-D16E6413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0065B4-032F-D96B-C85A-392682C16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6DCC74-EF85-3347-FB25-5C6F6498A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10" y="281708"/>
            <a:ext cx="7192379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82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5FA78-352D-29AC-5E21-8EEEA6C38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2D6718-2323-F474-9D23-D420912E5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508" y="1825625"/>
            <a:ext cx="8962292" cy="4351338"/>
          </a:xfrm>
        </p:spPr>
        <p:txBody>
          <a:bodyPr/>
          <a:lstStyle/>
          <a:p>
            <a:r>
              <a:rPr lang="es-ES" dirty="0"/>
              <a:t>Validación cruzada: G</a:t>
            </a:r>
            <a:r>
              <a:rPr lang="es-CO" dirty="0" err="1"/>
              <a:t>arantizar</a:t>
            </a:r>
            <a:r>
              <a:rPr lang="es-CO" dirty="0"/>
              <a:t> que los datos son </a:t>
            </a:r>
            <a:r>
              <a:rPr lang="es-CO" dirty="0">
                <a:hlinkClick r:id="rId2" tooltip="Análisis discriminante"/>
              </a:rPr>
              <a:t>independientes</a:t>
            </a:r>
            <a:r>
              <a:rPr lang="es-CO" dirty="0"/>
              <a:t> de la partición entre datos de entrenamiento y prueba.</a:t>
            </a:r>
          </a:p>
          <a:p>
            <a:endParaRPr lang="es-CO" dirty="0"/>
          </a:p>
          <a:p>
            <a:r>
              <a:rPr lang="es-CO" dirty="0"/>
              <a:t>Partir datos en entrenamiento (Qué el modelo aprenda)</a:t>
            </a:r>
          </a:p>
          <a:p>
            <a:r>
              <a:rPr lang="es-CO" dirty="0"/>
              <a:t>Partir datos en evaluación (Qué prediga parte de los datos)</a:t>
            </a:r>
          </a:p>
          <a:p>
            <a:r>
              <a:rPr lang="es-CO" dirty="0"/>
              <a:t>¡Requiere métricas!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0174D7E-F3AE-6EB2-67B6-D1D27B06B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839" t="1379" r="24186" b="-1379"/>
          <a:stretch>
            <a:fillRect/>
          </a:stretch>
        </p:blipFill>
        <p:spPr>
          <a:xfrm>
            <a:off x="74525" y="0"/>
            <a:ext cx="2069683" cy="3884246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E40A702D-597D-C4A1-28D0-C1D8B3A4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10" y="365125"/>
            <a:ext cx="8699090" cy="1325563"/>
          </a:xfrm>
        </p:spPr>
        <p:txBody>
          <a:bodyPr/>
          <a:lstStyle/>
          <a:p>
            <a:r>
              <a:rPr lang="es-ES" dirty="0"/>
              <a:t>¿cómo evaluó que si estoy haciéndolo bien</a:t>
            </a:r>
            <a:endParaRPr lang="es-CO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3D56F91-7F24-B741-85A2-5AFA24F34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566" y="4845663"/>
            <a:ext cx="4878234" cy="146623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290BBAE-2644-4147-87F9-F00A84997F75}"/>
              </a:ext>
            </a:extLst>
          </p:cNvPr>
          <p:cNvSpPr txBox="1"/>
          <p:nvPr/>
        </p:nvSpPr>
        <p:spPr>
          <a:xfrm>
            <a:off x="255639" y="631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https://es.wikipedia.org/wiki/Validaci%C3%B3n_cruzada</a:t>
            </a:r>
          </a:p>
        </p:txBody>
      </p:sp>
    </p:spTree>
    <p:extLst>
      <p:ext uri="{BB962C8B-B14F-4D97-AF65-F5344CB8AC3E}">
        <p14:creationId xmlns:p14="http://schemas.microsoft.com/office/powerpoint/2010/main" val="443870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9BA9B-4ACB-AF79-9D45-271015297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3AB4FC-DA97-0F1A-B26F-667F30A02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76F7D60-6930-04E6-C1E5-4F100BEB8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038" y="-62420"/>
            <a:ext cx="5586272" cy="698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54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E12E9F63-9A75-D561-D8BD-A2CCC6F4B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K </a:t>
            </a:r>
            <a:r>
              <a:rPr lang="es-ES" dirty="0" err="1"/>
              <a:t>fold</a:t>
            </a:r>
            <a:endParaRPr lang="es-CO" dirty="0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A3217C35-A462-D0BE-6A86-1CD9C6F49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Partir en k grupos</a:t>
            </a:r>
            <a:endParaRPr lang="es-CO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499C6E4B-12E6-BF40-6105-22FB61A5C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Partir en k grupos</a:t>
            </a:r>
            <a:r>
              <a:rPr lang="es-CO" dirty="0"/>
              <a:t> aleatoriamente</a:t>
            </a:r>
          </a:p>
        </p:txBody>
      </p:sp>
      <p:pic>
        <p:nvPicPr>
          <p:cNvPr id="22" name="Marcador de contenido 21">
            <a:extLst>
              <a:ext uri="{FF2B5EF4-FFF2-40B4-BE49-F238E27FC236}">
                <a16:creationId xmlns:a16="http://schemas.microsoft.com/office/drawing/2014/main" id="{B64AFD47-0537-5622-87F7-D364E7E246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062825"/>
            <a:ext cx="5157787" cy="2569087"/>
          </a:xfrm>
          <a:prstGeom prst="rect">
            <a:avLst/>
          </a:prstGeom>
        </p:spPr>
      </p:pic>
      <p:pic>
        <p:nvPicPr>
          <p:cNvPr id="25" name="Marcador de contenido 24">
            <a:extLst>
              <a:ext uri="{FF2B5EF4-FFF2-40B4-BE49-F238E27FC236}">
                <a16:creationId xmlns:a16="http://schemas.microsoft.com/office/drawing/2014/main" id="{6A9EFD07-D094-3FB2-11D3-BAF5F11E3F4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3056499"/>
            <a:ext cx="5183188" cy="258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827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F8B49-2642-545B-9EF7-29E8AA1AB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 conjuntos pequeños (</a:t>
            </a:r>
            <a:r>
              <a:rPr lang="es-ES" dirty="0" err="1"/>
              <a:t>Leave</a:t>
            </a:r>
            <a:r>
              <a:rPr lang="es-ES" dirty="0"/>
              <a:t> one </a:t>
            </a:r>
            <a:r>
              <a:rPr lang="es-ES" dirty="0" err="1"/>
              <a:t>out</a:t>
            </a:r>
            <a:r>
              <a:rPr lang="es-ES" dirty="0"/>
              <a:t>)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2A03C1-26CA-BC05-EEA7-CCCB5E35A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D714F8-C4E0-FDE5-8757-DC120A91A8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0ECAC0-5723-CEDB-679F-06CBA5485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B54F15C-FBD4-4ECC-B5DE-C3007878F2C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CB115BA-C35E-CA0D-058A-0337B91C1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977" y="2596202"/>
            <a:ext cx="66929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6867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A803A-FAE3-33E9-A835-29AFB407F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(Confusion matrix)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89B13-9DCB-65A3-A409-A39961B65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9E924-BF23-EB7B-60AF-CA6790C34BFF}"/>
              </a:ext>
            </a:extLst>
          </p:cNvPr>
          <p:cNvSpPr txBox="1"/>
          <p:nvPr/>
        </p:nvSpPr>
        <p:spPr>
          <a:xfrm>
            <a:off x="6984492" y="5837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https://encord.com/glossary/confusion-matrix/</a:t>
            </a:r>
          </a:p>
        </p:txBody>
      </p:sp>
      <p:pic>
        <p:nvPicPr>
          <p:cNvPr id="5" name="Picture 2" descr="Confusion Matrix">
            <a:extLst>
              <a:ext uri="{FF2B5EF4-FFF2-40B4-BE49-F238E27FC236}">
                <a16:creationId xmlns:a16="http://schemas.microsoft.com/office/drawing/2014/main" id="{2CEEE4E1-60DE-AA4B-1270-8F6D00827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858" y="1404937"/>
            <a:ext cx="718185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6622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42326-C8ED-3D6C-067D-F28D1D2B3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300C72-6B2E-2B67-DC23-FB95D5DD2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1488" cy="4351338"/>
          </a:xfrm>
        </p:spPr>
        <p:txBody>
          <a:bodyPr/>
          <a:lstStyle/>
          <a:p>
            <a:r>
              <a:rPr lang="es-ES" dirty="0"/>
              <a:t>No todo modelo con métricas altas es bueno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6506B5-78D0-9C04-3A38-A8C168C34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498" y="302706"/>
            <a:ext cx="5244236" cy="655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271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35144-0C45-FC81-C9EE-2F61C7B6D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AUC-ROC (</a:t>
            </a:r>
            <a:r>
              <a:rPr lang="en-US" b="0" i="0">
                <a:solidFill>
                  <a:srgbClr val="222222"/>
                </a:solidFill>
                <a:effectLst/>
                <a:latin typeface="inter"/>
              </a:rPr>
              <a:t>receiver operating characteristic curve)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91D40-1EBB-1DD8-932B-A79DE0AFE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810431-FA4B-C0AC-2F0F-FE86F4550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213" y="2417629"/>
            <a:ext cx="5157787" cy="3684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AUC = 1: Perfect prediction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AUC &gt; 0.9: Excellent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AUC 0.7-0.9: Good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AUC 0.5-0.7: Poor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AUC = 0.5: Random prediction 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4389DDDB-E80B-42F7-BE99-04B7590DC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852" y="886136"/>
            <a:ext cx="4910836" cy="491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512A92-270E-F1AF-C361-81B0C3D3D531}"/>
              </a:ext>
            </a:extLst>
          </p:cNvPr>
          <p:cNvSpPr txBox="1"/>
          <p:nvPr/>
        </p:nvSpPr>
        <p:spPr>
          <a:xfrm>
            <a:off x="1912620" y="59477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https://community.deeplearning.ai/t/roc-curve-and-auc-area-under-the-roc-curve/224140/2</a:t>
            </a:r>
          </a:p>
        </p:txBody>
      </p:sp>
    </p:spTree>
    <p:extLst>
      <p:ext uri="{BB962C8B-B14F-4D97-AF65-F5344CB8AC3E}">
        <p14:creationId xmlns:p14="http://schemas.microsoft.com/office/powerpoint/2010/main" val="31735893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2AB2-C584-371E-EAEA-BF28DCF35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80" y="404454"/>
            <a:ext cx="10515600" cy="1325563"/>
          </a:xfrm>
        </p:spPr>
        <p:txBody>
          <a:bodyPr/>
          <a:lstStyle/>
          <a:p>
            <a:r>
              <a:rPr lang="en-US" dirty="0"/>
              <a:t>No hay </a:t>
            </a:r>
            <a:r>
              <a:rPr lang="en-US" dirty="0" err="1"/>
              <a:t>balas</a:t>
            </a:r>
            <a:r>
              <a:rPr lang="en-US" dirty="0"/>
              <a:t> de </a:t>
            </a:r>
            <a:r>
              <a:rPr lang="en-US" dirty="0" err="1"/>
              <a:t>plata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C4E59DA-2DC5-E118-2E10-17C32B6B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710" y="0"/>
            <a:ext cx="6141138" cy="629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4E378F-ED31-0AE5-5A9E-D2EC4B8B9E86}"/>
              </a:ext>
            </a:extLst>
          </p:cNvPr>
          <p:cNvSpPr txBox="1"/>
          <p:nvPr/>
        </p:nvSpPr>
        <p:spPr>
          <a:xfrm>
            <a:off x="203880" y="6211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https://www.kaggle.com/discussions/getting-started/166897</a:t>
            </a:r>
          </a:p>
        </p:txBody>
      </p:sp>
      <p:pic>
        <p:nvPicPr>
          <p:cNvPr id="4" name="Imagen 3" descr="Los hombres lobo se mueren si les das con una bala de plata. : r/antimeme">
            <a:hlinkClick r:id="rId3"/>
            <a:extLst>
              <a:ext uri="{FF2B5EF4-FFF2-40B4-BE49-F238E27FC236}">
                <a16:creationId xmlns:a16="http://schemas.microsoft.com/office/drawing/2014/main" id="{47AE6780-EDA6-4CC8-0756-B7DF29CD4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20" y="1694860"/>
            <a:ext cx="3420752" cy="343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738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0FC2B-F014-F7E4-C8BD-40A015B32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método de clasificación como un chef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80011CA-F82F-62DA-FBEF-D6AF938D5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7" y="1959642"/>
            <a:ext cx="7580671" cy="4264127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099DEA7-9785-BC63-6427-81EA5072F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7EA5C93-0D78-8A31-3BAD-B19C44AF698D}"/>
              </a:ext>
            </a:extLst>
          </p:cNvPr>
          <p:cNvSpPr txBox="1"/>
          <p:nvPr/>
        </p:nvSpPr>
        <p:spPr>
          <a:xfrm>
            <a:off x="534629" y="62237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https://2022.igem.wiki/gems-taiwan/maxentmodel</a:t>
            </a:r>
          </a:p>
        </p:txBody>
      </p:sp>
    </p:spTree>
    <p:extLst>
      <p:ext uri="{BB962C8B-B14F-4D97-AF65-F5344CB8AC3E}">
        <p14:creationId xmlns:p14="http://schemas.microsoft.com/office/powerpoint/2010/main" val="1593775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48FFA-441C-597E-BEED-417D0F953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699505-A589-6B4B-BD72-CB5874D5C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607BD34-E335-A908-0FF9-A01824CFA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37693"/>
            <a:ext cx="8840434" cy="443927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573DBED-9C48-9AE1-E45A-0712B2EADFA9}"/>
              </a:ext>
            </a:extLst>
          </p:cNvPr>
          <p:cNvSpPr txBox="1"/>
          <p:nvPr/>
        </p:nvSpPr>
        <p:spPr>
          <a:xfrm>
            <a:off x="127818" y="6169709"/>
            <a:ext cx="12064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https://www.geeksforgeeks.org/machine-learning/random-forest-algorithm-in-machine-learning/</a:t>
            </a:r>
          </a:p>
        </p:txBody>
      </p:sp>
    </p:spTree>
    <p:extLst>
      <p:ext uri="{BB962C8B-B14F-4D97-AF65-F5344CB8AC3E}">
        <p14:creationId xmlns:p14="http://schemas.microsoft.com/office/powerpoint/2010/main" val="4011861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0D842-A439-1AE6-8819-3186C5D6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idea es usar variables independientes</a:t>
            </a:r>
            <a:br>
              <a:rPr lang="es-ES" dirty="0"/>
            </a:br>
            <a:r>
              <a:rPr lang="es-ES" dirty="0"/>
              <a:t>Multicolinealidad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F7C6CF-9AA2-2D84-C88E-253410921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1640" cy="4351338"/>
          </a:xfrm>
        </p:spPr>
        <p:txBody>
          <a:bodyPr/>
          <a:lstStyle/>
          <a:p>
            <a:r>
              <a:rPr lang="es-ES" dirty="0"/>
              <a:t>¡Depende del algoritmo a usar!</a:t>
            </a:r>
          </a:p>
          <a:p>
            <a:r>
              <a:rPr lang="es-ES" dirty="0"/>
              <a:t>Disminuye la precisión de los resultados al sesgar los coeficientes de predictores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51F343-2E86-F50A-8DF2-ED6479088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880" y="2118519"/>
            <a:ext cx="5271770" cy="376555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4CF0F4F-A16A-2F45-5B7A-84CFF4258711}"/>
              </a:ext>
            </a:extLst>
          </p:cNvPr>
          <p:cNvSpPr txBox="1"/>
          <p:nvPr/>
        </p:nvSpPr>
        <p:spPr>
          <a:xfrm>
            <a:off x="81280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https://www.rpubs.com/carboncar/780874</a:t>
            </a:r>
          </a:p>
        </p:txBody>
      </p:sp>
    </p:spTree>
    <p:extLst>
      <p:ext uri="{BB962C8B-B14F-4D97-AF65-F5344CB8AC3E}">
        <p14:creationId xmlns:p14="http://schemas.microsoft.com/office/powerpoint/2010/main" val="26625450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0BB7B-454E-D660-45BE-8ED6A2B1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Como arreglarlo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D7241F-C217-2F34-3F79-F5E95CDBE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Factor de inflación de varianza</a:t>
            </a:r>
          </a:p>
          <a:p>
            <a:r>
              <a:rPr lang="es-ES" dirty="0"/>
              <a:t>Correlación (Spearman, Pearson)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353277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2C5D6-F1A5-4D5B-8230-B5273130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modelos tienen </a:t>
            </a:r>
            <a:r>
              <a:rPr lang="es-ES" dirty="0" err="1"/>
              <a:t>hiperparametros</a:t>
            </a:r>
            <a:r>
              <a:rPr lang="es-ES" dirty="0"/>
              <a:t>: las condiciones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F86610-93C0-BF37-D6B6-BD89DC502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Elementos multimedia en línea 3" title="¿Qué es un HIPERPARÁMETRO en Machine Learning? 👨‍🍳🥧 #shorts #machinelearning #ia">
            <a:hlinkClick r:id="" action="ppaction://media"/>
            <a:extLst>
              <a:ext uri="{FF2B5EF4-FFF2-40B4-BE49-F238E27FC236}">
                <a16:creationId xmlns:a16="http://schemas.microsoft.com/office/drawing/2014/main" id="{7D38B831-045C-AF85-A5F0-72E1D744818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896350" y="2141537"/>
            <a:ext cx="2457450" cy="43513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066CBE9-39DA-529F-A745-6E3DB2013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66" y="2056584"/>
            <a:ext cx="5995815" cy="425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9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8D377-3CF2-1B81-AD90-4ACD2E04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5ABEB-23FE-2B21-44C2-75DC44E9F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C20D9A-6083-5CFD-5320-F12F0E173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939" y="1263968"/>
            <a:ext cx="8678486" cy="452500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226AEA1-FD7E-6A8C-B173-6CA1DCEEBEC7}"/>
              </a:ext>
            </a:extLst>
          </p:cNvPr>
          <p:cNvSpPr txBox="1"/>
          <p:nvPr/>
        </p:nvSpPr>
        <p:spPr>
          <a:xfrm>
            <a:off x="345440" y="5850235"/>
            <a:ext cx="11008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https://medium.com/@aditib259/a-comprehensive-guide-to-hyperparameter-tuning-in-machine-learning-dd9bb8072d02</a:t>
            </a: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7C0F664B-8CF2-7153-FDFC-5D702C9A350B}"/>
              </a:ext>
            </a:extLst>
          </p:cNvPr>
          <p:cNvSpPr/>
          <p:nvPr/>
        </p:nvSpPr>
        <p:spPr>
          <a:xfrm>
            <a:off x="345440" y="2611120"/>
            <a:ext cx="1281135" cy="6463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83432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592CB78-AAA6-367C-9127-876AE0E1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Intentemos con R</a:t>
            </a:r>
            <a:endParaRPr lang="es-CO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928A118F-FB06-0E1B-D249-8BA6BF984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Regresión y clasificación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312806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97099-43D4-06A3-ACEF-50BF013CB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Case </a:t>
            </a:r>
            <a:r>
              <a:rPr lang="es-ES" dirty="0" err="1"/>
              <a:t>study</a:t>
            </a:r>
            <a:r>
              <a:rPr lang="es-ES" dirty="0"/>
              <a:t>: </a:t>
            </a:r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posible </a:t>
            </a:r>
            <a:r>
              <a:rPr lang="es-ES" dirty="0" err="1"/>
              <a:t>expected</a:t>
            </a:r>
            <a:r>
              <a:rPr lang="es-ES" dirty="0"/>
              <a:t> </a:t>
            </a:r>
            <a:r>
              <a:rPr lang="es-ES" dirty="0" err="1"/>
              <a:t>heterozygocity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i="1" dirty="0"/>
              <a:t>Beta </a:t>
            </a:r>
            <a:r>
              <a:rPr lang="es-ES" i="1" dirty="0" err="1"/>
              <a:t>vulgaris</a:t>
            </a:r>
            <a:r>
              <a:rPr lang="es-ES" i="1" dirty="0"/>
              <a:t> </a:t>
            </a:r>
            <a:r>
              <a:rPr lang="es-ES" dirty="0"/>
              <a:t>(</a:t>
            </a:r>
            <a:r>
              <a:rPr lang="es-ES" dirty="0" err="1"/>
              <a:t>Sugarbeet</a:t>
            </a:r>
            <a:r>
              <a:rPr lang="es-ES" dirty="0"/>
              <a:t>)</a:t>
            </a:r>
            <a:endParaRPr lang="es-CO" dirty="0"/>
          </a:p>
        </p:txBody>
      </p:sp>
      <p:pic>
        <p:nvPicPr>
          <p:cNvPr id="5" name="Imagen 4" descr="image">
            <a:extLst>
              <a:ext uri="{FF2B5EF4-FFF2-40B4-BE49-F238E27FC236}">
                <a16:creationId xmlns:a16="http://schemas.microsoft.com/office/drawing/2014/main" id="{DA3AC325-C573-3328-1D4B-06F49EA4C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046" y="1589907"/>
            <a:ext cx="6903907" cy="514718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425A5E9-F7A9-FFF5-A80B-C4CEA6DD97C9}"/>
              </a:ext>
            </a:extLst>
          </p:cNvPr>
          <p:cNvSpPr txBox="1"/>
          <p:nvPr/>
        </p:nvSpPr>
        <p:spPr>
          <a:xfrm>
            <a:off x="9547953" y="5268093"/>
            <a:ext cx="23884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dirty="0">
                <a:hlinkClick r:id="rId3"/>
              </a:rPr>
              <a:t>https://github.com/ccsosa/Interpolate-Genetic-diversity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763901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17806-3226-875C-3ABE-C760B0C6A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Cuál es la posible </a:t>
            </a:r>
            <a:r>
              <a:rPr lang="es-ES" dirty="0" err="1"/>
              <a:t>heterocigocidad</a:t>
            </a:r>
            <a:r>
              <a:rPr lang="es-ES" dirty="0"/>
              <a:t> observada de remolacha</a:t>
            </a:r>
            <a:endParaRPr lang="es-CO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911E85A4-A6A6-84B5-900B-5401FF7BA4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80333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4CAD29CD-01D9-A7A9-6E09-6910B436D611}"/>
              </a:ext>
            </a:extLst>
          </p:cNvPr>
          <p:cNvSpPr txBox="1"/>
          <p:nvPr/>
        </p:nvSpPr>
        <p:spPr>
          <a:xfrm>
            <a:off x="1706880" y="50688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003_configure.R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E91D7E7-5ABD-F622-3136-A6563FF7F099}"/>
              </a:ext>
            </a:extLst>
          </p:cNvPr>
          <p:cNvSpPr txBox="1"/>
          <p:nvPr/>
        </p:nvSpPr>
        <p:spPr>
          <a:xfrm>
            <a:off x="1706880" y="2380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001_get_data.R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DFB04E7-4E47-74FC-7F4F-F432F95ECDA9}"/>
              </a:ext>
            </a:extLst>
          </p:cNvPr>
          <p:cNvSpPr txBox="1"/>
          <p:nvPr/>
        </p:nvSpPr>
        <p:spPr>
          <a:xfrm>
            <a:off x="1706880" y="35147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002_get_spat_data.R</a:t>
            </a:r>
          </a:p>
        </p:txBody>
      </p:sp>
      <p:sp>
        <p:nvSpPr>
          <p:cNvPr id="18" name="Abrir llave 17">
            <a:extLst>
              <a:ext uri="{FF2B5EF4-FFF2-40B4-BE49-F238E27FC236}">
                <a16:creationId xmlns:a16="http://schemas.microsoft.com/office/drawing/2014/main" id="{B1D8AD78-B081-3533-3FF5-04F4BCC45674}"/>
              </a:ext>
            </a:extLst>
          </p:cNvPr>
          <p:cNvSpPr/>
          <p:nvPr/>
        </p:nvSpPr>
        <p:spPr>
          <a:xfrm>
            <a:off x="3657600" y="4297363"/>
            <a:ext cx="1097280" cy="1879600"/>
          </a:xfrm>
          <a:prstGeom prst="leftBrace">
            <a:avLst>
              <a:gd name="adj1" fmla="val 42824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47402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7A9F-3C45-D730-5934-CA6FC51D2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Caso de estudio: Diamonds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31267E-84BA-B219-F005-9D02C92ED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>
                <a:hlinkClick r:id="rId2"/>
              </a:rPr>
              <a:t>https://lgatto.github.io/IntroMachineLearningWithR/supervised-learning.html#classification-performance</a:t>
            </a: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17051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</TotalTime>
  <Words>875</Words>
  <Application>Microsoft Office PowerPoint</Application>
  <PresentationFormat>Panorámica</PresentationFormat>
  <Paragraphs>107</Paragraphs>
  <Slides>46</Slides>
  <Notes>1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1" baseType="lpstr">
      <vt:lpstr>Aptos</vt:lpstr>
      <vt:lpstr>Aptos Display</vt:lpstr>
      <vt:lpstr>Arial</vt:lpstr>
      <vt:lpstr>inter</vt:lpstr>
      <vt:lpstr>Tema de Office</vt:lpstr>
      <vt:lpstr>¡Aprendizaje de maquinas!</vt:lpstr>
      <vt:lpstr>Presentación de PowerPoint</vt:lpstr>
      <vt:lpstr>Hacer machine learning es como cocinar (ODMAP)</vt:lpstr>
      <vt:lpstr>Presentación de PowerPoint</vt:lpstr>
      <vt:lpstr>Aprendizaje supervisado</vt:lpstr>
      <vt:lpstr>Presentación de PowerPoint</vt:lpstr>
      <vt:lpstr>Aprendizaje  no supervisado</vt:lpstr>
      <vt:lpstr>Presentación de PowerPoint</vt:lpstr>
      <vt:lpstr>Reinforcement Learning </vt:lpstr>
      <vt:lpstr>Presentación de PowerPoint</vt:lpstr>
      <vt:lpstr>En resumen </vt:lpstr>
      <vt:lpstr>Usos</vt:lpstr>
      <vt:lpstr>En el caso de SDM:</vt:lpstr>
      <vt:lpstr>Presentación de PowerPoint</vt:lpstr>
      <vt:lpstr>¿Qué tenemos?</vt:lpstr>
      <vt:lpstr>En SDM:</vt:lpstr>
      <vt:lpstr>¿Qué hacemos en ML?</vt:lpstr>
      <vt:lpstr> How a model workflow looks like?</vt:lpstr>
      <vt:lpstr>A que nos enfrentamos:</vt:lpstr>
      <vt:lpstr>A lo que nos enfrentamos II:</vt:lpstr>
      <vt:lpstr>A lo que nos enfrentamos III:</vt:lpstr>
      <vt:lpstr>A lo que nos enfrentamos IV:</vt:lpstr>
      <vt:lpstr>A lo que nos enfrentamos V:</vt:lpstr>
      <vt:lpstr>Nuestro mapa: ODMAP</vt:lpstr>
      <vt:lpstr>Presentación de PowerPoint</vt:lpstr>
      <vt:lpstr>Dilemas:</vt:lpstr>
      <vt:lpstr>Presentación de PowerPoint</vt:lpstr>
      <vt:lpstr>Presentación de PowerPoint</vt:lpstr>
      <vt:lpstr>¿cómo evaluó que si estoy haciéndolo bien</vt:lpstr>
      <vt:lpstr>Presentación de PowerPoint</vt:lpstr>
      <vt:lpstr>K fold</vt:lpstr>
      <vt:lpstr>Con conjuntos pequeños (Leave one out)</vt:lpstr>
      <vt:lpstr>Evaluation (Confusion matrix)</vt:lpstr>
      <vt:lpstr>Presentación de PowerPoint</vt:lpstr>
      <vt:lpstr>AUC-ROC (receiver operating characteristic curve)</vt:lpstr>
      <vt:lpstr>No hay balas de plata</vt:lpstr>
      <vt:lpstr>El método de clasificación como un chef</vt:lpstr>
      <vt:lpstr>Presentación de PowerPoint</vt:lpstr>
      <vt:lpstr>La idea es usar variables independientes Multicolinealidad</vt:lpstr>
      <vt:lpstr>Como arreglarlo</vt:lpstr>
      <vt:lpstr>Los modelos tienen hiperparametros: las condiciones</vt:lpstr>
      <vt:lpstr>Presentación de PowerPoint</vt:lpstr>
      <vt:lpstr>Intentemos con R</vt:lpstr>
      <vt:lpstr>Case study: What is the posible expected heterozygocity for Beta vulgaris (Sugarbeet)</vt:lpstr>
      <vt:lpstr>Cuál es la posible heterocigocidad observada de remolacha</vt:lpstr>
      <vt:lpstr>Caso de estudio: Diamonds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Sosa, Chrystian (Consultant - Alliance Bioversity-CIAT)</dc:creator>
  <cp:lastModifiedBy>Sosa, Chrystian (Consultant - Alliance Bioversity-CIAT)</cp:lastModifiedBy>
  <cp:revision>157</cp:revision>
  <dcterms:created xsi:type="dcterms:W3CDTF">2026-09-06T14:57:38Z</dcterms:created>
  <dcterms:modified xsi:type="dcterms:W3CDTF">2026-10-12T17:03:23Z</dcterms:modified>
</cp:coreProperties>
</file>