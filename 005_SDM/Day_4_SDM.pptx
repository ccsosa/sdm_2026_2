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64" r:id="rId3"/>
    <p:sldId id="3502" r:id="rId4"/>
    <p:sldId id="3504" r:id="rId5"/>
    <p:sldId id="3503" r:id="rId6"/>
    <p:sldId id="265" r:id="rId7"/>
    <p:sldId id="275" r:id="rId8"/>
    <p:sldId id="285" r:id="rId9"/>
    <p:sldId id="286" r:id="rId10"/>
    <p:sldId id="287" r:id="rId11"/>
    <p:sldId id="3471" r:id="rId12"/>
    <p:sldId id="3472" r:id="rId13"/>
    <p:sldId id="3473" r:id="rId14"/>
    <p:sldId id="288" r:id="rId15"/>
    <p:sldId id="289" r:id="rId16"/>
    <p:sldId id="3474" r:id="rId17"/>
    <p:sldId id="3475" r:id="rId18"/>
    <p:sldId id="290" r:id="rId19"/>
    <p:sldId id="291" r:id="rId20"/>
    <p:sldId id="292" r:id="rId21"/>
    <p:sldId id="296" r:id="rId22"/>
    <p:sldId id="323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7" r:id="rId32"/>
    <p:sldId id="309" r:id="rId33"/>
    <p:sldId id="312" r:id="rId34"/>
    <p:sldId id="266" r:id="rId35"/>
    <p:sldId id="310" r:id="rId36"/>
    <p:sldId id="311" r:id="rId37"/>
    <p:sldId id="306" r:id="rId38"/>
    <p:sldId id="308" r:id="rId39"/>
    <p:sldId id="343" r:id="rId40"/>
    <p:sldId id="342" r:id="rId41"/>
    <p:sldId id="344" r:id="rId42"/>
    <p:sldId id="325" r:id="rId43"/>
    <p:sldId id="319" r:id="rId44"/>
    <p:sldId id="324" r:id="rId45"/>
    <p:sldId id="313" r:id="rId46"/>
    <p:sldId id="314" r:id="rId47"/>
    <p:sldId id="315" r:id="rId48"/>
    <p:sldId id="316" r:id="rId49"/>
    <p:sldId id="317" r:id="rId50"/>
    <p:sldId id="318" r:id="rId51"/>
    <p:sldId id="320" r:id="rId52"/>
    <p:sldId id="321" r:id="rId53"/>
    <p:sldId id="259" r:id="rId54"/>
    <p:sldId id="3477" r:id="rId55"/>
    <p:sldId id="3478" r:id="rId56"/>
    <p:sldId id="3479" r:id="rId57"/>
    <p:sldId id="3480" r:id="rId58"/>
    <p:sldId id="3481" r:id="rId59"/>
    <p:sldId id="3482" r:id="rId60"/>
    <p:sldId id="3483" r:id="rId61"/>
    <p:sldId id="3484" r:id="rId62"/>
    <p:sldId id="3485" r:id="rId63"/>
    <p:sldId id="3486" r:id="rId64"/>
    <p:sldId id="3488" r:id="rId65"/>
    <p:sldId id="3487" r:id="rId66"/>
    <p:sldId id="3476" r:id="rId67"/>
    <p:sldId id="3489" r:id="rId68"/>
    <p:sldId id="3490" r:id="rId69"/>
    <p:sldId id="3492" r:id="rId70"/>
    <p:sldId id="262" r:id="rId71"/>
    <p:sldId id="3493" r:id="rId72"/>
    <p:sldId id="3494" r:id="rId73"/>
    <p:sldId id="3495" r:id="rId74"/>
    <p:sldId id="3496" r:id="rId75"/>
    <p:sldId id="3491" r:id="rId76"/>
    <p:sldId id="3497" r:id="rId77"/>
    <p:sldId id="3498" r:id="rId78"/>
    <p:sldId id="3500" r:id="rId79"/>
    <p:sldId id="3499" r:id="rId8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67369-7294-4DF9-821B-D3FA9EBD2AE2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44D34-6014-4DF4-A759-2227BAFE1E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395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ABEFE7DD-9EE0-3BC8-84FD-3C97A16C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003B12B9-792C-B30C-DDA6-8AAB715C1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81585F4A-17EC-03D8-0BE0-2FE89FB0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862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field with lines in the middle&#10;&#10;AI-generated content may be incorrect.">
            <a:extLst>
              <a:ext uri="{FF2B5EF4-FFF2-40B4-BE49-F238E27FC236}">
                <a16:creationId xmlns:a16="http://schemas.microsoft.com/office/drawing/2014/main" id="{633A8EA2-59AA-542E-1B80-DBF7AB792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95181-6814-57F3-47A1-91DA85F76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1554511"/>
            <a:ext cx="9144000" cy="2387600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546E2-EB35-4613-A0D0-773125A2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4034186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92D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3771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border&#10;&#10;AI-generated content may be incorrect.">
            <a:extLst>
              <a:ext uri="{FF2B5EF4-FFF2-40B4-BE49-F238E27FC236}">
                <a16:creationId xmlns:a16="http://schemas.microsoft.com/office/drawing/2014/main" id="{FC6B86BC-152C-EA20-8BA8-91B061F2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B0E431-AAB9-2077-5A89-E7624055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7C84-F46F-7239-14F2-9F9DD73F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9649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6B86BC-152C-EA20-8BA8-91B061F2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B0E431-AAB9-2077-5A89-E7624055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7C84-F46F-7239-14F2-9F9DD73F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3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surface with white text&#10;&#10;AI-generated content may be incorrect.">
            <a:extLst>
              <a:ext uri="{FF2B5EF4-FFF2-40B4-BE49-F238E27FC236}">
                <a16:creationId xmlns:a16="http://schemas.microsoft.com/office/drawing/2014/main" id="{D7FFB053-6168-4A75-716A-0740E8CFC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3F2BAB-C6A8-41A0-882B-0761672B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48356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317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FFB053-6168-4A75-716A-0740E8CFC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3F2BAB-C6A8-41A0-882B-0761672B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48356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090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D65-6CF8-FFC0-5149-BB0F4AAD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B6221-956D-D29F-9092-3E6E21DF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36294-9EAD-4573-A696-A9D1803E7819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E7F6-4401-8EF8-56FE-F36FF91A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52128-DFA8-8278-E1AB-9D1B88C2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73903-F73E-4F0A-825B-B0706B7DFC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119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photo&amp;text">
  <p:cSld name="Background photo&amp;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0" y="687938"/>
            <a:ext cx="5289846" cy="16002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1" y="2356500"/>
            <a:ext cx="5289846" cy="394175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912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42257-0BEA-22A3-D803-5925CC75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1717A-D503-43F0-FCCE-631A5E946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695A-2462-E850-761D-C3F84D43D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36294-9EAD-4573-A696-A9D1803E7819}" type="datetimeFigureOut">
              <a:rPr lang="es-CO" smtClean="0"/>
              <a:t>10/10/2026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6699-393F-4B91-A6D4-8D7F65885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7CFA8-8579-4153-8535-6FA229C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73903-F73E-4F0A-825B-B0706B7DFC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97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54" r:id="rId6"/>
    <p:sldLayoutId id="214748366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2633-1357/ab805d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hyperlink" Target="https://www.frontiersin.org/journals/ecology-and-evolution/articles/10.3389/fevo.2015.00132/ful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2102-2343-A1D3-46A0-C586E3110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Species Distribution models</a:t>
            </a:r>
            <a:br>
              <a:rPr lang="en-US" dirty="0"/>
            </a:br>
            <a:r>
              <a:rPr lang="en-US" dirty="0"/>
              <a:t>(Theory and examples)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5AD34-62B4-38F6-BA31-51B0670C9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Alliance Bioversity International &amp; CIAT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59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2011493" y="546582"/>
            <a:ext cx="77478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lang="en-US"/>
              <a:t>Before using the gap analysis methodologies (Summary)</a:t>
            </a:r>
            <a:endParaRPr/>
          </a:p>
        </p:txBody>
      </p:sp>
      <p:sp>
        <p:nvSpPr>
          <p:cNvPr id="2" name="Google Shape;55;p2">
            <a:extLst>
              <a:ext uri="{FF2B5EF4-FFF2-40B4-BE49-F238E27FC236}">
                <a16:creationId xmlns:a16="http://schemas.microsoft.com/office/drawing/2014/main" id="{14181ADC-23EC-BB57-2E6F-566B64031F9D}"/>
              </a:ext>
            </a:extLst>
          </p:cNvPr>
          <p:cNvSpPr txBox="1"/>
          <p:nvPr/>
        </p:nvSpPr>
        <p:spPr>
          <a:xfrm>
            <a:off x="234494" y="2735193"/>
            <a:ext cx="11087040" cy="401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Definition of 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Niche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Species distribution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Inputs curation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Examples using R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DC3F1-FCFF-DC61-BD2E-973FDC17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4"/>
            <a:ext cx="10515600" cy="2852737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workflow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gap </a:t>
            </a:r>
            <a:r>
              <a:rPr lang="es-ES" dirty="0" err="1"/>
              <a:t>analysis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652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2F6AF0AB-6E96-A53C-5B20-5C6E7C42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E63936B-036E-E7CA-E56F-47D72CA1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AC1D24-722C-47A6-5C6C-7A109C2FB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7EB8D5-F434-090D-9172-84F98CDB2108}"/>
              </a:ext>
            </a:extLst>
          </p:cNvPr>
          <p:cNvSpPr txBox="1"/>
          <p:nvPr/>
        </p:nvSpPr>
        <p:spPr>
          <a:xfrm>
            <a:off x="293019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6E8E49-9A1B-5B98-F083-ABBB6A658F03}"/>
              </a:ext>
            </a:extLst>
          </p:cNvPr>
          <p:cNvSpPr txBox="1"/>
          <p:nvPr/>
        </p:nvSpPr>
        <p:spPr>
          <a:xfrm>
            <a:off x="4986225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1C3DFA-015D-DB5C-C817-F3E0656121EF}"/>
              </a:ext>
            </a:extLst>
          </p:cNvPr>
          <p:cNvSpPr txBox="1"/>
          <p:nvPr/>
        </p:nvSpPr>
        <p:spPr>
          <a:xfrm>
            <a:off x="293019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20FD14-8AB0-498B-5272-C138D6F88B74}"/>
              </a:ext>
            </a:extLst>
          </p:cNvPr>
          <p:cNvSpPr txBox="1"/>
          <p:nvPr/>
        </p:nvSpPr>
        <p:spPr>
          <a:xfrm>
            <a:off x="4986225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494714-8F8F-C23B-110A-9DCF884AB309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2176C5-035F-9E12-0D3E-9931EA1CF761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842DE3-13AF-23D5-63F8-AD7C60586683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BD8B2B-1029-51C0-DA8A-3F5431453E68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9233EE-83CC-175E-F242-13CC8CEDE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615097-F2D0-3C6C-709A-66F703660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1812" y="1492155"/>
            <a:ext cx="434396" cy="4778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4B1616D-DF8C-BF8E-4AE8-13A4C9036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02161A3-B5C0-7351-BE96-202D761CE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EB46D7D-BFCD-2876-5CE0-64F24FAFCCFA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E6DC5E-8284-AA25-8F37-28B39954EC34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199E88A-3199-C0D5-C4D5-A2C4DF7631EC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177E83-7648-EBB4-4B39-76480753509B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574665C-B8DC-328B-B166-EE66560A4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214" y="582390"/>
            <a:ext cx="2829320" cy="181952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E0EC5CC8-4239-F603-BCE0-930B031709B3}"/>
              </a:ext>
            </a:extLst>
          </p:cNvPr>
          <p:cNvSpPr txBox="1"/>
          <p:nvPr/>
        </p:nvSpPr>
        <p:spPr>
          <a:xfrm>
            <a:off x="43096" y="1000956"/>
            <a:ext cx="522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</a:t>
            </a:r>
            <a:endParaRPr lang="es-CO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97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B0A54-8D2E-6CC5-A29F-4FD397BD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601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84F7-18CA-3236-3C6C-A3EC2EBE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4070-6705-2C6D-810D-9B0C5AC3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785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2A8F-CC4F-7CF8-8B9E-C8860A24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1183C9-274F-2D15-4D24-8EE2EE1E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4E98D5-627E-537D-7CB3-126E4956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5" y="50286"/>
            <a:ext cx="8001396" cy="60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9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D47F-9DFA-843F-5C79-BDA11D3F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A2C8-74B5-4D63-37DE-FAA8715A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95"/>
            <a:ext cx="10515600" cy="1053477"/>
          </a:xfrm>
        </p:spPr>
        <p:txBody>
          <a:bodyPr/>
          <a:lstStyle/>
          <a:p>
            <a:pPr algn="ctr"/>
            <a:r>
              <a:rPr lang="en-US"/>
              <a:t>	How a model workflow looks like?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ADBAD47-1F08-5F45-EA54-9AF2CCB2E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68819"/>
            <a:ext cx="10226040" cy="4633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88A4E-34F4-E764-1AC1-E1DF3475EF60}"/>
              </a:ext>
            </a:extLst>
          </p:cNvPr>
          <p:cNvSpPr txBox="1"/>
          <p:nvPr/>
        </p:nvSpPr>
        <p:spPr>
          <a:xfrm>
            <a:off x="6806527" y="5767295"/>
            <a:ext cx="762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https://iopscience.iop.org/article/10.1088/2633-1357/ab805d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40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C4590-1706-4752-677F-EFDC54AF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 can be simple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complex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2DDC3-3888-AAE2-9A02-1058F4646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1026" name="Picture 2" descr="Simple Linear Regression Model - Real-World Examples 2025">
            <a:extLst>
              <a:ext uri="{FF2B5EF4-FFF2-40B4-BE49-F238E27FC236}">
                <a16:creationId xmlns:a16="http://schemas.microsoft.com/office/drawing/2014/main" id="{1951E0FB-D9D7-FD6A-4E31-7564E4105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517" y="2400300"/>
            <a:ext cx="315277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6DE66075-F6BB-7F09-A356-E4309A42A617}"/>
              </a:ext>
            </a:extLst>
          </p:cNvPr>
          <p:cNvSpPr txBox="1">
            <a:spLocks/>
          </p:cNvSpPr>
          <p:nvPr/>
        </p:nvSpPr>
        <p:spPr>
          <a:xfrm>
            <a:off x="1501877" y="2925020"/>
            <a:ext cx="20269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simple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3022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7F0F4-51B5-8F6F-44AB-6FE13BC3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8296" y="365125"/>
            <a:ext cx="2399072" cy="1325563"/>
          </a:xfrm>
        </p:spPr>
        <p:txBody>
          <a:bodyPr/>
          <a:lstStyle/>
          <a:p>
            <a:r>
              <a:rPr lang="es-ES" dirty="0" err="1"/>
              <a:t>Complex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B38AE7-87C8-F1F9-7134-BB1E2BEB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96E20406-B5FC-176B-351B-C9BC400ACB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679" y="124563"/>
            <a:ext cx="10360493" cy="6596911"/>
          </a:xfrm>
          <a:prstGeom prst="rect">
            <a:avLst/>
          </a:prstGeom>
        </p:spPr>
      </p:pic>
      <p:sp>
        <p:nvSpPr>
          <p:cNvPr id="11" name="Marcador de contenido 5">
            <a:extLst>
              <a:ext uri="{FF2B5EF4-FFF2-40B4-BE49-F238E27FC236}">
                <a16:creationId xmlns:a16="http://schemas.microsoft.com/office/drawing/2014/main" id="{14954458-4524-9D81-02D0-2C4A3DDA689E}"/>
              </a:ext>
            </a:extLst>
          </p:cNvPr>
          <p:cNvSpPr txBox="1">
            <a:spLocks/>
          </p:cNvSpPr>
          <p:nvPr/>
        </p:nvSpPr>
        <p:spPr>
          <a:xfrm>
            <a:off x="8739344" y="2058689"/>
            <a:ext cx="3138024" cy="9396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dirty="0">
                <a:latin typeface="Poppins Medium" panose="00000600000000000000" pitchFamily="2" charset="0"/>
                <a:cs typeface="Poppins Medium" panose="00000600000000000000" pitchFamily="2" charset="0"/>
              </a:rPr>
              <a:t>127 </a:t>
            </a:r>
            <a:r>
              <a:rPr lang="es-MX" sz="2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molecules</a:t>
            </a:r>
            <a:endParaRPr lang="es-MX" sz="2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0" indent="0" algn="ctr">
              <a:buNone/>
            </a:pPr>
            <a:r>
              <a:rPr lang="es-MX" sz="2400" dirty="0">
                <a:latin typeface="Poppins Medium" panose="00000600000000000000" pitchFamily="2" charset="0"/>
                <a:cs typeface="Poppins Medium" panose="00000600000000000000" pitchFamily="2" charset="0"/>
              </a:rPr>
              <a:t>117 </a:t>
            </a:r>
            <a:r>
              <a:rPr lang="es-MX" sz="2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reactions</a:t>
            </a:r>
            <a:endParaRPr lang="es-MX" sz="2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0" name="Imagen 15">
            <a:extLst>
              <a:ext uri="{FF2B5EF4-FFF2-40B4-BE49-F238E27FC236}">
                <a16:creationId xmlns:a16="http://schemas.microsoft.com/office/drawing/2014/main" id="{D9645F26-9620-5D2B-3133-D777797BE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02" y="4259515"/>
            <a:ext cx="2407211" cy="176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1A80-3086-1F8B-11D0-2A122FBA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5C48-F8D3-3713-E3E6-0AE8B03A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obtain the geographical distribution of a species using environmental data?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34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93D1-9039-1E02-6CCC-598A1AEA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niche?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48560-A29B-03C8-2C88-D1A920298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C2A998D-3FFF-C9CC-A388-A68A9A70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74" y="1792288"/>
            <a:ext cx="624687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92D32B-8354-38FB-CAA3-494274E20169}"/>
              </a:ext>
            </a:extLst>
          </p:cNvPr>
          <p:cNvSpPr txBox="1"/>
          <p:nvPr/>
        </p:nvSpPr>
        <p:spPr>
          <a:xfrm>
            <a:off x="273050" y="2715111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Niche and species distribution are not synonyms!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81152-DE9B-B801-2CF1-75BF28F8A05C}"/>
              </a:ext>
            </a:extLst>
          </p:cNvPr>
          <p:cNvSpPr txBox="1"/>
          <p:nvPr/>
        </p:nvSpPr>
        <p:spPr>
          <a:xfrm>
            <a:off x="438150" y="49369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Hutchinson’s concept of niche: </a:t>
            </a:r>
            <a:r>
              <a:rPr lang="en-US"/>
              <a:t>hypervolume of the multidimensional space defined by a set of environmental variables, within which a species can maintain a viable population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4B841-2C2E-117F-991D-49A892B773B9}"/>
              </a:ext>
            </a:extLst>
          </p:cNvPr>
          <p:cNvSpPr txBox="1"/>
          <p:nvPr/>
        </p:nvSpPr>
        <p:spPr>
          <a:xfrm>
            <a:off x="6019800" y="7673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If the environmental conditions encapsulated within the fundamental niche are plotted in geographical space, then we have the potential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97597-E8FF-F9E2-6286-84BB00CDE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305180"/>
            <a:ext cx="3334617" cy="9615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957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F207-351C-1303-0FAE-AB8A14EB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niche?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25634-83A5-4AC7-BDF4-8531EC26D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6B5CC-6A31-EBAE-0DCD-6FC39F8E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91" y="10394"/>
            <a:ext cx="5304459" cy="1367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925FED-27D6-31E2-C100-2D45ECA6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02" y="1620526"/>
            <a:ext cx="4086795" cy="436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F6645-939E-FC36-CEE7-CCD161B97D92}"/>
              </a:ext>
            </a:extLst>
          </p:cNvPr>
          <p:cNvSpPr txBox="1"/>
          <p:nvPr/>
        </p:nvSpPr>
        <p:spPr>
          <a:xfrm>
            <a:off x="226483" y="379474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Hutchinson’s concept of niche: </a:t>
            </a:r>
            <a:r>
              <a:rPr lang="en-US"/>
              <a:t>hypervolume of the multidimensional space defined by a set of environmental variables, within which a species can maintain a viable population </a:t>
            </a:r>
          </a:p>
          <a:p>
            <a:r>
              <a:rPr lang="en-US" b="1"/>
              <a:t>Habitat suitability models: </a:t>
            </a:r>
            <a:r>
              <a:rPr lang="en-US"/>
              <a:t>statistical models that predict species’ potential distributions by combining known occurrence records with environmental data (so-called niche-based models) </a:t>
            </a:r>
          </a:p>
          <a:p>
            <a:r>
              <a:rPr lang="en-US" b="1"/>
              <a:t>Adaptive potential: </a:t>
            </a:r>
            <a:r>
              <a:rPr lang="en-US"/>
              <a:t>the capacity of species or populations to evolve in response to changes in environmental conditions whether biotic or abiotic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A4361-E924-2A62-DE32-4AEBB512E4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432"/>
          <a:stretch/>
        </p:blipFill>
        <p:spPr>
          <a:xfrm>
            <a:off x="311573" y="1397253"/>
            <a:ext cx="5709920" cy="209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A989-4D86-8050-1D50-727F3A2D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species distribution model workflow: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95807A-9304-11D0-7589-EFAC47E13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0" y="2226881"/>
            <a:ext cx="10998780" cy="354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4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0E024-1F47-26C9-1F7D-06BB399C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B546DF2-C92F-DBCC-40C3-B8F7DD370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45" y="2050693"/>
            <a:ext cx="5158739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A98A8-0B12-BFC1-668F-3E3A87E9D9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0377" y="1962528"/>
            <a:ext cx="4653014" cy="453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DC363E-C34E-54B7-8F28-6499DEF1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38"/>
            <a:ext cx="3543546" cy="230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4576F-672F-9CEF-A23E-04AF820B367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16425" y="2273656"/>
            <a:ext cx="4787846" cy="422717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7954C73-E21B-0F69-B9F5-FFD6EEC735CA}"/>
              </a:ext>
            </a:extLst>
          </p:cNvPr>
          <p:cNvSpPr/>
          <p:nvPr/>
        </p:nvSpPr>
        <p:spPr>
          <a:xfrm>
            <a:off x="4288665" y="4295252"/>
            <a:ext cx="709104" cy="59872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F05F9BD-E540-0E72-91DD-0B6ABBD060F4}"/>
              </a:ext>
            </a:extLst>
          </p:cNvPr>
          <p:cNvSpPr/>
          <p:nvPr/>
        </p:nvSpPr>
        <p:spPr>
          <a:xfrm>
            <a:off x="8399580" y="4295252"/>
            <a:ext cx="709104" cy="59872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047D2B-885F-608C-9946-EF059646DB61}"/>
              </a:ext>
            </a:extLst>
          </p:cNvPr>
          <p:cNvSpPr txBox="1">
            <a:spLocks/>
          </p:cNvSpPr>
          <p:nvPr/>
        </p:nvSpPr>
        <p:spPr>
          <a:xfrm>
            <a:off x="4497475" y="46780"/>
            <a:ext cx="10515600" cy="1387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An example using </a:t>
            </a:r>
            <a:r>
              <a:rPr lang="en-US" i="1" dirty="0"/>
              <a:t>E. indica</a:t>
            </a:r>
          </a:p>
        </p:txBody>
      </p:sp>
    </p:spTree>
    <p:extLst>
      <p:ext uri="{BB962C8B-B14F-4D97-AF65-F5344CB8AC3E}">
        <p14:creationId xmlns:p14="http://schemas.microsoft.com/office/powerpoint/2010/main" val="1899053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56AD-1BE6-D831-5987-7F671976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C1B4-552A-E5C8-C735-94D2482E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731" y="1302219"/>
            <a:ext cx="10737501" cy="2126781"/>
          </a:xfrm>
        </p:spPr>
        <p:txBody>
          <a:bodyPr/>
          <a:lstStyle/>
          <a:p>
            <a:r>
              <a:rPr lang="en-US" dirty="0"/>
              <a:t>What could be a recipe to create an SDM?</a:t>
            </a:r>
            <a:endParaRPr lang="en-US" noProof="0" dirty="0"/>
          </a:p>
        </p:txBody>
      </p:sp>
      <p:pic>
        <p:nvPicPr>
          <p:cNvPr id="4" name="Imagen 3" descr="Un grupo de folletos sobre una mesa&#10;&#10;El contenido generado por IA puede ser incorrecto.">
            <a:extLst>
              <a:ext uri="{FF2B5EF4-FFF2-40B4-BE49-F238E27FC236}">
                <a16:creationId xmlns:a16="http://schemas.microsoft.com/office/drawing/2014/main" id="{83CB0468-7159-F81F-8CEA-132EB7359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15956"/>
            <a:ext cx="5439508" cy="30597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00CB166-FFDA-260C-CC44-9C3109595E09}"/>
              </a:ext>
            </a:extLst>
          </p:cNvPr>
          <p:cNvSpPr txBox="1"/>
          <p:nvPr/>
        </p:nvSpPr>
        <p:spPr>
          <a:xfrm>
            <a:off x="5941940" y="6375679"/>
            <a:ext cx="6094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" dirty="0"/>
              <a:t>https://www.freepik.com/free-photo/top-view-food-ingredients-with-vegetable-soup-bowl-notebook_12253324.htm#fromView=keyword&amp;page=1&amp;position=0&amp;uuid=d2696821-6a07-481e-8172-69b3b091065c&amp;query=Food+recipe</a:t>
            </a:r>
          </a:p>
        </p:txBody>
      </p:sp>
    </p:spTree>
    <p:extLst>
      <p:ext uri="{BB962C8B-B14F-4D97-AF65-F5344CB8AC3E}">
        <p14:creationId xmlns:p14="http://schemas.microsoft.com/office/powerpoint/2010/main" val="4248684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5264E-A5C2-E3C8-12F6-E3F2B4DD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892B-84EC-AFBF-9BF8-BF31FE3D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914" y="83019"/>
            <a:ext cx="10737501" cy="2126781"/>
          </a:xfrm>
        </p:spPr>
        <p:txBody>
          <a:bodyPr/>
          <a:lstStyle/>
          <a:p>
            <a:r>
              <a:rPr lang="en-US" dirty="0"/>
              <a:t>ODMAP!</a:t>
            </a:r>
            <a:endParaRPr lang="en-US" noProof="0" dirty="0"/>
          </a:p>
        </p:txBody>
      </p:sp>
      <p:pic>
        <p:nvPicPr>
          <p:cNvPr id="4" name="Imagen 3" descr="Un grupo de folletos sobre una mesa&#10;&#10;El contenido generado por IA puede ser incorrecto.">
            <a:extLst>
              <a:ext uri="{FF2B5EF4-FFF2-40B4-BE49-F238E27FC236}">
                <a16:creationId xmlns:a16="http://schemas.microsoft.com/office/drawing/2014/main" id="{B16DC552-0E22-C06A-13FD-DCC10BE40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15956"/>
            <a:ext cx="5439508" cy="30597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A25E88E-6F24-7F71-AC22-B019FC024B51}"/>
              </a:ext>
            </a:extLst>
          </p:cNvPr>
          <p:cNvSpPr txBox="1"/>
          <p:nvPr/>
        </p:nvSpPr>
        <p:spPr>
          <a:xfrm>
            <a:off x="5941940" y="6375679"/>
            <a:ext cx="6094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600" dirty="0"/>
              <a:t>https://www.freepik.com/free-photo/top-view-food-ingredients-with-vegetable-soup-bowl-notebook_12253324.htm#fromView=keyword&amp;page=1&amp;position=0&amp;uuid=d2696821-6a07-481e-8172-69b3b091065c&amp;query=Food+recipe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40D8B5-1FE9-4C13-8E62-04BC279CF0E6}"/>
              </a:ext>
            </a:extLst>
          </p:cNvPr>
          <p:cNvSpPr txBox="1">
            <a:spLocks/>
          </p:cNvSpPr>
          <p:nvPr/>
        </p:nvSpPr>
        <p:spPr>
          <a:xfrm>
            <a:off x="147402" y="2521420"/>
            <a:ext cx="5535643" cy="4046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/>
              <a:t>Overview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/>
              <a:t>Data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/>
              <a:t>Model fitting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/>
              <a:t>Assessment</a:t>
            </a: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5400" dirty="0"/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2192943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8C1A-61E2-0D14-D11D-6CD9BFDB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recipe for a species distribution model (ODMAP)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4F76D-E041-6C5E-AF6A-543239F2A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8D08B2A-57FC-00F4-BAEA-F008D6CB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22" y="1825625"/>
            <a:ext cx="7035555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1DAF2C-CD93-4D09-69C8-CCFCCDAB1F77}"/>
              </a:ext>
            </a:extLst>
          </p:cNvPr>
          <p:cNvSpPr txBox="1"/>
          <p:nvPr/>
        </p:nvSpPr>
        <p:spPr>
          <a:xfrm>
            <a:off x="4828417" y="619739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Zurell</a:t>
            </a:r>
            <a:r>
              <a:rPr lang="en-US"/>
              <a:t> et al., 2020</a:t>
            </a:r>
          </a:p>
        </p:txBody>
      </p:sp>
    </p:spTree>
    <p:extLst>
      <p:ext uri="{BB962C8B-B14F-4D97-AF65-F5344CB8AC3E}">
        <p14:creationId xmlns:p14="http://schemas.microsoft.com/office/powerpoint/2010/main" val="1862238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692D96-FE25-340F-0134-9F3C1FE3E59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8293" y="-41141"/>
            <a:ext cx="7155460" cy="6663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DBE588-7C87-1A90-7C4D-7220E2E3ED54}"/>
              </a:ext>
            </a:extLst>
          </p:cNvPr>
          <p:cNvSpPr txBox="1"/>
          <p:nvPr/>
        </p:nvSpPr>
        <p:spPr>
          <a:xfrm>
            <a:off x="966368" y="5448935"/>
            <a:ext cx="198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/>
              <a:t>Zurell</a:t>
            </a:r>
            <a:r>
              <a:rPr lang="en-US"/>
              <a:t> et al., 2020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7D3F9B3-7B0A-504B-EF7D-74EED012D5D6}"/>
              </a:ext>
            </a:extLst>
          </p:cNvPr>
          <p:cNvSpPr/>
          <p:nvPr/>
        </p:nvSpPr>
        <p:spPr>
          <a:xfrm>
            <a:off x="2463094" y="2660905"/>
            <a:ext cx="480964" cy="1600200"/>
          </a:xfrm>
          <a:prstGeom prst="leftBrace">
            <a:avLst>
              <a:gd name="adj1" fmla="val 6614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F44ED-73D1-BA3A-D870-9DEC0C5A1F90}"/>
              </a:ext>
            </a:extLst>
          </p:cNvPr>
          <p:cNvSpPr txBox="1"/>
          <p:nvPr/>
        </p:nvSpPr>
        <p:spPr>
          <a:xfrm>
            <a:off x="838200" y="3276339"/>
            <a:ext cx="198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209661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2CFAB9-CFE0-E85A-D799-F6050FB5CE25}"/>
              </a:ext>
            </a:extLst>
          </p:cNvPr>
          <p:cNvSpPr txBox="1">
            <a:spLocks/>
          </p:cNvSpPr>
          <p:nvPr/>
        </p:nvSpPr>
        <p:spPr>
          <a:xfrm>
            <a:off x="1089660" y="1746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hlinkClick r:id="rId2"/>
              </a:rPr>
              <a:t>Frontiers | Integrating a Population Genomics Focus into Biogeographic and Macroecological Research</a:t>
            </a:r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E8E59A-0554-E1C0-E0B5-A6A5D38F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6267"/>
            <a:ext cx="647700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75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EB78-D967-0F8D-DA36-39FB2453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Overview: What is the purpose of make a SDM for gap analysis?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C300C-3D86-E37A-D43C-AB4FF82A2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917AE7E-3676-B7AF-350E-57A8C083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77" y="1507205"/>
            <a:ext cx="7035555" cy="43513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F179EC-BE0E-17BF-C889-D59AB24C2CBB}"/>
              </a:ext>
            </a:extLst>
          </p:cNvPr>
          <p:cNvSpPr/>
          <p:nvPr/>
        </p:nvSpPr>
        <p:spPr>
          <a:xfrm>
            <a:off x="4488873" y="1717964"/>
            <a:ext cx="2022763" cy="11360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48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6DB4-429B-F043-65AB-AF8639CF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88A28-D4CC-E3B9-A5DF-D91EC5DF5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23" y="2710528"/>
            <a:ext cx="10515600" cy="1910633"/>
          </a:xfrm>
        </p:spPr>
        <p:txBody>
          <a:bodyPr>
            <a:normAutofit/>
          </a:bodyPr>
          <a:lstStyle/>
          <a:p>
            <a:r>
              <a:rPr lang="en-US" sz="3200" dirty="0"/>
              <a:t>What is the purpose of a SDM for a gap analysis?</a:t>
            </a:r>
          </a:p>
          <a:p>
            <a:r>
              <a:rPr lang="en-US" sz="3200" dirty="0"/>
              <a:t>What geographical area information should I use?</a:t>
            </a:r>
          </a:p>
          <a:p>
            <a:r>
              <a:rPr lang="en-US" sz="3200" dirty="0"/>
              <a:t>What geographical extension should I use?</a:t>
            </a:r>
          </a:p>
        </p:txBody>
      </p:sp>
    </p:spTree>
    <p:extLst>
      <p:ext uri="{BB962C8B-B14F-4D97-AF65-F5344CB8AC3E}">
        <p14:creationId xmlns:p14="http://schemas.microsoft.com/office/powerpoint/2010/main" val="1084125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C6A-8000-370D-6E5D-ECDC1F74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(preprocessing)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60D52-F964-4818-4808-8F586254E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78E8DF8-8230-73C4-E09F-FEBA82A5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11" y="1418602"/>
            <a:ext cx="7035555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8C384F-C2F8-AA8E-FF35-4E0ECA079279}"/>
              </a:ext>
            </a:extLst>
          </p:cNvPr>
          <p:cNvSpPr/>
          <p:nvPr/>
        </p:nvSpPr>
        <p:spPr>
          <a:xfrm>
            <a:off x="6096000" y="3026235"/>
            <a:ext cx="2022763" cy="11360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23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565C41-0CE1-7296-24BE-DCDCD1E7E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b="1"/>
              <a:t>Basics of  data curation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636BF23-211B-2EC2-29B2-F97407821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00239"/>
            <a:ext cx="5157787" cy="823912"/>
          </a:xfrm>
        </p:spPr>
        <p:txBody>
          <a:bodyPr/>
          <a:lstStyle/>
          <a:p>
            <a:pPr marL="76200" indent="0" algn="ctr">
              <a:buNone/>
            </a:pPr>
            <a:r>
              <a:rPr lang="en-US" dirty="0"/>
              <a:t>Activity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2DED28F-B212-43AC-796F-8AACB03F5496}"/>
              </a:ext>
            </a:extLst>
          </p:cNvPr>
          <p:cNvSpPr txBox="1">
            <a:spLocks/>
          </p:cNvSpPr>
          <p:nvPr/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>
                <a:highlight>
                  <a:srgbClr val="FF00FF"/>
                </a:highlight>
              </a:rPr>
              <a:t>Taxonomic data</a:t>
            </a:r>
          </a:p>
          <a:p>
            <a:pPr>
              <a:buFontTx/>
              <a:buChar char="-"/>
            </a:pPr>
            <a:endParaRPr lang="en-US"/>
          </a:p>
          <a:p>
            <a:endParaRPr lang="en-US"/>
          </a:p>
          <a:p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808000"/>
                </a:highlight>
              </a:rPr>
              <a:t>Geographical coordinates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FFFF00"/>
                </a:highlight>
              </a:rPr>
              <a:t>Environmental information</a:t>
            </a:r>
          </a:p>
          <a:p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2E8F706-5CAB-E0D6-800B-43AB0F7E5BDD}"/>
              </a:ext>
            </a:extLst>
          </p:cNvPr>
          <p:cNvSpPr txBox="1">
            <a:spLocks/>
          </p:cNvSpPr>
          <p:nvPr/>
        </p:nvSpPr>
        <p:spPr>
          <a:xfrm>
            <a:off x="6172200" y="1489139"/>
            <a:ext cx="5183188" cy="8239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/>
              <a:t>What respond?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B08B657-0914-15DD-7695-C692304D729D}"/>
              </a:ext>
            </a:extLst>
          </p:cNvPr>
          <p:cNvSpPr txBox="1">
            <a:spLocks/>
          </p:cNvSpPr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Tx/>
              <a:buChar char="-"/>
            </a:pPr>
            <a:r>
              <a:rPr lang="en-US">
                <a:highlight>
                  <a:srgbClr val="FF00FF"/>
                </a:highlight>
              </a:rPr>
              <a:t>The species that I am analyzing have other scientific names or it is even a valid name?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808000"/>
                </a:highlight>
              </a:rPr>
              <a:t>How accurate is the geographical information found for my species?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>
                <a:highlight>
                  <a:srgbClr val="FFFF00"/>
                </a:highlight>
              </a:rPr>
              <a:t>What environmental information can be used to model the species distribution of the species?</a:t>
            </a:r>
          </a:p>
          <a:p>
            <a:pPr>
              <a:buFontTx/>
              <a:buChar char="-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80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30D9-B6A4-EDF3-403D-F17793D8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88A5-F5E9-6E35-6D85-D02CEE8AB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EFA5D3-076F-F1D7-C011-1709AC065E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Calibri"/>
              <a:buNone/>
              <a:defRPr sz="36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>
                <a:highlight>
                  <a:srgbClr val="FF00FF"/>
                </a:highlight>
              </a:rPr>
              <a:t>Taxonomic data</a:t>
            </a:r>
            <a:br>
              <a:rPr lang="en-US">
                <a:highlight>
                  <a:srgbClr val="FF00FF"/>
                </a:highlight>
              </a:rPr>
            </a:b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79C4B-38E7-7D35-A240-5DB682DA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3" y="1435302"/>
            <a:ext cx="12192000" cy="1657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282FC-1E8E-2280-2851-97D9B4EF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83" y="3375996"/>
            <a:ext cx="12192000" cy="25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28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3EE7-FA4E-FC90-F5F0-241AEF49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0233C-610F-F211-BAD2-ABAE033C5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90FF7-A2C2-9EEF-E1DF-B2B73269C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424"/>
          <a:stretch/>
        </p:blipFill>
        <p:spPr>
          <a:xfrm>
            <a:off x="0" y="-14509"/>
            <a:ext cx="12192000" cy="1760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091E67-957B-7323-9B7F-0CC71E14C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307" y="1798236"/>
            <a:ext cx="5404308" cy="424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608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AC7E-4752-A59C-6901-B03D621A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should I search for records?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20CFC-1CD5-E468-C87E-96750C625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915C4-1FA5-0E1B-A597-997CD714D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3660713"/>
            <a:ext cx="9208008" cy="206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6AC7C-6BCE-A86C-67C0-3A596CAE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915" y="886136"/>
            <a:ext cx="6845777" cy="29623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645BB3-0E71-77F2-FAB5-4ADC19C18D13}"/>
              </a:ext>
            </a:extLst>
          </p:cNvPr>
          <p:cNvSpPr txBox="1"/>
          <p:nvPr/>
        </p:nvSpPr>
        <p:spPr>
          <a:xfrm>
            <a:off x="4652803" y="5722293"/>
            <a:ext cx="6845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highlight>
                  <a:srgbClr val="FF0000"/>
                </a:highlight>
              </a:rPr>
              <a:t>GBIF: Dirty information (Needs curation!)</a:t>
            </a:r>
          </a:p>
        </p:txBody>
      </p:sp>
    </p:spTree>
    <p:extLst>
      <p:ext uri="{BB962C8B-B14F-4D97-AF65-F5344CB8AC3E}">
        <p14:creationId xmlns:p14="http://schemas.microsoft.com/office/powerpoint/2010/main" val="2170558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53C3-5669-FA5D-728F-86BE104D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4FE5A-2739-B3C3-E0C6-3FFC59F42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12AFF-9142-7377-CEF8-4092BEC0D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2" y="1434152"/>
            <a:ext cx="9272016" cy="472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5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8B66-8009-5704-20E3-8644E9CB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2C0DD-0872-FABB-D9AB-2912B6994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A74A4-1164-610D-E21E-69A7C3AC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109"/>
            <a:ext cx="12192000" cy="538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25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1329-CC52-6DD2-6796-0C8B6FB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FAD2D-FC0E-0AE3-1A7C-102B828A6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0C484F56-C78A-3D44-CCD6-B6EC0A05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4879587"/>
            <a:ext cx="10515600" cy="1202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D9908-1663-CABC-7CE3-B4BB2CAF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20" t="39367" r="1459" b="13288"/>
          <a:stretch/>
        </p:blipFill>
        <p:spPr>
          <a:xfrm>
            <a:off x="177800" y="546100"/>
            <a:ext cx="7988300" cy="288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BA0E1-82AC-D15F-FDF7-D731F1ED9550}"/>
              </a:ext>
            </a:extLst>
          </p:cNvPr>
          <p:cNvSpPr txBox="1"/>
          <p:nvPr/>
        </p:nvSpPr>
        <p:spPr>
          <a:xfrm>
            <a:off x="4305300" y="393152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In R:</a:t>
            </a:r>
          </a:p>
        </p:txBody>
      </p:sp>
    </p:spTree>
    <p:extLst>
      <p:ext uri="{BB962C8B-B14F-4D97-AF65-F5344CB8AC3E}">
        <p14:creationId xmlns:p14="http://schemas.microsoft.com/office/powerpoint/2010/main" val="2865443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6076-F44F-AF73-0780-E6ED45872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14945"/>
            <a:ext cx="6217919" cy="1053477"/>
          </a:xfrm>
        </p:spPr>
        <p:txBody>
          <a:bodyPr>
            <a:normAutofit fontScale="90000"/>
          </a:bodyPr>
          <a:lstStyle/>
          <a:p>
            <a:r>
              <a:rPr lang="en-US"/>
              <a:t>Why the geographical scale matters?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70607-92F1-50A4-A210-4587FF322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43DF9730-087E-A0E3-95D5-63240DE7F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0"/>
            <a:ext cx="5181600" cy="232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8428AA86-0714-8E75-540C-BF4F7E6C9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07" y="2511631"/>
            <a:ext cx="10995842" cy="37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50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16ED-3D94-880D-1834-5DC3426A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63340" cy="1053477"/>
          </a:xfrm>
        </p:spPr>
        <p:txBody>
          <a:bodyPr>
            <a:normAutofit fontScale="90000"/>
          </a:bodyPr>
          <a:lstStyle/>
          <a:p>
            <a:r>
              <a:rPr lang="en-US"/>
              <a:t>What model should I use?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40542-585C-33FA-57A7-FBBCE89EB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CE1AC1E-AC05-4378-FD20-F3DE876A5F87}"/>
              </a:ext>
            </a:extLst>
          </p:cNvPr>
          <p:cNvSpPr txBox="1">
            <a:spLocks/>
          </p:cNvSpPr>
          <p:nvPr/>
        </p:nvSpPr>
        <p:spPr>
          <a:xfrm>
            <a:off x="724802" y="2823879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MaxEnt or maxnet, XGBoost among the prefer ones</a:t>
            </a:r>
          </a:p>
          <a:p>
            <a:r>
              <a:rPr lang="en-US"/>
              <a:t>Use an ensembles of models?</a:t>
            </a:r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239DF1E2-6F7B-44F1-E816-79B0AB22F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746" y="2305372"/>
            <a:ext cx="3418908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C2848A-D4FC-0DDD-0F21-FBC6C79AD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253" y="0"/>
            <a:ext cx="7325747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54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97C3D-0442-015C-B3ED-2C1C166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terms: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D25C3-C51A-49EB-0BE1-0EF61CBD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Presence-only data: Data obtained only from geographical coordinates</a:t>
            </a:r>
          </a:p>
          <a:p>
            <a:r>
              <a:rPr lang="en-US"/>
              <a:t>Presence: localities where a species was found</a:t>
            </a:r>
          </a:p>
          <a:p>
            <a:r>
              <a:rPr lang="en-US"/>
              <a:t>Background: Points that represents the extent of the study (represent available environment)</a:t>
            </a:r>
          </a:p>
          <a:p>
            <a:r>
              <a:rPr lang="en-US"/>
              <a:t>Hyperparameter: It is a configuration variable that controls the learning process of a machine learning model and must be set before training begins</a:t>
            </a:r>
          </a:p>
          <a:p>
            <a:r>
              <a:rPr lang="en-US"/>
              <a:t>Feature: real-valued functions based on environmental data</a:t>
            </a:r>
          </a:p>
          <a:p>
            <a:r>
              <a:rPr lang="en-US"/>
              <a:t>Entropy: A measure of </a:t>
            </a:r>
            <a:r>
              <a:rPr lang="en-US" err="1"/>
              <a:t>dispersedness</a:t>
            </a:r>
            <a:endParaRPr lang="en-US"/>
          </a:p>
          <a:p>
            <a:r>
              <a:rPr lang="en-US"/>
              <a:t>Probability density functions: Describe the relative likelihood of random variables over their range; can be univariate or multivariate</a:t>
            </a:r>
          </a:p>
        </p:txBody>
      </p:sp>
    </p:spTree>
    <p:extLst>
      <p:ext uri="{BB962C8B-B14F-4D97-AF65-F5344CB8AC3E}">
        <p14:creationId xmlns:p14="http://schemas.microsoft.com/office/powerpoint/2010/main" val="1890818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5F2EC-7380-9120-743F-EB669F31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obtain the geographical distribution of a species using environmental data?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22780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480D-0CA1-AEA1-43F1-A6D78A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1D480-1400-B41D-0E8D-FA51E1045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B837E-7AD9-D27D-9DC0-CB03BEF69DF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0583" y="1539184"/>
            <a:ext cx="8297433" cy="4953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3F8F2-1D06-5AB4-B314-777805A78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104335"/>
            <a:ext cx="6118227" cy="13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15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53AE-36BB-E598-6C9A-FA9784EB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D8829-A5C1-5BB4-34E2-1294870E4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42C2D8-870D-83D8-F0D0-E8E58E22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5" y="1836738"/>
            <a:ext cx="773571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275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7E3E-50DE-09EE-F693-F068259A4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053D33F-3C7F-CAC9-7B14-54D50CA12F82}"/>
              </a:ext>
            </a:extLst>
          </p:cNvPr>
          <p:cNvSpPr txBox="1">
            <a:spLocks/>
          </p:cNvSpPr>
          <p:nvPr/>
        </p:nvSpPr>
        <p:spPr>
          <a:xfrm>
            <a:off x="408647" y="1898842"/>
            <a:ext cx="5183188" cy="36845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Estimates the distribution (geographic range) of a species by finding the distribution which has maximum entropy</a:t>
            </a:r>
          </a:p>
          <a:p>
            <a:r>
              <a:rPr lang="en-US" sz="1800" dirty="0"/>
              <a:t>Minimizing entropy respect background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2E1D4-D8BC-A468-C659-20303CF6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0241" y="2379083"/>
            <a:ext cx="8811855" cy="4010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64C6DF-FC0D-6DD8-254C-77962DF14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885" y="19499"/>
            <a:ext cx="5183189" cy="187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9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3006-4381-D691-A9FB-CEC4D991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B841A-B4C2-DC16-CFD0-D56CF03A4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BC5BA8A-9BDA-2A37-6415-84FDB72BA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37" y="1499585"/>
            <a:ext cx="7035555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7C8368-744A-91F0-0F29-D0902285DC55}"/>
              </a:ext>
            </a:extLst>
          </p:cNvPr>
          <p:cNvSpPr/>
          <p:nvPr/>
        </p:nvSpPr>
        <p:spPr>
          <a:xfrm>
            <a:off x="6096000" y="4222343"/>
            <a:ext cx="3371092" cy="1628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56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D05F-E749-26D1-2771-84E9AC90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B8709-D30C-1550-A9AD-C640E5FAF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Avoid Multicollinearity</a:t>
            </a:r>
          </a:p>
          <a:p>
            <a:r>
              <a:rPr lang="en-US"/>
              <a:t>Ways to reduce Multicollinearity:</a:t>
            </a:r>
          </a:p>
          <a:p>
            <a:pPr lvl="1"/>
            <a:r>
              <a:rPr lang="en-US"/>
              <a:t>Correlation (e.g. &lt;0.7)</a:t>
            </a:r>
          </a:p>
          <a:p>
            <a:pPr lvl="1"/>
            <a:r>
              <a:rPr lang="en-US"/>
              <a:t>Variance Inflation Factor (VIF &lt;10)</a:t>
            </a:r>
          </a:p>
          <a:p>
            <a:pPr lvl="1"/>
            <a:r>
              <a:rPr lang="en-US"/>
              <a:t>Principal component Analysis (PCA)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A8996-C02B-CB2E-9343-678833EF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446" y="-83128"/>
            <a:ext cx="6296548" cy="6243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B17982-18A2-0269-3309-A42727536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891" y="4962073"/>
            <a:ext cx="3334215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35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5E51-6AF0-A4B8-056F-820E208E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722"/>
            <a:ext cx="10515600" cy="1325563"/>
          </a:xfrm>
        </p:spPr>
        <p:txBody>
          <a:bodyPr/>
          <a:lstStyle/>
          <a:p>
            <a:r>
              <a:rPr lang="en-US" dirty="0"/>
              <a:t>Calibration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9A93F-B338-C59F-1B84-49114B7B1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68393"/>
            <a:ext cx="10515600" cy="4351338"/>
          </a:xfrm>
        </p:spPr>
        <p:txBody>
          <a:bodyPr/>
          <a:lstStyle/>
          <a:p>
            <a:r>
              <a:rPr lang="en-US"/>
              <a:t>Reduce overfitting!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6746B-6CA7-D5EA-D1CA-453EA2469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509" y="-19874"/>
            <a:ext cx="5255491" cy="1976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57433-50BF-4640-BFF8-112E17AB0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62" y="2175471"/>
            <a:ext cx="5273838" cy="3796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8F158-2380-FDED-8305-F58C79E93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38" y="1956661"/>
            <a:ext cx="3088081" cy="422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08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72C398-68B4-C13F-2993-99B89714A24D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9F0833-556C-9DA6-9CD3-CEF28E08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K-Folding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EEB1EE-D256-C4E3-BF17-D325FAC9B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BEC908-1FDA-5B1F-7CDE-812AFB84C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865" y="2642345"/>
            <a:ext cx="6552117" cy="3521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65C05B-AEDD-5BE3-8DA8-A591A9ED2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8" y="1787487"/>
            <a:ext cx="5353797" cy="46869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831121-8DF4-7841-84A9-995B3B29B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509" y="-19874"/>
            <a:ext cx="5255491" cy="197653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5D2A46E-98BF-61F2-6F40-C10C22ACF634}"/>
              </a:ext>
            </a:extLst>
          </p:cNvPr>
          <p:cNvSpPr txBox="1">
            <a:spLocks/>
          </p:cNvSpPr>
          <p:nvPr/>
        </p:nvSpPr>
        <p:spPr>
          <a:xfrm>
            <a:off x="271015" y="441654"/>
            <a:ext cx="5982003" cy="1053477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Spatial independent evaluation</a:t>
            </a:r>
          </a:p>
        </p:txBody>
      </p:sp>
    </p:spTree>
    <p:extLst>
      <p:ext uri="{BB962C8B-B14F-4D97-AF65-F5344CB8AC3E}">
        <p14:creationId xmlns:p14="http://schemas.microsoft.com/office/powerpoint/2010/main" val="2732324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0350-5ACF-2EDE-7DB4-E5E107D9C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3A55-A790-35EB-3393-5BEE7F94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cut-off value should I use to say that a species is present or absent?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541AA-570C-4DD9-D8DD-73F11347C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DFA060C-462B-0B86-20F8-596F64108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461"/>
            <a:ext cx="61722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4455B4-0712-71A3-0D05-7B0EAF7846EB}"/>
              </a:ext>
            </a:extLst>
          </p:cNvPr>
          <p:cNvSpPr txBox="1"/>
          <p:nvPr/>
        </p:nvSpPr>
        <p:spPr>
          <a:xfrm>
            <a:off x="983673" y="609013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https://babichmorrowc.github.io/post/2019-04-12-sdm-threshold/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93716F6-83CE-B222-3C64-C898D88D8B1F}"/>
              </a:ext>
            </a:extLst>
          </p:cNvPr>
          <p:cNvSpPr txBox="1">
            <a:spLocks/>
          </p:cNvSpPr>
          <p:nvPr/>
        </p:nvSpPr>
        <p:spPr>
          <a:xfrm>
            <a:off x="5957455" y="1738794"/>
            <a:ext cx="6278865" cy="4262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Threshold: Designating areas above a suitability level as within species range!</a:t>
            </a:r>
          </a:p>
          <a:p>
            <a:pPr marL="0" indent="0">
              <a:buNone/>
            </a:pPr>
            <a:endParaRPr lang="en-US"/>
          </a:p>
          <a:p>
            <a:pPr lvl="1"/>
            <a:r>
              <a:rPr lang="en-US"/>
              <a:t>Maximum sum of specificity and sensitivity</a:t>
            </a:r>
          </a:p>
          <a:p>
            <a:pPr lvl="1"/>
            <a:r>
              <a:rPr lang="en-US"/>
              <a:t>Minimum training presence</a:t>
            </a:r>
          </a:p>
          <a:p>
            <a:pPr lvl="1"/>
            <a:r>
              <a:rPr lang="en-US"/>
              <a:t>10th percentile training presence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85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8E5D-BE2D-41F5-5EEF-654E4C77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BD79F-74C0-F5C6-A382-4E0B3A35F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E320E47-AA67-4E45-2337-FD165652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57" y="1484345"/>
            <a:ext cx="7035555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DFABE6-F7E9-A45B-403D-752ECE73EAA5}"/>
              </a:ext>
            </a:extLst>
          </p:cNvPr>
          <p:cNvSpPr/>
          <p:nvPr/>
        </p:nvSpPr>
        <p:spPr>
          <a:xfrm>
            <a:off x="2895600" y="4199666"/>
            <a:ext cx="2729345" cy="11360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00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A461-5B99-9827-EAE2-0D8203F8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can obtain good results? (Do not use only one training dataset) (try K-fold)</a:t>
            </a:r>
          </a:p>
        </p:txBody>
      </p:sp>
      <p:pic>
        <p:nvPicPr>
          <p:cNvPr id="1030" name="Picture 6" descr="The Essential Guide to K-Fold Cross-Validation in Machine Learning | by  Balaji Nalawade | Medium">
            <a:extLst>
              <a:ext uri="{FF2B5EF4-FFF2-40B4-BE49-F238E27FC236}">
                <a16:creationId xmlns:a16="http://schemas.microsoft.com/office/drawing/2014/main" id="{27C87787-2DC1-88BC-E0ED-98E237990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854" y="1526058"/>
            <a:ext cx="7395151" cy="416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49130B-BD2C-D629-1E55-EC7D5C53DEA3}"/>
              </a:ext>
            </a:extLst>
          </p:cNvPr>
          <p:cNvSpPr txBox="1"/>
          <p:nvPr/>
        </p:nvSpPr>
        <p:spPr>
          <a:xfrm>
            <a:off x="1290349" y="62312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https://medium.com/@bididudy/the-essential-guide-to-k-fold-cross-validation-in-machine-learning-2bcb58c50578</a:t>
            </a:r>
          </a:p>
        </p:txBody>
      </p:sp>
    </p:spTree>
    <p:extLst>
      <p:ext uri="{BB962C8B-B14F-4D97-AF65-F5344CB8AC3E}">
        <p14:creationId xmlns:p14="http://schemas.microsoft.com/office/powerpoint/2010/main" val="3872607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2AB2-C584-371E-EAEA-BF28DCF3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80" y="404454"/>
            <a:ext cx="10515600" cy="1325563"/>
          </a:xfrm>
        </p:spPr>
        <p:txBody>
          <a:bodyPr/>
          <a:lstStyle/>
          <a:p>
            <a:r>
              <a:rPr lang="en-US" dirty="0"/>
              <a:t>There are no silver bullets!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6448334-CA52-330F-8FC2-DEEECEF06067}"/>
              </a:ext>
            </a:extLst>
          </p:cNvPr>
          <p:cNvSpPr txBox="1">
            <a:spLocks/>
          </p:cNvSpPr>
          <p:nvPr/>
        </p:nvSpPr>
        <p:spPr>
          <a:xfrm>
            <a:off x="783335" y="2442845"/>
            <a:ext cx="45683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B3838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B3838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B38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When too good is not good?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C4E59DA-2DC5-E118-2E10-17C32B6B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710" y="0"/>
            <a:ext cx="6141138" cy="629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4E378F-ED31-0AE5-5A9E-D2EC4B8B9E86}"/>
              </a:ext>
            </a:extLst>
          </p:cNvPr>
          <p:cNvSpPr txBox="1"/>
          <p:nvPr/>
        </p:nvSpPr>
        <p:spPr>
          <a:xfrm>
            <a:off x="203880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https://www.kaggle.com/discussions/getting-started/166897</a:t>
            </a:r>
          </a:p>
        </p:txBody>
      </p:sp>
    </p:spTree>
    <p:extLst>
      <p:ext uri="{BB962C8B-B14F-4D97-AF65-F5344CB8AC3E}">
        <p14:creationId xmlns:p14="http://schemas.microsoft.com/office/powerpoint/2010/main" val="2154773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ABEF-71FF-4B2C-0C80-C19B8708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Crossvalidation</a:t>
            </a:r>
            <a:r>
              <a:rPr lang="en-US"/>
              <a:t> (Evaluation)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22E75-F237-9310-2B78-C7FAD8749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93A2B-C448-D99C-66B5-3FDC0130792C}"/>
              </a:ext>
            </a:extLst>
          </p:cNvPr>
          <p:cNvSpPr txBox="1"/>
          <p:nvPr/>
        </p:nvSpPr>
        <p:spPr>
          <a:xfrm>
            <a:off x="5138366" y="5694724"/>
            <a:ext cx="7298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https://www.sharpsightlabs.com/blog/cross-validation-explained/</a:t>
            </a:r>
          </a:p>
        </p:txBody>
      </p:sp>
      <p:pic>
        <p:nvPicPr>
          <p:cNvPr id="5" name="Picture 6" descr="A simple example that shows 5-fold cross validation.  It shows how we split the original training data into &quot;folds&quot;, iteratively train and validate the model, and then average the performance of the model for all of the iterations.">
            <a:extLst>
              <a:ext uri="{FF2B5EF4-FFF2-40B4-BE49-F238E27FC236}">
                <a16:creationId xmlns:a16="http://schemas.microsoft.com/office/drawing/2014/main" id="{D7E799D8-90B0-1C29-FBD8-2E1A65E50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229" y="1343386"/>
            <a:ext cx="687958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109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803A-FAE3-33E9-A835-29AFB407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(Confusion matrix)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89B13-9DCB-65A3-A409-A39961B65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9E924-BF23-EB7B-60AF-CA6790C34BFF}"/>
              </a:ext>
            </a:extLst>
          </p:cNvPr>
          <p:cNvSpPr txBox="1"/>
          <p:nvPr/>
        </p:nvSpPr>
        <p:spPr>
          <a:xfrm>
            <a:off x="6984492" y="5837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https://encord.com/glossary/confusion-matrix/</a:t>
            </a:r>
          </a:p>
        </p:txBody>
      </p:sp>
      <p:pic>
        <p:nvPicPr>
          <p:cNvPr id="5" name="Picture 2" descr="Confusion Matrix">
            <a:extLst>
              <a:ext uri="{FF2B5EF4-FFF2-40B4-BE49-F238E27FC236}">
                <a16:creationId xmlns:a16="http://schemas.microsoft.com/office/drawing/2014/main" id="{2CEEE4E1-60DE-AA4B-1270-8F6D0082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858" y="1404937"/>
            <a:ext cx="718185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662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5144-0C45-FC81-C9EE-2F61C7B6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AUC-ROC (</a:t>
            </a:r>
            <a:r>
              <a:rPr lang="en-US" b="0" i="0">
                <a:solidFill>
                  <a:srgbClr val="222222"/>
                </a:solidFill>
                <a:effectLst/>
                <a:latin typeface="inter"/>
              </a:rPr>
              <a:t>receiver operating characteristic curve)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1D40-1EBB-1DD8-932B-A79DE0AFE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10431-FA4B-C0AC-2F0F-FE86F4550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2417629"/>
            <a:ext cx="5157787" cy="368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= 1: Perfect prediction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&gt; 0.9: Excellent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0.7-0.9: Good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0.5-0.7: Poor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AUC = 0.5: Random prediction 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389DDDB-E80B-42F7-BE99-04B7590D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2" y="886136"/>
            <a:ext cx="4910836" cy="491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512A92-270E-F1AF-C361-81B0C3D3D531}"/>
              </a:ext>
            </a:extLst>
          </p:cNvPr>
          <p:cNvSpPr txBox="1"/>
          <p:nvPr/>
        </p:nvSpPr>
        <p:spPr>
          <a:xfrm>
            <a:off x="1912620" y="59477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https://community.deeplearning.ai/t/roc-curve-and-auc-area-under-the-roc-curve/224140/2</a:t>
            </a:r>
          </a:p>
        </p:txBody>
      </p:sp>
    </p:spTree>
    <p:extLst>
      <p:ext uri="{BB962C8B-B14F-4D97-AF65-F5344CB8AC3E}">
        <p14:creationId xmlns:p14="http://schemas.microsoft.com/office/powerpoint/2010/main" val="3173589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01CA-92A8-98C5-6B6F-4A51585D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Predictions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FD954-F746-F178-F2D8-6575B0AE0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4F5B0DB-57E7-DB94-B20C-E0BF91E02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477" y="1253331"/>
            <a:ext cx="7035555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57DF03-87FB-8FEA-28F6-3880128AD5B0}"/>
              </a:ext>
            </a:extLst>
          </p:cNvPr>
          <p:cNvSpPr/>
          <p:nvPr/>
        </p:nvSpPr>
        <p:spPr>
          <a:xfrm>
            <a:off x="2823968" y="2660123"/>
            <a:ext cx="2022763" cy="11360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242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0071-0FDA-24C6-729F-E019C3F9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multivariate environmental similarity surface (MESS)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A4801-095E-EDF0-299B-DEFFA8D0D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62F4B9D6-1151-954D-7991-DAE08E55A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504" y="4422775"/>
            <a:ext cx="4675705" cy="20068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F51DB01-67EE-8EC8-89A8-D868A7575D1F}"/>
              </a:ext>
            </a:extLst>
          </p:cNvPr>
          <p:cNvSpPr txBox="1">
            <a:spLocks/>
          </p:cNvSpPr>
          <p:nvPr/>
        </p:nvSpPr>
        <p:spPr>
          <a:xfrm>
            <a:off x="6877569" y="2435225"/>
            <a:ext cx="5011174" cy="3495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Negative MESS: Model extrapolation</a:t>
            </a:r>
          </a:p>
          <a:p>
            <a:r>
              <a:rPr lang="en-US"/>
              <a:t>Positive MESS: values within environmental ranges of presence records</a:t>
            </a:r>
          </a:p>
        </p:txBody>
      </p:sp>
      <p:pic>
        <p:nvPicPr>
          <p:cNvPr id="6" name="Picture 2" descr="Understand Interpolation and Extrapolation in 5 mins! | by Yash Gupta |  Data Science Simplified | Medium">
            <a:extLst>
              <a:ext uri="{FF2B5EF4-FFF2-40B4-BE49-F238E27FC236}">
                <a16:creationId xmlns:a16="http://schemas.microsoft.com/office/drawing/2014/main" id="{C586DE78-CC58-841A-9D90-A581FE0C8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78" y="1052513"/>
            <a:ext cx="5058555" cy="337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5081C-A3F1-E168-1232-EBAF59225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480" y="1015595"/>
            <a:ext cx="4329520" cy="141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10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283B-178B-CAA1-8D98-1DA57F4A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34665-6C53-B5AD-0898-42B6B05FA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7FB84-6480-7421-EBB0-443E7CEA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25" y="681037"/>
            <a:ext cx="4629796" cy="5353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87E96-5028-02AF-79C1-4F2FC1064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75" y="2717592"/>
            <a:ext cx="5220429" cy="3543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E00E69-CD02-5CBE-03DB-26AADDEE1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099" y="-99232"/>
            <a:ext cx="5752617" cy="252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96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92A0-9945-6999-3049-6BE8C4DE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B985-A29B-56EA-CF7E-43006983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A90DE55-F9DF-AF60-1930-88210AC91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630" y="2082088"/>
            <a:ext cx="5158739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02489D-FED6-47AD-6716-C57F3249ED5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64962" y="1988606"/>
            <a:ext cx="4653014" cy="453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218507-E10C-C611-DE1C-FDC49640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889" y="4623364"/>
            <a:ext cx="1848108" cy="10097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70B597-8055-2582-CD52-8E339B487D83}"/>
              </a:ext>
            </a:extLst>
          </p:cNvPr>
          <p:cNvGraphicFramePr>
            <a:graphicFrameLocks noGrp="1"/>
          </p:cNvGraphicFramePr>
          <p:nvPr/>
        </p:nvGraphicFramePr>
        <p:xfrm>
          <a:off x="4381746" y="222156"/>
          <a:ext cx="7320205" cy="11076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43094">
                  <a:extLst>
                    <a:ext uri="{9D8B030D-6E8A-4147-A177-3AD203B41FA5}">
                      <a16:colId xmlns:a16="http://schemas.microsoft.com/office/drawing/2014/main" val="1353428037"/>
                    </a:ext>
                  </a:extLst>
                </a:gridCol>
                <a:gridCol w="815833">
                  <a:extLst>
                    <a:ext uri="{9D8B030D-6E8A-4147-A177-3AD203B41FA5}">
                      <a16:colId xmlns:a16="http://schemas.microsoft.com/office/drawing/2014/main" val="4093875718"/>
                    </a:ext>
                  </a:extLst>
                </a:gridCol>
                <a:gridCol w="1140618">
                  <a:extLst>
                    <a:ext uri="{9D8B030D-6E8A-4147-A177-3AD203B41FA5}">
                      <a16:colId xmlns:a16="http://schemas.microsoft.com/office/drawing/2014/main" val="523187603"/>
                    </a:ext>
                  </a:extLst>
                </a:gridCol>
                <a:gridCol w="904229">
                  <a:extLst>
                    <a:ext uri="{9D8B030D-6E8A-4147-A177-3AD203B41FA5}">
                      <a16:colId xmlns:a16="http://schemas.microsoft.com/office/drawing/2014/main" val="4020979902"/>
                    </a:ext>
                  </a:extLst>
                </a:gridCol>
                <a:gridCol w="1082565">
                  <a:extLst>
                    <a:ext uri="{9D8B030D-6E8A-4147-A177-3AD203B41FA5}">
                      <a16:colId xmlns:a16="http://schemas.microsoft.com/office/drawing/2014/main" val="2514146106"/>
                    </a:ext>
                  </a:extLst>
                </a:gridCol>
                <a:gridCol w="1151301">
                  <a:extLst>
                    <a:ext uri="{9D8B030D-6E8A-4147-A177-3AD203B41FA5}">
                      <a16:colId xmlns:a16="http://schemas.microsoft.com/office/drawing/2014/main" val="622149352"/>
                    </a:ext>
                  </a:extLst>
                </a:gridCol>
                <a:gridCol w="1082565">
                  <a:extLst>
                    <a:ext uri="{9D8B030D-6E8A-4147-A177-3AD203B41FA5}">
                      <a16:colId xmlns:a16="http://schemas.microsoft.com/office/drawing/2014/main" val="4131877598"/>
                    </a:ext>
                  </a:extLst>
                </a:gridCol>
              </a:tblGrid>
              <a:tr h="7226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presences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absences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sensitivity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specificity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Threshold (max TSS)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66904"/>
                  </a:ext>
                </a:extLst>
              </a:tr>
              <a:tr h="3850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12550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0.664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0.517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3558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F27B32-CE09-2D98-C40D-7B46DAC1E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99" y="553291"/>
            <a:ext cx="3543546" cy="23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60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0081-2AFA-9300-602A-CF0EB520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7456"/>
            <a:ext cx="10515600" cy="2852737"/>
          </a:xfrm>
        </p:spPr>
        <p:txBody>
          <a:bodyPr>
            <a:normAutofit/>
          </a:bodyPr>
          <a:lstStyle/>
          <a:p>
            <a:r>
              <a:rPr lang="en-US" dirty="0"/>
              <a:t>Exercise: Use Bactris </a:t>
            </a:r>
            <a:r>
              <a:rPr lang="en-US" dirty="0" err="1"/>
              <a:t>gasipaes</a:t>
            </a:r>
            <a:r>
              <a:rPr lang="en-US" dirty="0"/>
              <a:t> data to get a SDM!</a:t>
            </a:r>
            <a:endParaRPr lang="en-US" i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7A7489-02E7-FE39-D142-CC6FF02D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16" b="19506"/>
          <a:stretch>
            <a:fillRect/>
          </a:stretch>
        </p:blipFill>
        <p:spPr>
          <a:xfrm>
            <a:off x="3131424" y="4400194"/>
            <a:ext cx="6409349" cy="143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94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64AE-8E74-A1F5-7D73-1C8DE3C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3102-15D3-87AD-7914-0F0B0741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9AD2C-A33C-BEB7-FD5F-9298B794F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00836BF-671C-B04A-51BE-722B783C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042"/>
            <a:ext cx="12192000" cy="61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3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C928B-32CC-DC0F-6A28-244AE754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AD122-9741-2ACA-4975-75CCCE12F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BE39E3-9D7C-B46C-B91C-CA08445EF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69" y="0"/>
            <a:ext cx="574287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6CA423-4514-2486-0A53-C0792B00B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53" y="681037"/>
            <a:ext cx="564911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006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02D7D-3830-DD4F-930A-5D3DA51F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24502B-42BE-FE2A-1317-EA9F7BEDD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C51DA5-320F-A885-0533-4A90E850A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407" y="0"/>
            <a:ext cx="6927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222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93DAC-279D-8629-BC5A-FF86052A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98EAF9-C5F5-CF5F-3FD3-651B68D21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A1E22D-9F6F-12A5-46A3-CD1A91F15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4" y="0"/>
            <a:ext cx="5518134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A8453A8-8023-5AE3-9239-908AF40D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248" y="2652604"/>
            <a:ext cx="6496957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907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40565-8DB4-0704-03ED-32E76910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980C0-8096-C928-67C3-52882F4E4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F981D0-81C3-9D9D-7ED9-A31F04E4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5" y="1909550"/>
            <a:ext cx="11812649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060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AFB60-E7FE-B0C4-1219-9D352817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Reduce </a:t>
            </a:r>
            <a:r>
              <a:rPr lang="es-ES" dirty="0" err="1"/>
              <a:t>spatial</a:t>
            </a:r>
            <a:r>
              <a:rPr lang="es-ES" dirty="0"/>
              <a:t> </a:t>
            </a:r>
            <a:r>
              <a:rPr lang="es-ES" dirty="0" err="1"/>
              <a:t>bias</a:t>
            </a:r>
            <a:r>
              <a:rPr lang="es-ES" dirty="0"/>
              <a:t>!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F7D3AD-5BCC-2865-359B-AFAD7EA67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62BE0B-A466-BD46-3C6B-201843C28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68" y="-78658"/>
            <a:ext cx="5330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284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BBC5D-1ECD-8107-EE13-4488C3BC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0"/>
            <a:ext cx="10515600" cy="1325563"/>
          </a:xfrm>
        </p:spPr>
        <p:txBody>
          <a:bodyPr/>
          <a:lstStyle/>
          <a:p>
            <a:r>
              <a:rPr lang="es-ES" dirty="0" err="1"/>
              <a:t>Create</a:t>
            </a:r>
            <a:r>
              <a:rPr lang="es-ES" dirty="0"/>
              <a:t> </a:t>
            </a:r>
            <a:r>
              <a:rPr lang="es-ES" dirty="0" err="1"/>
              <a:t>background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7CD90-A02F-CF13-01F5-6586255A3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9BFE70-9548-04EE-F507-EDC4A412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9" y="1006328"/>
            <a:ext cx="10777274" cy="517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569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3AEEE-1AC5-C616-F7B2-98067522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2C7318-4934-543B-A036-7601E0F93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D43CFD-6ED8-9D55-2473-72E2582F6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" y="365125"/>
            <a:ext cx="5649113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64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5C481-3AB7-E0C7-A9D6-7CE9A53B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382EC1-D92B-C3B8-4C02-CF469A98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FF12B5-9FEA-E2AA-E6A1-A599C8C48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899"/>
            <a:ext cx="12192000" cy="541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531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27502-B9D9-01C5-01BC-A37AFED2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91C3D1D-B595-A2E1-3D7A-F78E64F7D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4377" y="1147200"/>
            <a:ext cx="5278094" cy="43513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4AD41A-67B4-23C6-6585-DEEC9B858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29" y="226109"/>
            <a:ext cx="5868219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12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FF1C-1532-7BEC-288F-9542EF25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EE6C-97E8-99A9-2C6B-2B9D9A08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0" y="2002631"/>
            <a:ext cx="8338779" cy="2852737"/>
          </a:xfrm>
        </p:spPr>
        <p:txBody>
          <a:bodyPr>
            <a:normAutofit/>
          </a:bodyPr>
          <a:lstStyle/>
          <a:p>
            <a:r>
              <a:rPr lang="en-US" dirty="0"/>
              <a:t>Be patient, </a:t>
            </a:r>
            <a:r>
              <a:rPr lang="en-US" dirty="0" err="1"/>
              <a:t>ENMEval</a:t>
            </a:r>
            <a:r>
              <a:rPr lang="en-US" dirty="0"/>
              <a:t> is calibrating the model!</a:t>
            </a:r>
            <a:endParaRPr lang="en-US" i="1" dirty="0"/>
          </a:p>
        </p:txBody>
      </p:sp>
      <p:pic>
        <p:nvPicPr>
          <p:cNvPr id="3074" name="Picture 2" descr="me waiting for the results - Cute Cat Standing Meme Generator">
            <a:extLst>
              <a:ext uri="{FF2B5EF4-FFF2-40B4-BE49-F238E27FC236}">
                <a16:creationId xmlns:a16="http://schemas.microsoft.com/office/drawing/2014/main" id="{D02E7922-AA02-2D9C-E073-F93F9A122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504" y="1451989"/>
            <a:ext cx="4043516" cy="436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3812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4590B-FAE6-08E5-395D-E36576FE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use?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50A260-C93F-6B4B-613B-9329AC007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315D1F-5917-BA36-D73E-99EF757F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535"/>
            <a:ext cx="1211749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255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E7CF-2B72-0157-BCB8-571914EC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9E48-49B7-7F2D-FABE-B52CB756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to interpret outcomes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187389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DD532-3281-FD5B-60A0-0A77914F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121667-C674-8CA5-E7D9-767D062AD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164E70-223D-B39C-753B-34A82760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2" y="664165"/>
            <a:ext cx="12192000" cy="55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375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8DDF-1A1D-8F01-9200-88CFC85A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Thresholding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gap </a:t>
            </a:r>
            <a:r>
              <a:rPr lang="es-ES" dirty="0" err="1"/>
              <a:t>analysis</a:t>
            </a:r>
            <a:r>
              <a:rPr lang="es-ES" dirty="0"/>
              <a:t>!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01C8C5-ED36-5621-E684-DB4168949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6827B1-DCB1-ADDF-CB1E-F051B0B9D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454"/>
            <a:ext cx="12192000" cy="53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566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DE11-282E-50AA-ECEA-506D22C7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9C1D9-7FDD-7A01-31ED-3DC6523B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D45C07-8965-F677-D047-8C73E7C2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CBFBFB-2B67-8F32-93B2-2D0556FB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2" y="664165"/>
            <a:ext cx="12192000" cy="55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207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2FD0F-017E-6BAC-B606-6C7C3EF7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B716-BDFE-7312-E09E-BAA4BB4E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 </a:t>
            </a:r>
            <a:r>
              <a:rPr lang="es-ES" dirty="0" err="1"/>
              <a:t>want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Project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countries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698841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144F4-CCD5-18BB-84E3-07E57091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C7636B-291B-C03A-AA0E-285BDF9CB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646DCD-614E-09C4-0992-EFB066815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346" y="1196476"/>
            <a:ext cx="7494768" cy="47510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C1DAFEA-C532-B635-DF46-19A19369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92" y="637785"/>
            <a:ext cx="6011114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03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8ECD8-9BF9-B6B6-2169-12DE6EC3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3B692D-AA1F-5585-0BDC-3691E1381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00A612-D4E5-B2A3-8BAF-948AB7D8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17" y="0"/>
            <a:ext cx="10967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42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BDE75-CB67-7140-4700-998D61CB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609F0C-071A-59E0-550B-8E7275112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701EA1-FBD4-97A9-C591-5427D291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60" y="0"/>
            <a:ext cx="11910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198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24E559-C0FD-C03F-17AE-0779FC69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CAAC9-28F5-231A-728D-81B52612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B48E25-DDA4-3F67-376B-6B43F015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0" y="1014075"/>
            <a:ext cx="963111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353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90151-CECF-1AE9-F909-06CE80DF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Saving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63329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F3B6E-25E3-18F1-1E4A-53661303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0C5387-4227-1942-8EA8-F1A58A5B6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B439BC-630A-78B4-34A4-FC44EE10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671127"/>
            <a:ext cx="8792802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459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5D1AF-AF20-A397-DD82-BFA7F136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94981-6D5D-115F-A5FF-49FFB65C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53D04A-793A-EAE8-821D-C2E8FFC60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1" y="-39764"/>
            <a:ext cx="7904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97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69A89-D961-5F32-4633-05714E12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5BAF1-1485-EEA2-0168-783263479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31BDF4-26CF-EF41-B2D6-C7BE6F94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2B76FB3-FA64-78E5-4115-BBB44452DFCA}"/>
              </a:ext>
            </a:extLst>
          </p:cNvPr>
          <p:cNvSpPr txBox="1"/>
          <p:nvPr/>
        </p:nvSpPr>
        <p:spPr>
          <a:xfrm>
            <a:off x="293019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DC8AF2-67C1-F374-7C3C-087FF3DECAFC}"/>
              </a:ext>
            </a:extLst>
          </p:cNvPr>
          <p:cNvSpPr txBox="1"/>
          <p:nvPr/>
        </p:nvSpPr>
        <p:spPr>
          <a:xfrm>
            <a:off x="4986225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B56912-1DF1-4837-BB1B-A477D4B2A582}"/>
              </a:ext>
            </a:extLst>
          </p:cNvPr>
          <p:cNvSpPr txBox="1"/>
          <p:nvPr/>
        </p:nvSpPr>
        <p:spPr>
          <a:xfrm>
            <a:off x="293019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C26A4F-335E-B6FD-6D1E-B84EB122FDEA}"/>
              </a:ext>
            </a:extLst>
          </p:cNvPr>
          <p:cNvSpPr txBox="1"/>
          <p:nvPr/>
        </p:nvSpPr>
        <p:spPr>
          <a:xfrm>
            <a:off x="4986225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1611FE-D4AB-CCD2-6C9A-74808DBF6BA5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6FB61C-CD16-16DB-C294-875BC0BAEBBD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0459579-4DA6-A328-6D15-FF55A0497EDA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1F01BC-C1FC-7A87-A6F3-C3DEEF581E32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2B190E0-20B5-4096-0903-49259F084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B93EBB0-CD58-3B38-B19A-D5A7EF046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812" y="1492155"/>
            <a:ext cx="434396" cy="4778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20B8502-AFBD-DF36-E365-70BA04A8F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310000B-4D28-D437-B5EF-9CB057964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F69DF93-CFC8-3725-DCA8-4CADABF14E6B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951929C-C744-6068-18EC-31998E8388E5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4AB8C13-FB6D-8B90-521C-FAE2D014350F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C73A64E-EF49-73B5-3F08-13820E860525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90A4494-DF8B-5547-2C83-47AC66217F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214" y="582390"/>
            <a:ext cx="2829320" cy="181952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3405C6D-4231-93C6-E77D-EBE96FEE119A}"/>
              </a:ext>
            </a:extLst>
          </p:cNvPr>
          <p:cNvSpPr txBox="1"/>
          <p:nvPr/>
        </p:nvSpPr>
        <p:spPr>
          <a:xfrm>
            <a:off x="159723" y="692105"/>
            <a:ext cx="522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</a:t>
            </a:r>
            <a:endParaRPr lang="es-CO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FC3174-F23F-7119-BE9B-690CF129BF15}"/>
              </a:ext>
            </a:extLst>
          </p:cNvPr>
          <p:cNvSpPr txBox="1"/>
          <p:nvPr/>
        </p:nvSpPr>
        <p:spPr>
          <a:xfrm>
            <a:off x="8385439" y="692105"/>
            <a:ext cx="522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</a:t>
            </a:r>
            <a:endParaRPr lang="es-CO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675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078A-F2AB-54E7-F241-441E623B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EF1B-D07B-2C3B-DCD1-B13639D6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Questions?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85197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1026</Words>
  <Application>Microsoft Office PowerPoint</Application>
  <PresentationFormat>Panorámica</PresentationFormat>
  <Paragraphs>176</Paragraphs>
  <Slides>79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7" baseType="lpstr">
      <vt:lpstr>Aptos</vt:lpstr>
      <vt:lpstr>Aptos Display</vt:lpstr>
      <vt:lpstr>Aptos Narrow</vt:lpstr>
      <vt:lpstr>Arial</vt:lpstr>
      <vt:lpstr>Calibri</vt:lpstr>
      <vt:lpstr>inter</vt:lpstr>
      <vt:lpstr>Poppins Medium</vt:lpstr>
      <vt:lpstr>Office Theme</vt:lpstr>
      <vt:lpstr>Species Distribution models (Theory and examples)</vt:lpstr>
      <vt:lpstr>Before using the gap analysis methodologies (Summary)</vt:lpstr>
      <vt:lpstr>The workflow for a gap analysis</vt:lpstr>
      <vt:lpstr>Presentación de PowerPoint</vt:lpstr>
      <vt:lpstr>Presentación de PowerPoint</vt:lpstr>
      <vt:lpstr>What is a model?</vt:lpstr>
      <vt:lpstr>Presentación de PowerPoint</vt:lpstr>
      <vt:lpstr> How a model workflow looks like?</vt:lpstr>
      <vt:lpstr>Models can be simple or complex</vt:lpstr>
      <vt:lpstr>Complex</vt:lpstr>
      <vt:lpstr>How can obtain the geographical distribution of a species using environmental data?</vt:lpstr>
      <vt:lpstr>What is a niche?</vt:lpstr>
      <vt:lpstr>What is a niche?</vt:lpstr>
      <vt:lpstr>The species distribution model workflow:</vt:lpstr>
      <vt:lpstr>Presentación de PowerPoint</vt:lpstr>
      <vt:lpstr>What could be a recipe to create an SDM?</vt:lpstr>
      <vt:lpstr>ODMAP!</vt:lpstr>
      <vt:lpstr>The recipe for a species distribution model (ODMAP)</vt:lpstr>
      <vt:lpstr>Presentación de PowerPoint</vt:lpstr>
      <vt:lpstr>Presentación de PowerPoint</vt:lpstr>
      <vt:lpstr>Overview: What is the purpose of make a SDM for gap analysis? </vt:lpstr>
      <vt:lpstr>Exercise:</vt:lpstr>
      <vt:lpstr>Data (preprocessing)</vt:lpstr>
      <vt:lpstr>Basics of  data curation</vt:lpstr>
      <vt:lpstr>Presentación de PowerPoint</vt:lpstr>
      <vt:lpstr>Presentación de PowerPoint</vt:lpstr>
      <vt:lpstr>Where should I search for records? </vt:lpstr>
      <vt:lpstr>Presentación de PowerPoint</vt:lpstr>
      <vt:lpstr>Presentación de PowerPoint</vt:lpstr>
      <vt:lpstr>Presentación de PowerPoint</vt:lpstr>
      <vt:lpstr>Why the geographical scale matters?</vt:lpstr>
      <vt:lpstr>What model should I use?</vt:lpstr>
      <vt:lpstr>Some terms:</vt:lpstr>
      <vt:lpstr>How can obtain the geographical distribution of a species using environmental data?</vt:lpstr>
      <vt:lpstr>Presentación de PowerPoint</vt:lpstr>
      <vt:lpstr>Features</vt:lpstr>
      <vt:lpstr>Presentación de PowerPoint</vt:lpstr>
      <vt:lpstr>Model fitting</vt:lpstr>
      <vt:lpstr>Select variables</vt:lpstr>
      <vt:lpstr>Calibration</vt:lpstr>
      <vt:lpstr>K-Folding</vt:lpstr>
      <vt:lpstr>What cut-off value should I use to say that a species is present or absent?</vt:lpstr>
      <vt:lpstr>Assessment</vt:lpstr>
      <vt:lpstr>How can obtain good results? (Do not use only one training dataset) (try K-fold)</vt:lpstr>
      <vt:lpstr>There are no silver bullets!</vt:lpstr>
      <vt:lpstr>Crossvalidation (Evaluation)</vt:lpstr>
      <vt:lpstr>Evaluation (Confusion matrix)</vt:lpstr>
      <vt:lpstr>AUC-ROC (receiver operating characteristic curve)</vt:lpstr>
      <vt:lpstr>Predictions</vt:lpstr>
      <vt:lpstr>The multivariate environmental similarity surface (MESS)</vt:lpstr>
      <vt:lpstr>Presentación de PowerPoint</vt:lpstr>
      <vt:lpstr>Presentación de PowerPoint</vt:lpstr>
      <vt:lpstr>Exercise: Use Bactris gasipaes data to get a SDM!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Reduce spatial bias!</vt:lpstr>
      <vt:lpstr>Create background </vt:lpstr>
      <vt:lpstr>Presentación de PowerPoint</vt:lpstr>
      <vt:lpstr>Presentación de PowerPoint</vt:lpstr>
      <vt:lpstr>Presentación de PowerPoint</vt:lpstr>
      <vt:lpstr>Be patient, ENMEval is calibrating the model!</vt:lpstr>
      <vt:lpstr>Which one to use?</vt:lpstr>
      <vt:lpstr>Time to interpret outcomes</vt:lpstr>
      <vt:lpstr>Presentación de PowerPoint</vt:lpstr>
      <vt:lpstr>Thresholding for gap analysis!</vt:lpstr>
      <vt:lpstr>Presentación de PowerPoint</vt:lpstr>
      <vt:lpstr>I want to Project my model to other countries</vt:lpstr>
      <vt:lpstr>Presentación de PowerPoint</vt:lpstr>
      <vt:lpstr>Presentación de PowerPoint</vt:lpstr>
      <vt:lpstr>Presentación de PowerPoint</vt:lpstr>
      <vt:lpstr>Presentación de PowerPoint</vt:lpstr>
      <vt:lpstr>Saving</vt:lpstr>
      <vt:lpstr>Presentación de PowerPoint</vt:lpstr>
      <vt:lpstr>Presentación de PowerPoint</vt:lpstr>
      <vt:lpstr>Presentación de PowerPoint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Urdinola, Jaime Andres (Alliance Bioversity-CIAT)</dc:creator>
  <cp:lastModifiedBy>Sosa, Chrystian (Consultant - Alliance Bioversity-CIAT)</cp:lastModifiedBy>
  <cp:revision>78</cp:revision>
  <dcterms:created xsi:type="dcterms:W3CDTF">2025-10-31T16:08:43Z</dcterms:created>
  <dcterms:modified xsi:type="dcterms:W3CDTF">2026-10-11T04:21:18Z</dcterms:modified>
</cp:coreProperties>
</file>