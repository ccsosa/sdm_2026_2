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64" r:id="rId3"/>
    <p:sldId id="3502" r:id="rId4"/>
    <p:sldId id="3504" r:id="rId5"/>
    <p:sldId id="275" r:id="rId6"/>
    <p:sldId id="285" r:id="rId7"/>
    <p:sldId id="286" r:id="rId8"/>
    <p:sldId id="287" r:id="rId9"/>
    <p:sldId id="3471" r:id="rId10"/>
    <p:sldId id="289" r:id="rId11"/>
    <p:sldId id="321" r:id="rId12"/>
    <p:sldId id="3507" r:id="rId13"/>
    <p:sldId id="3473" r:id="rId14"/>
    <p:sldId id="3523" r:id="rId15"/>
    <p:sldId id="3524" r:id="rId16"/>
    <p:sldId id="3525" r:id="rId17"/>
    <p:sldId id="3526" r:id="rId18"/>
    <p:sldId id="3527" r:id="rId19"/>
    <p:sldId id="3528" r:id="rId20"/>
    <p:sldId id="3529" r:id="rId21"/>
    <p:sldId id="3533" r:id="rId22"/>
    <p:sldId id="3530" r:id="rId23"/>
    <p:sldId id="3531" r:id="rId24"/>
    <p:sldId id="3472" r:id="rId25"/>
    <p:sldId id="3532" r:id="rId26"/>
    <p:sldId id="3508" r:id="rId27"/>
    <p:sldId id="3509" r:id="rId28"/>
    <p:sldId id="3510" r:id="rId29"/>
    <p:sldId id="3511" r:id="rId30"/>
    <p:sldId id="3512" r:id="rId31"/>
    <p:sldId id="288" r:id="rId32"/>
    <p:sldId id="3514" r:id="rId33"/>
    <p:sldId id="3515" r:id="rId34"/>
    <p:sldId id="3516" r:id="rId35"/>
    <p:sldId id="3517" r:id="rId36"/>
    <p:sldId id="3518" r:id="rId37"/>
    <p:sldId id="3519" r:id="rId38"/>
    <p:sldId id="3520" r:id="rId39"/>
    <p:sldId id="3522" r:id="rId40"/>
    <p:sldId id="3534" r:id="rId41"/>
    <p:sldId id="3535" r:id="rId4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7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270F3-E4AE-4A93-80A0-28EC33D37B24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A19553-B19D-4298-AA6D-04C5D3C3D00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4663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ABEFE7DD-9EE0-3BC8-84FD-3C97A16C2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>
            <a:extLst>
              <a:ext uri="{FF2B5EF4-FFF2-40B4-BE49-F238E27FC236}">
                <a16:creationId xmlns:a16="http://schemas.microsoft.com/office/drawing/2014/main" id="{003B12B9-792C-B30C-DDA6-8AAB715C1F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" name="Google Shape;51;p2:notes">
            <a:extLst>
              <a:ext uri="{FF2B5EF4-FFF2-40B4-BE49-F238E27FC236}">
                <a16:creationId xmlns:a16="http://schemas.microsoft.com/office/drawing/2014/main" id="{81585F4A-17EC-03D8-0BE0-2FE89FB0FF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8628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98DFB-91E4-F15A-626A-92B848E0C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BD2A2A-22FA-5A5E-08AC-D55A07EF7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1C33AF-7D68-12E1-3D4C-FBAAD113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D298DF-4309-3221-58E8-A6629215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BEB7B58-AFC1-61C6-90F2-3D2CA6046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7204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73230-DD69-0216-8754-A95F37264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7BF858-9CA4-E462-1B9D-A2A084231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10B98-9F41-AD92-6780-8F3643B04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EF65B7-0D16-2C9D-4C37-80777DF0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E39148-AF6E-4E7C-1CB4-D73F661F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50720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25C5A-A5FF-2613-3B31-66FD25DBA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BC735E-5E0E-BFE7-6654-E5087053D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DF641-587D-4543-41BC-058FA7CB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7F16D58-8C6B-4415-2153-B7928216A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C318ED-4BA0-E639-57A4-39D4CA561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93844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92373-F27C-BAE3-755C-7E6316FAB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04CFFF-DC12-0882-11CE-8BE8C48257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B81C84B-5711-9922-5170-B86C36439D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BFF065-B3F4-E763-6979-13ACD378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17B273-E0A5-0721-9BEB-53D4C990D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8C8DD-9978-7C2D-E8BE-52B2AFB0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5348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89C34-5A7E-C17A-C77E-FAD805BE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75F9DE-4DA6-1D6B-856D-5B9A56564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524CF58-04B2-3287-887A-DEC0577D4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E1411D3-4D57-4FD5-F76D-7E6074370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EB78707-3165-8C07-C35C-DC498FA2B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85DC78C-19B1-FB11-9563-C30D10BBD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6170548-13A2-EBDD-09DA-DFA5972DB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BC9ABE-B34D-6543-CE64-A602A96E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635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F397F-FC81-44C9-9BA1-94727703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C8FEF7-3A97-F883-174F-55E01187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88EFD4E-0A6B-4F3B-FCD1-91ECF4499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16D855-5B28-8D14-7F32-58E5AB21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999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3DCACEA-1F35-60EC-A57E-D239E1B06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786B3D9-A2E3-8073-F8ED-F148D7F57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0E3FE0-9135-DEC7-529F-8DEFC2324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216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5076D5-0190-9FD0-BD86-83F393BD8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4DACB-4CDC-4662-7983-520E149D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4B2E3DE-E625-BA09-B60E-FC3FA6009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E1048E-DD6D-A82B-5A88-E551E2C84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CA8A73E-808B-BA1D-3EE1-00F649DBA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CEF733A-F40A-4F0A-790A-43E10E05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91037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A18A1-53E7-E4B0-DEE0-C1B00852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4C35EF-1A67-4975-7429-265798EA75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0521DB4-8B1A-6EC5-4570-48B22D9A3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CEDF2E-AE74-C598-419A-034A96C72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5704F4-F077-63E7-DA23-69B399995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855D2A-3E2F-78B7-965E-BE9E52E3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2260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4F5CB4-1A8A-7D89-E307-A29ED30B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B27DF7-4202-D553-6571-680FF2DE0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C92EE-63A0-3C90-D68B-18E9ABA9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A16DB4-7186-4888-81B0-60DFCCAB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0F80DD-657D-67F9-5CCC-7190EF0D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1722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E2A403-47F5-4901-0E87-7C0C87EBD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601822-DDC2-5B13-780E-0F4A94E01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341342-EDBF-7BA2-3FEE-9E0D63171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29F77-9894-FA7B-F8C3-A26A2D19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217127-A92B-1C74-2FEE-E8FAA99D6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9161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een surface with white text&#10;&#10;AI-generated content may be incorrect.">
            <a:extLst>
              <a:ext uri="{FF2B5EF4-FFF2-40B4-BE49-F238E27FC236}">
                <a16:creationId xmlns:a16="http://schemas.microsoft.com/office/drawing/2014/main" id="{D7FFB053-6168-4A75-716A-0740E8CFC4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3F2BAB-C6A8-41A0-882B-0761672B7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248356"/>
            <a:ext cx="10515600" cy="28527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4179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BF389C0-8CC8-D791-34F0-1DE3AC976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D5B535-5D32-CBC7-4D45-82494063D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23B75C-0756-758F-271F-DECA3E77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E875A-B498-41F5-AACE-FFA9FBAAB343}" type="datetimeFigureOut">
              <a:rPr lang="es-CO" smtClean="0"/>
              <a:t>23/10/2026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E741A7-8793-7142-A5D0-45C8EA954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71A184-DFB1-8B85-7056-E3949DCB6C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AA0E3B-E999-44C0-84D6-05661266DB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0022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opscience.iop.org/article/10.1088/2633-1357/ab805d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D40674-30BD-01D3-BC07-698B25186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FF352D-C77D-E727-AB25-87A49411F5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06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title"/>
          </p:nvPr>
        </p:nvSpPr>
        <p:spPr>
          <a:xfrm>
            <a:off x="2011493" y="546582"/>
            <a:ext cx="77478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</a:pPr>
            <a:r>
              <a:rPr lang="en-US"/>
              <a:t>Before using the gap analysis methodologies (Summary)</a:t>
            </a:r>
            <a:endParaRPr/>
          </a:p>
        </p:txBody>
      </p:sp>
      <p:sp>
        <p:nvSpPr>
          <p:cNvPr id="2" name="Google Shape;55;p2">
            <a:extLst>
              <a:ext uri="{FF2B5EF4-FFF2-40B4-BE49-F238E27FC236}">
                <a16:creationId xmlns:a16="http://schemas.microsoft.com/office/drawing/2014/main" id="{14181ADC-23EC-BB57-2E6F-566B64031F9D}"/>
              </a:ext>
            </a:extLst>
          </p:cNvPr>
          <p:cNvSpPr txBox="1"/>
          <p:nvPr/>
        </p:nvSpPr>
        <p:spPr>
          <a:xfrm>
            <a:off x="234494" y="2735193"/>
            <a:ext cx="11087040" cy="4011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Definition of a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Niche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Species distribution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Inputs curation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Examples using R</a:t>
            </a: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7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700" b="1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700" b="1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2DC3F1-FCFF-DC61-BD2E-973FDC178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99194"/>
            <a:ext cx="10515600" cy="2852737"/>
          </a:xfrm>
        </p:spPr>
        <p:txBody>
          <a:bodyPr/>
          <a:lstStyle/>
          <a:p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workflow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a gap </a:t>
            </a:r>
            <a:r>
              <a:rPr lang="es-ES" dirty="0" err="1"/>
              <a:t>analysis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86521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2F6AF0AB-6E96-A53C-5B20-5C6E7C42F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E63936B-036E-E7CA-E56F-47D72CA18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7AC1D24-722C-47A6-5C6C-7A109C2FB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381" y="-58587"/>
            <a:ext cx="9497750" cy="683037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57EB8D5-F434-090D-9172-84F98CDB2108}"/>
              </a:ext>
            </a:extLst>
          </p:cNvPr>
          <p:cNvSpPr txBox="1"/>
          <p:nvPr/>
        </p:nvSpPr>
        <p:spPr>
          <a:xfrm>
            <a:off x="293019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36E8E49-9A1B-5B98-F083-ABBB6A658F03}"/>
              </a:ext>
            </a:extLst>
          </p:cNvPr>
          <p:cNvSpPr txBox="1"/>
          <p:nvPr/>
        </p:nvSpPr>
        <p:spPr>
          <a:xfrm>
            <a:off x="4986225" y="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01C3DFA-015D-DB5C-C817-F3E0656121EF}"/>
              </a:ext>
            </a:extLst>
          </p:cNvPr>
          <p:cNvSpPr txBox="1"/>
          <p:nvPr/>
        </p:nvSpPr>
        <p:spPr>
          <a:xfrm>
            <a:off x="293019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120FD14-8AB0-498B-5272-C138D6F88B74}"/>
              </a:ext>
            </a:extLst>
          </p:cNvPr>
          <p:cNvSpPr txBox="1"/>
          <p:nvPr/>
        </p:nvSpPr>
        <p:spPr>
          <a:xfrm>
            <a:off x="4986225" y="3429000"/>
            <a:ext cx="52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s-CO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494714-8F8F-C23B-110A-9DCF884AB309}"/>
              </a:ext>
            </a:extLst>
          </p:cNvPr>
          <p:cNvSpPr txBox="1"/>
          <p:nvPr/>
        </p:nvSpPr>
        <p:spPr>
          <a:xfrm>
            <a:off x="540117" y="2766236"/>
            <a:ext cx="3905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Species </a:t>
            </a:r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occurrences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A2176C5-035F-9E12-0D3E-9931EA1CF761}"/>
              </a:ext>
            </a:extLst>
          </p:cNvPr>
          <p:cNvSpPr txBox="1"/>
          <p:nvPr/>
        </p:nvSpPr>
        <p:spPr>
          <a:xfrm>
            <a:off x="5508739" y="2766048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Realized niche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7842DE3-13AF-23D5-63F8-AD7C60586683}"/>
              </a:ext>
            </a:extLst>
          </p:cNvPr>
          <p:cNvSpPr txBox="1"/>
          <p:nvPr/>
        </p:nvSpPr>
        <p:spPr>
          <a:xfrm>
            <a:off x="815533" y="5791926"/>
            <a:ext cx="3527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Sampled germplasm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0BD8B2B-1029-51C0-DA8A-3F5431453E68}"/>
              </a:ext>
            </a:extLst>
          </p:cNvPr>
          <p:cNvSpPr txBox="1"/>
          <p:nvPr/>
        </p:nvSpPr>
        <p:spPr>
          <a:xfrm>
            <a:off x="5598926" y="6055316"/>
            <a:ext cx="3527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Where to collect</a:t>
            </a:r>
            <a:endParaRPr lang="en-US" sz="28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69233EE-83CC-175E-F242-13CC8CEDE0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1812" y="997066"/>
            <a:ext cx="434396" cy="38967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B615097-F2D0-3C6C-709A-66F703660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1812" y="1492155"/>
            <a:ext cx="434396" cy="47783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4B1616D-DF8C-BF8E-4AE8-13A4C90364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1544" y="2003051"/>
            <a:ext cx="817254" cy="80916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02161A3-B5C0-7351-BE96-202D761CE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734" y="3094992"/>
            <a:ext cx="388552" cy="388552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8EB46D7D-BFCD-2876-5CE0-64F24FAFCCFA}"/>
              </a:ext>
            </a:extLst>
          </p:cNvPr>
          <p:cNvSpPr txBox="1"/>
          <p:nvPr/>
        </p:nvSpPr>
        <p:spPr>
          <a:xfrm>
            <a:off x="10438798" y="1042644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E6DC5E-8284-AA25-8F37-28B39954EC34}"/>
              </a:ext>
            </a:extLst>
          </p:cNvPr>
          <p:cNvSpPr txBox="1"/>
          <p:nvPr/>
        </p:nvSpPr>
        <p:spPr>
          <a:xfrm>
            <a:off x="10438798" y="1508788"/>
            <a:ext cx="23359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Other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coordinates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199E88A-3199-C0D5-C4D5-A2C4DF7631EC}"/>
              </a:ext>
            </a:extLst>
          </p:cNvPr>
          <p:cNvSpPr txBox="1"/>
          <p:nvPr/>
        </p:nvSpPr>
        <p:spPr>
          <a:xfrm>
            <a:off x="10114903" y="2242828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Collected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germplasm</a:t>
            </a:r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area</a:t>
            </a:r>
            <a:endParaRPr lang="es-CO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1177E83-7648-EBB4-4B39-76480753509B}"/>
              </a:ext>
            </a:extLst>
          </p:cNvPr>
          <p:cNvSpPr txBox="1"/>
          <p:nvPr/>
        </p:nvSpPr>
        <p:spPr>
          <a:xfrm>
            <a:off x="10111843" y="3094992"/>
            <a:ext cx="2335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latin typeface="Arial" panose="020B0604020202020204" pitchFamily="34" charset="0"/>
                <a:cs typeface="Arial" panose="020B0604020202020204" pitchFamily="34" charset="0"/>
              </a:rPr>
              <a:t>Potential area to be collected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574665C-B8DC-328B-B166-EE66560A4A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1214" y="582390"/>
            <a:ext cx="2829320" cy="1819529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E0EC5CC8-4239-F603-BCE0-930B031709B3}"/>
              </a:ext>
            </a:extLst>
          </p:cNvPr>
          <p:cNvSpPr txBox="1"/>
          <p:nvPr/>
        </p:nvSpPr>
        <p:spPr>
          <a:xfrm>
            <a:off x="43096" y="1000956"/>
            <a:ext cx="5225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0" b="1" dirty="0">
                <a:latin typeface="Arial" panose="020B0604020202020204" pitchFamily="34" charset="0"/>
                <a:cs typeface="Arial" panose="020B0604020202020204" pitchFamily="34" charset="0"/>
                <a:sym typeface="Wingdings 2" panose="05020102010507070707" pitchFamily="18" charset="2"/>
              </a:rPr>
              <a:t></a:t>
            </a:r>
            <a:endParaRPr lang="es-CO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979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2A8F-CC4F-7CF8-8B9E-C8860A245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A1183C9-274F-2D15-4D24-8EE2EE1EB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4E98D5-627E-537D-7CB3-126E4956C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05" y="50286"/>
            <a:ext cx="8001396" cy="605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599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7D47F-9DFA-843F-5C79-BDA11D3F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A2C8-74B5-4D63-37DE-FAA8715A8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495"/>
            <a:ext cx="10515600" cy="1053477"/>
          </a:xfrm>
        </p:spPr>
        <p:txBody>
          <a:bodyPr/>
          <a:lstStyle/>
          <a:p>
            <a:pPr algn="ctr"/>
            <a:r>
              <a:rPr lang="en-US"/>
              <a:t>	How a model workflow looks like?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ADBAD47-1F08-5F45-EA54-9AF2CCB2E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968819"/>
            <a:ext cx="10226040" cy="46336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D88A4E-34F4-E764-1AC1-E1DF3475EF60}"/>
              </a:ext>
            </a:extLst>
          </p:cNvPr>
          <p:cNvSpPr txBox="1"/>
          <p:nvPr/>
        </p:nvSpPr>
        <p:spPr>
          <a:xfrm>
            <a:off x="6806527" y="5767295"/>
            <a:ext cx="7626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https://iopscience.iop.org/article/10.1088/2633-1357/ab805d</a:t>
            </a: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640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C4590-1706-4752-677F-EFDC54AF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Models</a:t>
            </a:r>
            <a:r>
              <a:rPr lang="es-ES" dirty="0"/>
              <a:t> can be simple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complex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2DDC3-3888-AAE2-9A02-1058F4646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1026" name="Picture 2" descr="Simple Linear Regression Model - Real-World Examples 2025">
            <a:extLst>
              <a:ext uri="{FF2B5EF4-FFF2-40B4-BE49-F238E27FC236}">
                <a16:creationId xmlns:a16="http://schemas.microsoft.com/office/drawing/2014/main" id="{1951E0FB-D9D7-FD6A-4E31-7564E4105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517" y="2400300"/>
            <a:ext cx="3152775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6DE66075-F6BB-7F09-A356-E4309A42A617}"/>
              </a:ext>
            </a:extLst>
          </p:cNvPr>
          <p:cNvSpPr txBox="1">
            <a:spLocks/>
          </p:cNvSpPr>
          <p:nvPr/>
        </p:nvSpPr>
        <p:spPr>
          <a:xfrm>
            <a:off x="1501877" y="2925020"/>
            <a:ext cx="20269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" dirty="0"/>
              <a:t>simple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3022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7F0F4-51B5-8F6F-44AB-6FE13BC3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8296" y="365125"/>
            <a:ext cx="2399072" cy="1325563"/>
          </a:xfrm>
        </p:spPr>
        <p:txBody>
          <a:bodyPr/>
          <a:lstStyle/>
          <a:p>
            <a:r>
              <a:rPr lang="es-ES" dirty="0" err="1"/>
              <a:t>Complex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B38AE7-87C8-F1F9-7134-BB1E2BEBC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9" name="Marcador de contenido 5" descr="Diagrama&#10;&#10;Descripción generada automáticamente">
            <a:extLst>
              <a:ext uri="{FF2B5EF4-FFF2-40B4-BE49-F238E27FC236}">
                <a16:creationId xmlns:a16="http://schemas.microsoft.com/office/drawing/2014/main" id="{96E20406-B5FC-176B-351B-C9BC400ACBC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7679" y="124563"/>
            <a:ext cx="10360493" cy="6596911"/>
          </a:xfrm>
          <a:prstGeom prst="rect">
            <a:avLst/>
          </a:prstGeom>
        </p:spPr>
      </p:pic>
      <p:sp>
        <p:nvSpPr>
          <p:cNvPr id="11" name="Marcador de contenido 5">
            <a:extLst>
              <a:ext uri="{FF2B5EF4-FFF2-40B4-BE49-F238E27FC236}">
                <a16:creationId xmlns:a16="http://schemas.microsoft.com/office/drawing/2014/main" id="{14954458-4524-9D81-02D0-2C4A3DDA689E}"/>
              </a:ext>
            </a:extLst>
          </p:cNvPr>
          <p:cNvSpPr txBox="1">
            <a:spLocks/>
          </p:cNvSpPr>
          <p:nvPr/>
        </p:nvSpPr>
        <p:spPr>
          <a:xfrm>
            <a:off x="8739344" y="2058689"/>
            <a:ext cx="3138024" cy="93966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2400" dirty="0">
                <a:latin typeface="Poppins Medium" panose="00000600000000000000" pitchFamily="2" charset="0"/>
                <a:cs typeface="Poppins Medium" panose="00000600000000000000" pitchFamily="2" charset="0"/>
              </a:rPr>
              <a:t>127 </a:t>
            </a:r>
            <a:r>
              <a:rPr lang="es-MX" sz="2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molecules</a:t>
            </a:r>
            <a:endParaRPr lang="es-MX" sz="2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0" indent="0" algn="ctr">
              <a:buNone/>
            </a:pPr>
            <a:r>
              <a:rPr lang="es-MX" sz="2400" dirty="0">
                <a:latin typeface="Poppins Medium" panose="00000600000000000000" pitchFamily="2" charset="0"/>
                <a:cs typeface="Poppins Medium" panose="00000600000000000000" pitchFamily="2" charset="0"/>
              </a:rPr>
              <a:t>117 </a:t>
            </a:r>
            <a:r>
              <a:rPr lang="es-MX" sz="2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reactions</a:t>
            </a:r>
            <a:endParaRPr lang="es-MX" sz="24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10" name="Imagen 15">
            <a:extLst>
              <a:ext uri="{FF2B5EF4-FFF2-40B4-BE49-F238E27FC236}">
                <a16:creationId xmlns:a16="http://schemas.microsoft.com/office/drawing/2014/main" id="{D9645F26-9620-5D2B-3133-D777797BE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4702" y="4259515"/>
            <a:ext cx="2407211" cy="176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37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E1A80-3086-1F8B-11D0-2A122FBA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B5C48-F8D3-3713-E3E6-0AE8B03A6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obtain the geographical distribution of a species using environmental data?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2347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0E024-1F47-26C9-1F7D-06BB399C9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B546DF2-C92F-DBCC-40C3-B8F7DD370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745" y="2050693"/>
            <a:ext cx="5158739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DA98A8-0B12-BFC1-668F-3E3A87E9D9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40377" y="1962528"/>
            <a:ext cx="4653014" cy="453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DC363E-C34E-54B7-8F28-6499DEF13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38"/>
            <a:ext cx="3543546" cy="2308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14576F-672F-9CEF-A23E-04AF820B367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216425" y="2273656"/>
            <a:ext cx="4787846" cy="4227174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37954C73-E21B-0F69-B9F5-FFD6EEC735CA}"/>
              </a:ext>
            </a:extLst>
          </p:cNvPr>
          <p:cNvSpPr/>
          <p:nvPr/>
        </p:nvSpPr>
        <p:spPr>
          <a:xfrm>
            <a:off x="4288665" y="4295252"/>
            <a:ext cx="709104" cy="59872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CF05F9BD-E540-0E72-91DD-0B6ABBD060F4}"/>
              </a:ext>
            </a:extLst>
          </p:cNvPr>
          <p:cNvSpPr/>
          <p:nvPr/>
        </p:nvSpPr>
        <p:spPr>
          <a:xfrm>
            <a:off x="8399580" y="4295252"/>
            <a:ext cx="709104" cy="59872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5047D2B-885F-608C-9946-EF059646DB61}"/>
              </a:ext>
            </a:extLst>
          </p:cNvPr>
          <p:cNvSpPr txBox="1">
            <a:spLocks/>
          </p:cNvSpPr>
          <p:nvPr/>
        </p:nvSpPr>
        <p:spPr>
          <a:xfrm>
            <a:off x="4497475" y="46780"/>
            <a:ext cx="10515600" cy="13871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An example using </a:t>
            </a:r>
            <a:r>
              <a:rPr lang="en-US" i="1" dirty="0"/>
              <a:t>E. indica</a:t>
            </a:r>
          </a:p>
        </p:txBody>
      </p:sp>
    </p:spTree>
    <p:extLst>
      <p:ext uri="{BB962C8B-B14F-4D97-AF65-F5344CB8AC3E}">
        <p14:creationId xmlns:p14="http://schemas.microsoft.com/office/powerpoint/2010/main" val="1899053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392A0-9945-6999-3049-6BE8C4DE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AB985-A29B-56EA-CF7E-43006983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AA90DE55-F9DF-AF60-1930-88210AC91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630" y="2082088"/>
            <a:ext cx="5158739" cy="4351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02489D-FED6-47AD-6716-C57F3249ED5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64962" y="1988606"/>
            <a:ext cx="4653014" cy="45383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218507-E10C-C611-DE1C-FDC49640E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4889" y="4623364"/>
            <a:ext cx="1848108" cy="10097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670B597-8055-2582-CD52-8E339B487D83}"/>
              </a:ext>
            </a:extLst>
          </p:cNvPr>
          <p:cNvGraphicFramePr>
            <a:graphicFrameLocks noGrp="1"/>
          </p:cNvGraphicFramePr>
          <p:nvPr/>
        </p:nvGraphicFramePr>
        <p:xfrm>
          <a:off x="4381746" y="222156"/>
          <a:ext cx="7320205" cy="110766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43094">
                  <a:extLst>
                    <a:ext uri="{9D8B030D-6E8A-4147-A177-3AD203B41FA5}">
                      <a16:colId xmlns:a16="http://schemas.microsoft.com/office/drawing/2014/main" val="1353428037"/>
                    </a:ext>
                  </a:extLst>
                </a:gridCol>
                <a:gridCol w="815833">
                  <a:extLst>
                    <a:ext uri="{9D8B030D-6E8A-4147-A177-3AD203B41FA5}">
                      <a16:colId xmlns:a16="http://schemas.microsoft.com/office/drawing/2014/main" val="4093875718"/>
                    </a:ext>
                  </a:extLst>
                </a:gridCol>
                <a:gridCol w="1140618">
                  <a:extLst>
                    <a:ext uri="{9D8B030D-6E8A-4147-A177-3AD203B41FA5}">
                      <a16:colId xmlns:a16="http://schemas.microsoft.com/office/drawing/2014/main" val="523187603"/>
                    </a:ext>
                  </a:extLst>
                </a:gridCol>
                <a:gridCol w="904229">
                  <a:extLst>
                    <a:ext uri="{9D8B030D-6E8A-4147-A177-3AD203B41FA5}">
                      <a16:colId xmlns:a16="http://schemas.microsoft.com/office/drawing/2014/main" val="4020979902"/>
                    </a:ext>
                  </a:extLst>
                </a:gridCol>
                <a:gridCol w="1082565">
                  <a:extLst>
                    <a:ext uri="{9D8B030D-6E8A-4147-A177-3AD203B41FA5}">
                      <a16:colId xmlns:a16="http://schemas.microsoft.com/office/drawing/2014/main" val="2514146106"/>
                    </a:ext>
                  </a:extLst>
                </a:gridCol>
                <a:gridCol w="1151301">
                  <a:extLst>
                    <a:ext uri="{9D8B030D-6E8A-4147-A177-3AD203B41FA5}">
                      <a16:colId xmlns:a16="http://schemas.microsoft.com/office/drawing/2014/main" val="622149352"/>
                    </a:ext>
                  </a:extLst>
                </a:gridCol>
                <a:gridCol w="1082565">
                  <a:extLst>
                    <a:ext uri="{9D8B030D-6E8A-4147-A177-3AD203B41FA5}">
                      <a16:colId xmlns:a16="http://schemas.microsoft.com/office/drawing/2014/main" val="4131877598"/>
                    </a:ext>
                  </a:extLst>
                </a:gridCol>
              </a:tblGrid>
              <a:tr h="72264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AUC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presences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absences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sensitivity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specificity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TSS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Threshold (max TSS)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1366904"/>
                  </a:ext>
                </a:extLst>
              </a:tr>
              <a:tr h="38502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1255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12550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0.852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0.664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0.517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</a:rPr>
                        <a:t>0.357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3558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4F27B32-CE09-2D98-C40D-7B46DAC1E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199" y="553291"/>
            <a:ext cx="3543546" cy="230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96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85F76D-4012-8F60-E73F-7617D6FB2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C2FE47-1835-E7CD-794A-D4C9E1C8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2064"/>
            <a:ext cx="5938405" cy="458227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2CDBFDB-64A7-3BD4-A034-ABD66CC44A36}"/>
              </a:ext>
            </a:extLst>
          </p:cNvPr>
          <p:cNvSpPr txBox="1"/>
          <p:nvPr/>
        </p:nvSpPr>
        <p:spPr>
          <a:xfrm>
            <a:off x="0" y="6400842"/>
            <a:ext cx="12614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  <p:sp>
        <p:nvSpPr>
          <p:cNvPr id="9" name="Título 8">
            <a:extLst>
              <a:ext uri="{FF2B5EF4-FFF2-40B4-BE49-F238E27FC236}">
                <a16:creationId xmlns:a16="http://schemas.microsoft.com/office/drawing/2014/main" id="{1D66781D-5001-B948-0800-F1526783E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6C0E582-BA7F-F121-13FB-A8B5C09C3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335" y="1113657"/>
            <a:ext cx="6294665" cy="486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41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F207-351C-1303-0FAE-AB8A14EB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niche?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25634-83A5-4AC7-BDF4-8531EC26DE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56B5CC-6A31-EBAE-0DCD-6FC39F8E9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991" y="10394"/>
            <a:ext cx="5304459" cy="13672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925FED-27D6-31E2-C100-2D45ECA62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302" y="1620526"/>
            <a:ext cx="4086795" cy="43630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F6645-939E-FC36-CEE7-CCD161B97D92}"/>
              </a:ext>
            </a:extLst>
          </p:cNvPr>
          <p:cNvSpPr txBox="1"/>
          <p:nvPr/>
        </p:nvSpPr>
        <p:spPr>
          <a:xfrm>
            <a:off x="226483" y="379474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Hutchinson’s concept of niche: </a:t>
            </a:r>
            <a:r>
              <a:rPr lang="en-US" dirty="0"/>
              <a:t>hypervolume of the multidimensional space defined by a set of environmental variables, within which a species can maintain a viable population </a:t>
            </a:r>
          </a:p>
          <a:p>
            <a:r>
              <a:rPr lang="en-US" b="1" dirty="0"/>
              <a:t>Habitat suitability models: </a:t>
            </a:r>
            <a:r>
              <a:rPr lang="en-US" dirty="0"/>
              <a:t>statistical models that predict species’ potential distributions by combining known occurrence records with environmental data (so-called niche-based models) </a:t>
            </a:r>
          </a:p>
          <a:p>
            <a:r>
              <a:rPr lang="en-US" b="1" dirty="0"/>
              <a:t>Adaptive potential: </a:t>
            </a:r>
            <a:r>
              <a:rPr lang="en-US" dirty="0"/>
              <a:t>the capacity of species or populations to evolve in response to changes in environmental conditions whether biotic or abiotic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CA4361-E924-2A62-DE32-4AEBB512E4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0432"/>
          <a:stretch/>
        </p:blipFill>
        <p:spPr>
          <a:xfrm>
            <a:off x="311573" y="1397253"/>
            <a:ext cx="5709920" cy="209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28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58416-E286-9BB2-94BC-15FD5B26D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511402-0D67-56BB-89D0-4CC3C4B30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ADBEF0-CE65-56AA-26A3-B2FDF8B3C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012" y="1580990"/>
            <a:ext cx="6187976" cy="369602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5B54A98-4F81-62DE-47B5-BA20899F9D6B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1644787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9CD18C-67E7-252E-C0C5-4F091AE8B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4CB891-EF48-8502-B4AF-B41326A28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32941E1-0A08-438F-7E35-385903505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5788" y="1047543"/>
            <a:ext cx="6500423" cy="476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92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778B36-C8F0-D915-08AD-75F82C706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BD41F6-1DD2-510D-7DA6-B98F0F915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D280157-2C34-B042-6FAC-7E9FEB3EC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7685" y="1131371"/>
            <a:ext cx="6576630" cy="459525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37FEC2D-3EBB-04FB-60E5-55D27CC096AD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1147224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43C4E-B2D1-7669-F97F-C53C1F016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8EB324-6FEA-F5F8-1749-131821331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E2BEAE-40E0-34AC-3FD8-472A78E4A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007" y="177750"/>
            <a:ext cx="7389219" cy="562988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9458119-9D52-0C5A-6576-5AF5FA003678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610500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C38E28-B339-982E-C2EF-AF99D1A4C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D391A-5DE0-8191-DDDB-E882BDE77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05C95F-CF23-69F4-C6E9-DFB3B62D5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374" y="1078026"/>
            <a:ext cx="6363251" cy="470194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90509DF-C1DD-DDAB-B5E3-F3C8D8F8AF57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3026185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2CC53-55FD-DD2D-BF5E-756D10F0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11C78F-1C52-7080-5264-249B89793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6C43577-12D9-D7E0-3ABE-6C0093990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911" y="80556"/>
            <a:ext cx="5304459" cy="1367245"/>
          </a:xfrm>
          <a:prstGeom prst="rect">
            <a:avLst/>
          </a:prstGeom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0C5D1BB2-BA72-6A65-06DD-0D75CFAA8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222" y="1690688"/>
            <a:ext cx="4086795" cy="436305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0A829E4-5008-AEB3-2A93-44CFEED8E5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67" y="365125"/>
            <a:ext cx="5357324" cy="487722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2D8134DE-517A-F007-23CF-958B7BE7F6D3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33950761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9E700-C5DA-5B77-D7BA-22F7F3C2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360B8C-D10C-D24A-DAAF-6626324DC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B925863-60EB-D1D3-0057-0E53F2EF5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63" y="1306646"/>
            <a:ext cx="6149873" cy="424470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7166A04-7CB3-9D9F-13D9-331CA4AB8D6A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14129368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25F9D-75DD-E0AF-C429-05774652F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752D81-BC82-7264-2F57-3C82D8386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AD385F5-C966-9391-B184-89C4AEF07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943" y="681037"/>
            <a:ext cx="6386113" cy="499153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996E4B5-C2CC-A596-123E-B798E4CAB562}"/>
              </a:ext>
            </a:extLst>
          </p:cNvPr>
          <p:cNvSpPr txBox="1"/>
          <p:nvPr/>
        </p:nvSpPr>
        <p:spPr>
          <a:xfrm>
            <a:off x="631722" y="5807631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36859759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E1A0E-1AC5-0437-9EF3-BF6BB93CD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7507F7-ED31-6E68-22BB-AD3144F88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141CD1-0016-EE1F-CD9D-B79369E7F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564" y="80711"/>
            <a:ext cx="7987894" cy="591158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49DED9D-057C-E18B-4FC4-96D5897CC2C0}"/>
              </a:ext>
            </a:extLst>
          </p:cNvPr>
          <p:cNvSpPr txBox="1"/>
          <p:nvPr/>
        </p:nvSpPr>
        <p:spPr>
          <a:xfrm>
            <a:off x="631722" y="6324037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3191232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94522-F427-C774-D1F2-1D227E92D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AA4556-FDD4-ADEF-FCB2-2C703B6B2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FA4403C-423D-2C02-B3E8-0761164CB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994" y="180706"/>
            <a:ext cx="8318008" cy="599625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FD6F851A-AA54-7B38-2A2F-B08248396932}"/>
              </a:ext>
            </a:extLst>
          </p:cNvPr>
          <p:cNvSpPr txBox="1"/>
          <p:nvPr/>
        </p:nvSpPr>
        <p:spPr>
          <a:xfrm>
            <a:off x="631722" y="6324037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2724667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993D1-9039-1E02-6CCC-598A1AEAC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niche?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48560-A29B-03C8-2C88-D1A920298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BC2A998D-3FFF-C9CC-A388-A68A9A700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874" y="1792288"/>
            <a:ext cx="6246876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92D32B-8354-38FB-CAA3-494274E20169}"/>
              </a:ext>
            </a:extLst>
          </p:cNvPr>
          <p:cNvSpPr txBox="1"/>
          <p:nvPr/>
        </p:nvSpPr>
        <p:spPr>
          <a:xfrm>
            <a:off x="273050" y="2715111"/>
            <a:ext cx="4248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Niche and species distribution are not synonyms!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C81152-DE9B-B801-2CF1-75BF28F8A05C}"/>
              </a:ext>
            </a:extLst>
          </p:cNvPr>
          <p:cNvSpPr txBox="1"/>
          <p:nvPr/>
        </p:nvSpPr>
        <p:spPr>
          <a:xfrm>
            <a:off x="438150" y="493694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Hutchinson’s concept of niche: </a:t>
            </a:r>
            <a:r>
              <a:rPr lang="en-US"/>
              <a:t>hypervolume of the multidimensional space defined by a set of environmental variables, within which a species can maintain a viable population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4B841-2C2E-117F-991D-49A892B773B9}"/>
              </a:ext>
            </a:extLst>
          </p:cNvPr>
          <p:cNvSpPr txBox="1"/>
          <p:nvPr/>
        </p:nvSpPr>
        <p:spPr>
          <a:xfrm>
            <a:off x="6019800" y="7673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If the environmental conditions encapsulated within the fundamental niche are plotted in geographical space, then we have the potential distribution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97597-E8FF-F9E2-6286-84BB00CDE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1305180"/>
            <a:ext cx="3334617" cy="9615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05979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8E4AD-4F47-5541-1BF8-B212FBC9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41A743F-FFE0-8E00-1944-820EC64DB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7FD7CC6-F0EE-C593-A691-674CFAD86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392" y="952285"/>
            <a:ext cx="6645216" cy="495342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3C9A2F1-9739-5A42-6A18-F6E7E6B4207A}"/>
              </a:ext>
            </a:extLst>
          </p:cNvPr>
          <p:cNvSpPr txBox="1"/>
          <p:nvPr/>
        </p:nvSpPr>
        <p:spPr>
          <a:xfrm>
            <a:off x="631722" y="6324037"/>
            <a:ext cx="11068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https://www.recibio.net/wp-content/uploads/2014/01/Intro-Modelado-de-nichos_EMM.pdf</a:t>
            </a:r>
          </a:p>
        </p:txBody>
      </p:sp>
    </p:spTree>
    <p:extLst>
      <p:ext uri="{BB962C8B-B14F-4D97-AF65-F5344CB8AC3E}">
        <p14:creationId xmlns:p14="http://schemas.microsoft.com/office/powerpoint/2010/main" val="1909602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C9B77-C1C8-BD88-242C-4EEA4C60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B8797E-6D43-4BF1-699A-90058C64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3B5050-319E-DAAB-6543-BCD8361E5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8" y="986578"/>
            <a:ext cx="6729043" cy="4884843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C869E352-7F94-B1E2-B187-EAC6F386DD34}"/>
              </a:ext>
            </a:extLst>
          </p:cNvPr>
          <p:cNvSpPr txBox="1"/>
          <p:nvPr/>
        </p:nvSpPr>
        <p:spPr>
          <a:xfrm>
            <a:off x="225305" y="630820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30113164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A0AA4-3CD3-60C8-4F75-F74BCB439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48EB28-D799-C231-9858-0DD1DD468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F535F28-DA92-1AEB-0F89-0AA8E3E19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599" y="845596"/>
            <a:ext cx="6934801" cy="516680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48074B3-FDE6-E3A3-9B98-DFEB2DB29B5F}"/>
              </a:ext>
            </a:extLst>
          </p:cNvPr>
          <p:cNvSpPr txBox="1"/>
          <p:nvPr/>
        </p:nvSpPr>
        <p:spPr>
          <a:xfrm>
            <a:off x="838200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1898269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89D1F-9272-C5C4-66E5-82311765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0B6447-177E-ED4B-DF10-31753AA65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1BFE704-C682-F109-7CFC-A7BD5D80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40" y="963716"/>
            <a:ext cx="6683319" cy="4930567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DB182C7-7BDD-1F9B-4290-B419F27C22F7}"/>
              </a:ext>
            </a:extLst>
          </p:cNvPr>
          <p:cNvSpPr txBox="1"/>
          <p:nvPr/>
        </p:nvSpPr>
        <p:spPr>
          <a:xfrm>
            <a:off x="8382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722054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B5E6D-1CDB-FA2C-4A7F-7FEC07A6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D7CDD7-0B7D-5393-1621-BB791A119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154A6D-0A42-346D-A459-84456CC6B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340" y="1215198"/>
            <a:ext cx="6683319" cy="442760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0CE5549-A1B0-80C5-242C-E2EBA0B17481}"/>
              </a:ext>
            </a:extLst>
          </p:cNvPr>
          <p:cNvSpPr txBox="1"/>
          <p:nvPr/>
        </p:nvSpPr>
        <p:spPr>
          <a:xfrm>
            <a:off x="8382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3880353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33FA04-1CAF-6703-CC98-3275EF9C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D0DED9-04EB-580E-5BB9-B68B788FD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E967309-CEE2-3660-7FE0-FEAFEAE0F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9184" y="1192336"/>
            <a:ext cx="5913632" cy="447332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6F90B9B-82D8-E400-2159-774524DBCE3F}"/>
              </a:ext>
            </a:extLst>
          </p:cNvPr>
          <p:cNvSpPr txBox="1"/>
          <p:nvPr/>
        </p:nvSpPr>
        <p:spPr>
          <a:xfrm>
            <a:off x="8382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2675813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A989-4D86-8050-1D50-727F3A2DD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species distribution model workflow: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E95807A-9304-11D0-7589-EFAC47E13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10" y="2226881"/>
            <a:ext cx="10998780" cy="354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1418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F60F6-7809-1B89-78EF-B71980753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C85E0E-D511-C2A2-187B-CE224282B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BA1D06A-8967-5F0D-D817-EBE23C3A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84" y="1211388"/>
            <a:ext cx="6134632" cy="44352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8074679-C39E-2AC9-9B52-22EE2EEB358F}"/>
              </a:ext>
            </a:extLst>
          </p:cNvPr>
          <p:cNvSpPr txBox="1"/>
          <p:nvPr/>
        </p:nvSpPr>
        <p:spPr>
          <a:xfrm>
            <a:off x="993058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845928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A77A8-9402-A6BE-D007-7FEDD52C9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7584F3-1333-7054-0A60-FBA7A2C02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C1B0B7-C3F9-A1AC-84F6-F6E71E964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874" y="1142802"/>
            <a:ext cx="6142252" cy="457239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92EBC0B-D78D-D31A-E5AA-0DB22F7E4680}"/>
              </a:ext>
            </a:extLst>
          </p:cNvPr>
          <p:cNvSpPr txBox="1"/>
          <p:nvPr/>
        </p:nvSpPr>
        <p:spPr>
          <a:xfrm>
            <a:off x="8382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1870192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903E6-4288-2BEA-8C3C-2A4E5DC76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6CEEE6-C762-5FDE-CFB9-25A0E8C81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7523BC1-1CEB-5619-645B-2A47D2210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18" y="1230439"/>
            <a:ext cx="6035563" cy="439712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CE27CE9-CFE5-694C-BD4A-5F5C865C39CC}"/>
              </a:ext>
            </a:extLst>
          </p:cNvPr>
          <p:cNvSpPr txBox="1"/>
          <p:nvPr/>
        </p:nvSpPr>
        <p:spPr>
          <a:xfrm>
            <a:off x="838200" y="59425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23043487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BBA98-71BA-3265-FD7A-4D54F075B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02945E-5035-C4F2-1039-1BB6F856A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AD971A-2980-1C91-B973-782F4B770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84" y="1085647"/>
            <a:ext cx="6134632" cy="4686706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EEE7900-F762-37D7-274D-730D04395F07}"/>
              </a:ext>
            </a:extLst>
          </p:cNvPr>
          <p:cNvSpPr txBox="1"/>
          <p:nvPr/>
        </p:nvSpPr>
        <p:spPr>
          <a:xfrm>
            <a:off x="757084" y="59072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11141367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61553-27F6-4B11-EC76-E30960F5B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0F52BC-9994-1750-6C7B-6A02DF64E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115BF4-DA9C-E1FD-BD54-C308ADD64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270" y="1329508"/>
            <a:ext cx="5997460" cy="419898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A5190A8-07B8-8FE8-3512-9AF7792C88AC}"/>
              </a:ext>
            </a:extLst>
          </p:cNvPr>
          <p:cNvSpPr txBox="1"/>
          <p:nvPr/>
        </p:nvSpPr>
        <p:spPr>
          <a:xfrm>
            <a:off x="953729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271723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57186-2DC8-69F7-309C-7C35041C3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FCAD8E-E762-C1F7-C7AB-FF06D075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DFC8B-52DB-3768-7B1F-01EA11C0E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063" y="1066595"/>
            <a:ext cx="6149873" cy="472480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A65F9B7-4D5C-9E6B-FF9D-5FDC00D7A7A9}"/>
              </a:ext>
            </a:extLst>
          </p:cNvPr>
          <p:cNvSpPr txBox="1"/>
          <p:nvPr/>
        </p:nvSpPr>
        <p:spPr>
          <a:xfrm>
            <a:off x="953729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12290184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2E0B25-0A2B-76F1-31D0-C7C22694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7A4CA4-B279-0D22-39E4-8C2AEF85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54FDEB-8DEA-7436-6F75-1A80B40AE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684" y="1180905"/>
            <a:ext cx="6134632" cy="449619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57AAABB-7879-41BB-DBFB-E9D55403DAE4}"/>
              </a:ext>
            </a:extLst>
          </p:cNvPr>
          <p:cNvSpPr txBox="1"/>
          <p:nvPr/>
        </p:nvSpPr>
        <p:spPr>
          <a:xfrm>
            <a:off x="953729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2001901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853E6E-A537-DAAE-6D6B-EC0C4E02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429BDD-1537-CE79-BD9F-396EADAC7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23D9650-5CAA-AB85-4F78-FB83A0EDB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355" y="1001819"/>
            <a:ext cx="5197290" cy="485436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C6922BF-FBFD-88C3-31B1-E15247CE8B1F}"/>
              </a:ext>
            </a:extLst>
          </p:cNvPr>
          <p:cNvSpPr txBox="1"/>
          <p:nvPr/>
        </p:nvSpPr>
        <p:spPr>
          <a:xfrm>
            <a:off x="953729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2780744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D2062-BD06-2821-97F7-F04808596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EE8957-1388-214B-673E-AA10858C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61DA2F-149C-45EA-9576-80D515791E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09" y="1211388"/>
            <a:ext cx="6706181" cy="44352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2CD3F09-4028-4A7B-25D2-ED5B0B305469}"/>
              </a:ext>
            </a:extLst>
          </p:cNvPr>
          <p:cNvSpPr txBox="1"/>
          <p:nvPr/>
        </p:nvSpPr>
        <p:spPr>
          <a:xfrm>
            <a:off x="838200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7395683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39F27-3020-C546-79EF-216C6F47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D7BB95-9E31-FA9D-3481-FFABA2B8C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9D77A4-B518-B202-D540-9332CF23F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909" y="1448480"/>
            <a:ext cx="6706181" cy="4138019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BBD50AE8-6F33-C552-024D-BC171BB4D86F}"/>
              </a:ext>
            </a:extLst>
          </p:cNvPr>
          <p:cNvSpPr txBox="1"/>
          <p:nvPr/>
        </p:nvSpPr>
        <p:spPr>
          <a:xfrm>
            <a:off x="838200" y="58076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https://gbif.es/wp-content/uploads/2019/06/sesion_1.pdf</a:t>
            </a:r>
          </a:p>
        </p:txBody>
      </p:sp>
    </p:spTree>
    <p:extLst>
      <p:ext uri="{BB962C8B-B14F-4D97-AF65-F5344CB8AC3E}">
        <p14:creationId xmlns:p14="http://schemas.microsoft.com/office/powerpoint/2010/main" val="33466162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734</Words>
  <Application>Microsoft Office PowerPoint</Application>
  <PresentationFormat>Panorámica</PresentationFormat>
  <Paragraphs>79</Paragraphs>
  <Slides>41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8" baseType="lpstr">
      <vt:lpstr>Aptos</vt:lpstr>
      <vt:lpstr>Aptos Display</vt:lpstr>
      <vt:lpstr>Aptos Narrow</vt:lpstr>
      <vt:lpstr>Arial</vt:lpstr>
      <vt:lpstr>Calibri</vt:lpstr>
      <vt:lpstr>Poppins Medium</vt:lpstr>
      <vt:lpstr>Tema de Office</vt:lpstr>
      <vt:lpstr>Presentación de PowerPoint</vt:lpstr>
      <vt:lpstr>Before using the gap analysis methodologies (Summary)</vt:lpstr>
      <vt:lpstr>The workflow for a gap analysis</vt:lpstr>
      <vt:lpstr>Presentación de PowerPoint</vt:lpstr>
      <vt:lpstr>Presentación de PowerPoint</vt:lpstr>
      <vt:lpstr> How a model workflow looks like?</vt:lpstr>
      <vt:lpstr>Models can be simple or complex</vt:lpstr>
      <vt:lpstr>Complex</vt:lpstr>
      <vt:lpstr>How can obtain the geographical distribution of a species using environmental data?</vt:lpstr>
      <vt:lpstr>Presentación de PowerPoint</vt:lpstr>
      <vt:lpstr>Presentación de PowerPoint</vt:lpstr>
      <vt:lpstr>Presentación de PowerPoint</vt:lpstr>
      <vt:lpstr>What is a niche?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What is a niche?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The species distribution model workflow: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Sosa, Chrystian (Consultant - Alliance Bioversity-CIAT)</dc:creator>
  <cp:lastModifiedBy>Sosa, Chrystian (Consultant - Alliance Bioversity-CIAT)</cp:lastModifiedBy>
  <cp:revision>45</cp:revision>
  <dcterms:created xsi:type="dcterms:W3CDTF">2026-10-23T21:48:45Z</dcterms:created>
  <dcterms:modified xsi:type="dcterms:W3CDTF">2026-10-23T22:38:20Z</dcterms:modified>
</cp:coreProperties>
</file>